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4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4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401.xlsx"/>
</Relationships>
</file>

<file path=ppt/charts/chart4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0537313432836"/>
          <c:y val="0.0404624277457"/>
          <c:w val="0.946268656716"/>
          <c:h val="0.8208092485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应收</c:v>
                </c:pt>
              </c:strCache>
            </c:strRef>
          </c:tx>
          <c:spPr>
            <a:solidFill>
              <a:srgbClr val="6E7B8C"/>
            </a:solidFill>
            <a:ln>
              <a:solidFill>
                <a:srgbClr val="6E7B8C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方案与修订</c:v>
                </c:pt>
                <c:pt idx="1">
                  <c:v>中心记录</c:v>
                </c:pt>
                <c:pt idx="2">
                  <c:v>实验室数据</c:v>
                </c:pt>
                <c:pt idx="3">
                  <c:v>安全性报告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</c:v>
                </c:pt>
                <c:pt idx="1">
                  <c:v>12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已收</c:v>
                </c:pt>
              </c:strCache>
            </c:strRef>
          </c:tx>
          <c:spPr>
            <a:solidFill>
              <a:srgbClr val="D46B08"/>
            </a:solidFill>
            <a:ln>
              <a:solidFill>
                <a:srgbClr val="D46B08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方案与修订</c:v>
                </c:pt>
                <c:pt idx="1">
                  <c:v>中心记录</c:v>
                </c:pt>
                <c:pt idx="2">
                  <c:v>实验室数据</c:v>
                </c:pt>
                <c:pt idx="3">
                  <c:v>安全性报告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9</c:v>
                </c:pt>
                <c:pt idx="2">
                  <c:v>6</c:v>
                </c:pt>
                <c:pt idx="3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lang="zh-CN" sz="1200">
                  <a:solidFill>
                    <a:srgbClr val="404040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5"/>
        <c:overlap val="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CED3D8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5"/>
          <c:min val="0"/>
        </c:scaling>
        <c:delete val="0"/>
        <c:axPos val="l"/>
        <c:majorGridlines>
          <c:spPr>
            <a:ln w="6350" cap="flat" cmpd="sng" algn="ctr">
              <a:solidFill>
                <a:srgbClr val="E7EBEE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CED3D8"/>
            </a:solidFill>
            <a:round/>
          </a:ln>
        </c:spPr>
        <c:txPr>
          <a:bodyPr/>
          <a:lstStyle/>
          <a:p>
            <a:pPr>
              <a:defRPr lang="zh-CN" sz="120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  <c:majorUnit val="5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200">
          <a:solidFill>
            <a:srgbClr val="404040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kangzhe_flagshi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kangzhe_flagshi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8c0f31c30b56874.png"/>
  <Relationship Id="rId3" Type="http://schemas.openxmlformats.org/officeDocument/2006/relationships/image" Target="../media/image_72d4f71d42247542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feaca9c9be8a2567.png"/>
  <Relationship Id="rId3" Type="http://schemas.openxmlformats.org/officeDocument/2006/relationships/image" Target="../media/image_72d4f71d42247542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206c9db7cae941.png"/>
  <Relationship Id="rId3" Type="http://schemas.openxmlformats.org/officeDocument/2006/relationships/image" Target="../media/image_72d4f71d42247542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bfd8b60c5d54883.png"/>
  <Relationship Id="rId3" Type="http://schemas.openxmlformats.org/officeDocument/2006/relationships/image" Target="../media/image_72d4f71d42247542.png"/>
  <Relationship Id="rId4" Type="http://schemas.openxmlformats.org/officeDocument/2006/relationships/chart" Target="../charts/chart401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ad08f703d7c3253.png"/>
  <Relationship Id="rId3" Type="http://schemas.openxmlformats.org/officeDocument/2006/relationships/image" Target="../media/image_72d4f71d4224754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dentity-shell"/>
          <p:cNvSpPr/>
          <p:nvPr/>
        </p:nvSpPr>
        <p:spPr>
          <a:xfrm>
            <a:off x="952500" y="533400"/>
            <a:ext cx="2877312" cy="4476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619125"/>
            <a:ext cx="1336929" cy="276225"/>
          </a:xfrm>
          <a:prstGeom prst="rect">
            <a:avLst/>
          </a:prstGeom>
        </p:spPr>
      </p:pic>
      <p:grpSp>
        <p:nvGrpSpPr>
          <p:cNvPr id="6" name="identity-name"/>
          <p:cNvGrpSpPr/>
          <p:nvPr/>
        </p:nvGrpSpPr>
        <p:grpSpPr>
          <a:xfrm>
            <a:off x="2521458" y="657225"/>
            <a:ext cx="1143000" cy="234696"/>
            <a:chOff x="2521458" y="657225"/>
            <a:chExt cx="1143000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2521458" y="6572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产品中心医学部</a:t>
              </a:r>
            </a:p>
          </p:txBody>
        </p:sp>
      </p:grpSp>
      <p:grpSp>
        <p:nvGrpSpPr>
          <p:cNvPr id="9" name="kicker"/>
          <p:cNvGrpSpPr/>
          <p:nvPr/>
        </p:nvGrpSpPr>
        <p:grpSpPr>
          <a:xfrm>
            <a:off x="952500" y="1428750"/>
            <a:ext cx="3059880" cy="234696"/>
            <a:chOff x="952500" y="1428750"/>
            <a:chExt cx="3059880" cy="234696"/>
          </a:xfrm>
        </p:grpSpPr>
        <p:sp>
          <p:nvSpPr>
            <p:cNvPr id="7" name="Rectangle 7"/>
            <p:cNvSpPr/>
            <p:nvPr/>
          </p:nvSpPr>
          <p:spPr>
            <a:xfrm>
              <a:off x="952500" y="1524000"/>
              <a:ext cx="352425" cy="9525"/>
            </a:xfrm>
            <a:prstGeom prst="rect">
              <a:avLst/>
            </a:prstGeom>
            <a:solidFill>
              <a:srgbClr val="9A4D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3604" y="1428750"/>
              <a:ext cx="260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6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管理层季度汇报 · 合成示例</a:t>
              </a:r>
            </a:p>
          </p:txBody>
        </p:sp>
      </p:grpSp>
      <p:grpSp>
        <p:nvGrpSpPr>
          <p:cNvPr id="12" name="title"/>
          <p:cNvGrpSpPr/>
          <p:nvPr/>
        </p:nvGrpSpPr>
        <p:grpSpPr>
          <a:xfrm>
            <a:off x="933450" y="1771650"/>
            <a:ext cx="4022852" cy="1985962"/>
            <a:chOff x="933450" y="1771650"/>
            <a:chExt cx="4022852" cy="1985962"/>
          </a:xfrm>
        </p:grpSpPr>
        <p:sp>
          <p:nvSpPr>
            <p:cNvPr id="10" name="TextBox 10"/>
            <p:cNvSpPr txBox="1"/>
            <p:nvPr/>
          </p:nvSpPr>
          <p:spPr>
            <a:xfrm>
              <a:off x="933450" y="1771650"/>
              <a:ext cx="3225902" cy="1147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92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研究资料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33450" y="2609850"/>
              <a:ext cx="4022852" cy="11477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92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完整性核对</a:t>
              </a:r>
            </a:p>
          </p:txBody>
        </p:sp>
      </p:grpSp>
      <p:grpSp>
        <p:nvGrpSpPr>
          <p:cNvPr id="14" name="lede"/>
          <p:cNvGrpSpPr/>
          <p:nvPr/>
        </p:nvGrpSpPr>
        <p:grpSpPr>
          <a:xfrm>
            <a:off x="944118" y="3721100"/>
            <a:ext cx="4548073" cy="322707"/>
            <a:chOff x="944118" y="3721100"/>
            <a:chExt cx="4548073" cy="322707"/>
          </a:xfrm>
        </p:grpSpPr>
        <p:sp>
          <p:nvSpPr>
            <p:cNvPr id="13" name="TextBox 13"/>
            <p:cNvSpPr txBox="1"/>
            <p:nvPr/>
          </p:nvSpPr>
          <p:spPr>
            <a:xfrm>
              <a:off x="944118" y="3721100"/>
              <a:ext cx="45480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应收 24 份，已收 20 份；</a:t>
              </a:r>
              <a:r>
                <a:rPr lang="zh-CN" sz="16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缺口集中在两组资料</a:t>
              </a:r>
            </a:p>
          </p:txBody>
        </p:sp>
      </p:grpSp>
      <p:sp>
        <p:nvSpPr>
          <p:cNvPr id="15" name="bar-shell"/>
          <p:cNvSpPr/>
          <p:nvPr/>
        </p:nvSpPr>
        <p:spPr>
          <a:xfrm>
            <a:off x="952500" y="4448175"/>
            <a:ext cx="10287000" cy="14001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sp>
        <p:nvSpPr>
          <p:cNvPr id="16" name="bar-sep-1"/>
          <p:cNvSpPr/>
          <p:nvPr/>
        </p:nvSpPr>
        <p:spPr>
          <a:xfrm>
            <a:off x="4381500" y="4762500"/>
            <a:ext cx="9525" cy="771525"/>
          </a:xfrm>
          <a:prstGeom prst="rect">
            <a:avLst/>
          </a:prstGeom>
          <a:solidFill>
            <a:srgbClr val="A0783C">
              <a:alpha val="30000"/>
            </a:srgbClr>
          </a:solidFill>
          <a:ln>
            <a:noFill/>
          </a:ln>
        </p:spPr>
      </p:sp>
      <p:sp>
        <p:nvSpPr>
          <p:cNvPr id="17" name="bar-sep-2"/>
          <p:cNvSpPr/>
          <p:nvPr/>
        </p:nvSpPr>
        <p:spPr>
          <a:xfrm>
            <a:off x="7810500" y="4762500"/>
            <a:ext cx="9525" cy="771525"/>
          </a:xfrm>
          <a:prstGeom prst="rect">
            <a:avLst/>
          </a:prstGeom>
          <a:solidFill>
            <a:srgbClr val="A0783C">
              <a:alpha val="30000"/>
            </a:srgbClr>
          </a:solidFill>
          <a:ln>
            <a:noFill/>
          </a:ln>
        </p:spPr>
      </p:sp>
      <p:grpSp>
        <p:nvGrpSpPr>
          <p:cNvPr id="20" name="bar-0"/>
          <p:cNvGrpSpPr/>
          <p:nvPr/>
        </p:nvGrpSpPr>
        <p:grpSpPr>
          <a:xfrm>
            <a:off x="1463692" y="4664075"/>
            <a:ext cx="1985501" cy="1162050"/>
            <a:chOff x="1463692" y="4664075"/>
            <a:chExt cx="1985501" cy="1162050"/>
          </a:xfrm>
        </p:grpSpPr>
        <p:sp>
          <p:nvSpPr>
            <p:cNvPr id="18" name="TextBox 18"/>
            <p:cNvSpPr txBox="1"/>
            <p:nvPr/>
          </p:nvSpPr>
          <p:spPr>
            <a:xfrm>
              <a:off x="1463692" y="4664075"/>
              <a:ext cx="936608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26792" y="52260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应收（份）</a:t>
              </a:r>
            </a:p>
          </p:txBody>
        </p:sp>
      </p:grpSp>
      <p:grpSp>
        <p:nvGrpSpPr>
          <p:cNvPr id="23" name="bar-1"/>
          <p:cNvGrpSpPr/>
          <p:nvPr/>
        </p:nvGrpSpPr>
        <p:grpSpPr>
          <a:xfrm>
            <a:off x="4892692" y="4664075"/>
            <a:ext cx="1985501" cy="1162050"/>
            <a:chOff x="4892692" y="4664075"/>
            <a:chExt cx="1985501" cy="1162050"/>
          </a:xfrm>
        </p:grpSpPr>
        <p:sp>
          <p:nvSpPr>
            <p:cNvPr id="21" name="TextBox 21"/>
            <p:cNvSpPr txBox="1"/>
            <p:nvPr/>
          </p:nvSpPr>
          <p:spPr>
            <a:xfrm>
              <a:off x="4892692" y="4664075"/>
              <a:ext cx="936608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955792" y="52260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已收（份）</a:t>
              </a:r>
            </a:p>
          </p:txBody>
        </p:sp>
      </p:grpSp>
      <p:grpSp>
        <p:nvGrpSpPr>
          <p:cNvPr id="26" name="bar-2"/>
          <p:cNvGrpSpPr/>
          <p:nvPr/>
        </p:nvGrpSpPr>
        <p:grpSpPr>
          <a:xfrm>
            <a:off x="8770946" y="4664075"/>
            <a:ext cx="1536247" cy="1162050"/>
            <a:chOff x="8770946" y="4664075"/>
            <a:chExt cx="1536247" cy="1162050"/>
          </a:xfrm>
        </p:grpSpPr>
        <p:sp>
          <p:nvSpPr>
            <p:cNvPr id="24" name="TextBox 24"/>
            <p:cNvSpPr txBox="1"/>
            <p:nvPr/>
          </p:nvSpPr>
          <p:spPr>
            <a:xfrm>
              <a:off x="8770946" y="4664075"/>
              <a:ext cx="487354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6000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84792" y="52260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缺口（份）</a:t>
              </a:r>
            </a:p>
          </p:txBody>
        </p:sp>
      </p:grpSp>
      <p:grpSp>
        <p:nvGrpSpPr>
          <p:cNvPr id="28" name="meta"/>
          <p:cNvGrpSpPr/>
          <p:nvPr/>
        </p:nvGrpSpPr>
        <p:grpSpPr>
          <a:xfrm>
            <a:off x="946404" y="6210300"/>
            <a:ext cx="2460193" cy="234696"/>
            <a:chOff x="946404" y="6210300"/>
            <a:chExt cx="2460193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946404" y="6210300"/>
              <a:ext cx="2460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2026年10月　管理层季度汇报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8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withEffect" decel="70000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withEffect" decel="70000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dentity-shell"/>
          <p:cNvSpPr/>
          <p:nvPr/>
        </p:nvSpPr>
        <p:spPr>
          <a:xfrm>
            <a:off x="952500" y="533400"/>
            <a:ext cx="2877312" cy="4476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619125"/>
            <a:ext cx="1336929" cy="276225"/>
          </a:xfrm>
          <a:prstGeom prst="rect">
            <a:avLst/>
          </a:prstGeom>
        </p:spPr>
      </p:pic>
      <p:grpSp>
        <p:nvGrpSpPr>
          <p:cNvPr id="6" name="identity-name"/>
          <p:cNvGrpSpPr/>
          <p:nvPr/>
        </p:nvGrpSpPr>
        <p:grpSpPr>
          <a:xfrm>
            <a:off x="2521458" y="657225"/>
            <a:ext cx="1143000" cy="234696"/>
            <a:chOff x="2521458" y="657225"/>
            <a:chExt cx="1143000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2521458" y="6572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产品中心医学部</a:t>
              </a:r>
            </a:p>
          </p:txBody>
        </p:sp>
      </p:grpSp>
      <p:grpSp>
        <p:nvGrpSpPr>
          <p:cNvPr id="9" name="kicker"/>
          <p:cNvGrpSpPr/>
          <p:nvPr/>
        </p:nvGrpSpPr>
        <p:grpSpPr>
          <a:xfrm>
            <a:off x="952500" y="1428750"/>
            <a:ext cx="1254862" cy="234696"/>
            <a:chOff x="952500" y="1428750"/>
            <a:chExt cx="1254862" cy="234696"/>
          </a:xfrm>
        </p:grpSpPr>
        <p:sp>
          <p:nvSpPr>
            <p:cNvPr id="7" name="Rectangle 7"/>
            <p:cNvSpPr/>
            <p:nvPr/>
          </p:nvSpPr>
          <p:spPr>
            <a:xfrm>
              <a:off x="952500" y="1524000"/>
              <a:ext cx="352425" cy="9525"/>
            </a:xfrm>
            <a:prstGeom prst="rect">
              <a:avLst/>
            </a:prstGeom>
            <a:solidFill>
              <a:srgbClr val="9A4D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03604" y="1428750"/>
              <a:ext cx="803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6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汇报章节</a:t>
              </a:r>
            </a:p>
          </p:txBody>
        </p:sp>
      </p:grpSp>
      <p:grpSp>
        <p:nvGrpSpPr>
          <p:cNvPr id="11" name="title"/>
          <p:cNvGrpSpPr/>
          <p:nvPr/>
        </p:nvGrpSpPr>
        <p:grpSpPr>
          <a:xfrm>
            <a:off x="933450" y="1778000"/>
            <a:ext cx="5126736" cy="819150"/>
            <a:chOff x="933450" y="1778000"/>
            <a:chExt cx="5126736" cy="819150"/>
          </a:xfrm>
        </p:grpSpPr>
        <p:sp>
          <p:nvSpPr>
            <p:cNvPr id="10" name="TextBox 10"/>
            <p:cNvSpPr txBox="1"/>
            <p:nvPr/>
          </p:nvSpPr>
          <p:spPr>
            <a:xfrm>
              <a:off x="933450" y="1778000"/>
              <a:ext cx="512673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三个问题，一个决定</a:t>
              </a:r>
            </a:p>
          </p:txBody>
        </p:sp>
      </p:grpSp>
      <p:sp>
        <p:nvSpPr>
          <p:cNvPr id="12" name="toc-shell-1"/>
          <p:cNvSpPr/>
          <p:nvPr/>
        </p:nvSpPr>
        <p:spPr>
          <a:xfrm>
            <a:off x="952500" y="3143250"/>
            <a:ext cx="3276600" cy="2381250"/>
          </a:xfrm>
          <a:prstGeom prst="roundRect">
            <a:avLst>
              <a:gd name="adj" fmla="val 128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16" name="toc-1"/>
          <p:cNvGrpSpPr/>
          <p:nvPr/>
        </p:nvGrpSpPr>
        <p:grpSpPr>
          <a:xfrm>
            <a:off x="1219200" y="3289300"/>
            <a:ext cx="1843278" cy="2029333"/>
            <a:chOff x="1219200" y="3289300"/>
            <a:chExt cx="1843278" cy="2029333"/>
          </a:xfrm>
        </p:grpSpPr>
        <p:sp>
          <p:nvSpPr>
            <p:cNvPr id="13" name="TextBox 13"/>
            <p:cNvSpPr txBox="1"/>
            <p:nvPr/>
          </p:nvSpPr>
          <p:spPr>
            <a:xfrm>
              <a:off x="1219200" y="328930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26820" y="45974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研究范围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1392" y="50546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对象、时间窗与资料组</a:t>
              </a:r>
            </a:p>
          </p:txBody>
        </p:sp>
      </p:grpSp>
      <p:sp>
        <p:nvSpPr>
          <p:cNvPr id="17" name="toc-shell-2"/>
          <p:cNvSpPr/>
          <p:nvPr/>
        </p:nvSpPr>
        <p:spPr>
          <a:xfrm>
            <a:off x="4457700" y="3143250"/>
            <a:ext cx="3276600" cy="2381250"/>
          </a:xfrm>
          <a:prstGeom prst="roundRect">
            <a:avLst>
              <a:gd name="adj" fmla="val 128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21" name="toc-2"/>
          <p:cNvGrpSpPr/>
          <p:nvPr/>
        </p:nvGrpSpPr>
        <p:grpSpPr>
          <a:xfrm>
            <a:off x="4724400" y="3289300"/>
            <a:ext cx="1843278" cy="2029333"/>
            <a:chOff x="4724400" y="3289300"/>
            <a:chExt cx="1843278" cy="2029333"/>
          </a:xfrm>
        </p:grpSpPr>
        <p:sp>
          <p:nvSpPr>
            <p:cNvPr id="18" name="TextBox 18"/>
            <p:cNvSpPr txBox="1"/>
            <p:nvPr/>
          </p:nvSpPr>
          <p:spPr>
            <a:xfrm>
              <a:off x="4724400" y="328930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2020" y="4597400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资料完整性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50546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应收与已收、缺口所在</a:t>
              </a:r>
            </a:p>
          </p:txBody>
        </p:sp>
      </p:grpSp>
      <p:sp>
        <p:nvSpPr>
          <p:cNvPr id="22" name="toc-shell-3"/>
          <p:cNvSpPr/>
          <p:nvPr/>
        </p:nvSpPr>
        <p:spPr>
          <a:xfrm>
            <a:off x="7962900" y="3143250"/>
            <a:ext cx="3276600" cy="2381250"/>
          </a:xfrm>
          <a:prstGeom prst="roundRect">
            <a:avLst>
              <a:gd name="adj" fmla="val 128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26" name="toc-3"/>
          <p:cNvGrpSpPr/>
          <p:nvPr/>
        </p:nvGrpSpPr>
        <p:grpSpPr>
          <a:xfrm>
            <a:off x="8229600" y="3289300"/>
            <a:ext cx="1479804" cy="2029333"/>
            <a:chOff x="8229600" y="3289300"/>
            <a:chExt cx="1479804" cy="2029333"/>
          </a:xfrm>
        </p:grpSpPr>
        <p:sp>
          <p:nvSpPr>
            <p:cNvPr id="23" name="TextBox 23"/>
            <p:cNvSpPr txBox="1"/>
            <p:nvPr/>
          </p:nvSpPr>
          <p:spPr>
            <a:xfrm>
              <a:off x="8229600" y="3289300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37220" y="4597400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核对计划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41792" y="505460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补收、确认与复核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dentity-shell"/>
          <p:cNvSpPr/>
          <p:nvPr/>
        </p:nvSpPr>
        <p:spPr>
          <a:xfrm>
            <a:off x="8362188" y="5876925"/>
            <a:ext cx="2877312" cy="4476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13" y="5962650"/>
            <a:ext cx="1336929" cy="276225"/>
          </a:xfrm>
          <a:prstGeom prst="rect">
            <a:avLst/>
          </a:prstGeom>
        </p:spPr>
      </p:pic>
      <p:grpSp>
        <p:nvGrpSpPr>
          <p:cNvPr id="6" name="identity-name"/>
          <p:cNvGrpSpPr/>
          <p:nvPr/>
        </p:nvGrpSpPr>
        <p:grpSpPr>
          <a:xfrm>
            <a:off x="9931146" y="6000750"/>
            <a:ext cx="1143000" cy="234696"/>
            <a:chOff x="9931146" y="6000750"/>
            <a:chExt cx="1143000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9931146" y="60007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产品中心医学部</a:t>
              </a:r>
            </a:p>
          </p:txBody>
        </p:sp>
      </p:grpSp>
      <p:grpSp>
        <p:nvGrpSpPr>
          <p:cNvPr id="8" name="section-number"/>
          <p:cNvGrpSpPr/>
          <p:nvPr/>
        </p:nvGrpSpPr>
        <p:grpSpPr>
          <a:xfrm>
            <a:off x="742950" y="736600"/>
            <a:ext cx="4228141" cy="5349240"/>
            <a:chOff x="742950" y="736600"/>
            <a:chExt cx="4228141" cy="534924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736600"/>
              <a:ext cx="4228141" cy="5349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980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sp>
        <p:nvSpPr>
          <p:cNvPr id="9" name="section-lens"/>
          <p:cNvSpPr/>
          <p:nvPr/>
        </p:nvSpPr>
        <p:spPr>
          <a:xfrm>
            <a:off x="2095500" y="2095500"/>
            <a:ext cx="2543175" cy="2543175"/>
          </a:xfrm>
          <a:prstGeom prst="ellipse">
            <a:avLst/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12" name="kicker"/>
          <p:cNvGrpSpPr/>
          <p:nvPr/>
        </p:nvGrpSpPr>
        <p:grpSpPr>
          <a:xfrm>
            <a:off x="6600825" y="2705100"/>
            <a:ext cx="1254862" cy="234696"/>
            <a:chOff x="6600825" y="2705100"/>
            <a:chExt cx="1254862" cy="234696"/>
          </a:xfrm>
        </p:grpSpPr>
        <p:sp>
          <p:nvSpPr>
            <p:cNvPr id="10" name="Rectangle 10"/>
            <p:cNvSpPr/>
            <p:nvPr/>
          </p:nvSpPr>
          <p:spPr>
            <a:xfrm>
              <a:off x="6600825" y="2800350"/>
              <a:ext cx="352425" cy="9525"/>
            </a:xfrm>
            <a:prstGeom prst="rect">
              <a:avLst/>
            </a:prstGeom>
            <a:solidFill>
              <a:srgbClr val="9A4D0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051929" y="2705100"/>
              <a:ext cx="803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spc="36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</p:grpSp>
      <p:grpSp>
        <p:nvGrpSpPr>
          <p:cNvPr id="14" name="section-title"/>
          <p:cNvGrpSpPr/>
          <p:nvPr/>
        </p:nvGrpSpPr>
        <p:grpSpPr>
          <a:xfrm>
            <a:off x="6581775" y="3060700"/>
            <a:ext cx="3524758" cy="1005840"/>
            <a:chOff x="6581775" y="3060700"/>
            <a:chExt cx="3524758" cy="1005840"/>
          </a:xfrm>
        </p:grpSpPr>
        <p:sp>
          <p:nvSpPr>
            <p:cNvPr id="13" name="TextBox 13"/>
            <p:cNvSpPr txBox="1"/>
            <p:nvPr/>
          </p:nvSpPr>
          <p:spPr>
            <a:xfrm>
              <a:off x="6581775" y="3060700"/>
              <a:ext cx="3524758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8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资料完整性</a:t>
              </a:r>
            </a:p>
          </p:txBody>
        </p:sp>
      </p:grpSp>
      <p:grpSp>
        <p:nvGrpSpPr>
          <p:cNvPr id="16" name="section-lede"/>
          <p:cNvGrpSpPr/>
          <p:nvPr/>
        </p:nvGrpSpPr>
        <p:grpSpPr>
          <a:xfrm>
            <a:off x="6592443" y="4025900"/>
            <a:ext cx="3348609" cy="322707"/>
            <a:chOff x="6592443" y="4025900"/>
            <a:chExt cx="3348609" cy="322707"/>
          </a:xfrm>
        </p:grpSpPr>
        <p:sp>
          <p:nvSpPr>
            <p:cNvPr id="15" name="TextBox 15"/>
            <p:cNvSpPr txBox="1"/>
            <p:nvPr/>
          </p:nvSpPr>
          <p:spPr>
            <a:xfrm>
              <a:off x="6592443" y="4025900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缺口在哪里，会不会影响组间比较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dentity-shell"/>
          <p:cNvSpPr/>
          <p:nvPr/>
        </p:nvSpPr>
        <p:spPr>
          <a:xfrm>
            <a:off x="8362188" y="533400"/>
            <a:ext cx="2877312" cy="4476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013" y="619125"/>
            <a:ext cx="1336929" cy="276225"/>
          </a:xfrm>
          <a:prstGeom prst="rect">
            <a:avLst/>
          </a:prstGeom>
        </p:spPr>
      </p:pic>
      <p:grpSp>
        <p:nvGrpSpPr>
          <p:cNvPr id="6" name="identity-name"/>
          <p:cNvGrpSpPr/>
          <p:nvPr/>
        </p:nvGrpSpPr>
        <p:grpSpPr>
          <a:xfrm>
            <a:off x="9931146" y="657225"/>
            <a:ext cx="1143000" cy="234696"/>
            <a:chOff x="9931146" y="657225"/>
            <a:chExt cx="1143000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9931146" y="6572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产品中心医学部</a:t>
              </a:r>
            </a:p>
          </p:txBody>
        </p:sp>
      </p:grpSp>
      <p:grpSp>
        <p:nvGrpSpPr>
          <p:cNvPr id="8" name="title"/>
          <p:cNvGrpSpPr/>
          <p:nvPr/>
        </p:nvGrpSpPr>
        <p:grpSpPr>
          <a:xfrm>
            <a:off x="938022" y="1009650"/>
            <a:ext cx="5783961" cy="557403"/>
            <a:chOff x="938022" y="1009650"/>
            <a:chExt cx="5783961" cy="557403"/>
          </a:xfrm>
        </p:grpSpPr>
        <p:sp>
          <p:nvSpPr>
            <p:cNvPr id="7" name="TextBox 7"/>
            <p:cNvSpPr txBox="1"/>
            <p:nvPr/>
          </p:nvSpPr>
          <p:spPr>
            <a:xfrm>
              <a:off x="938022" y="1009650"/>
              <a:ext cx="578396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缺口集中在</a:t>
              </a:r>
              <a:r>
                <a:rPr lang="zh-CN" sz="2850" b="1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中心记录</a:t>
              </a:r>
              <a:r>
                <a:rPr lang="zh-CN" sz="28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2850" b="1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安全性报告</a:t>
              </a:r>
            </a:p>
          </p:txBody>
        </p:sp>
      </p:grpSp>
      <p:sp>
        <p:nvSpPr>
          <p:cNvPr id="9" name="title-rule"/>
          <p:cNvSpPr/>
          <p:nvPr/>
        </p:nvSpPr>
        <p:spPr>
          <a:xfrm>
            <a:off x="952500" y="1600200"/>
            <a:ext cx="10287000" cy="9525"/>
          </a:xfrm>
          <a:prstGeom prst="rect">
            <a:avLst/>
          </a:prstGeom>
          <a:solidFill>
            <a:srgbClr val="DCD6CC"/>
          </a:solidFill>
          <a:ln>
            <a:noFill/>
          </a:ln>
        </p:spPr>
      </p:sp>
      <p:sp>
        <p:nvSpPr>
          <p:cNvPr id="10" name="paper-shell"/>
          <p:cNvSpPr/>
          <p:nvPr/>
        </p:nvSpPr>
        <p:spPr>
          <a:xfrm>
            <a:off x="952500" y="1866900"/>
            <a:ext cx="6981825" cy="4381500"/>
          </a:xfrm>
          <a:prstGeom prst="roundRect">
            <a:avLst>
              <a:gd name="adj" fmla="val 4130"/>
            </a:avLst>
          </a:prstGeom>
          <a:solidFill>
            <a:srgbClr val="FFFFFF"/>
          </a:solidFill>
          <a:ln w="9525">
            <a:solidFill>
              <a:srgbClr val="E6E2DA"/>
            </a:solidFill>
          </a:ln>
          <a:effectLst>
            <a:outerShdw blurRad="381000" dist="152400" dir="5400000" algn="ctr" rotWithShape="0">
              <a:srgbClr val="78460A">
                <a:alpha val="12000"/>
              </a:srgbClr>
            </a:outerShdw>
          </a:effectLst>
        </p:spPr>
      </p:sp>
      <p:grpSp>
        <p:nvGrpSpPr>
          <p:cNvPr id="13" name="paper-head"/>
          <p:cNvGrpSpPr/>
          <p:nvPr/>
        </p:nvGrpSpPr>
        <p:grpSpPr>
          <a:xfrm>
            <a:off x="1229868" y="2082800"/>
            <a:ext cx="6424803" cy="322707"/>
            <a:chOff x="1229868" y="2082800"/>
            <a:chExt cx="6424803" cy="322707"/>
          </a:xfrm>
        </p:grpSpPr>
        <p:sp>
          <p:nvSpPr>
            <p:cNvPr id="11" name="TextBox 11"/>
            <p:cNvSpPr txBox="1"/>
            <p:nvPr/>
          </p:nvSpPr>
          <p:spPr>
            <a:xfrm>
              <a:off x="1229868" y="2082800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各资料组应收与已收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65495" y="21336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64676B"/>
                  </a:solidFill>
                  <a:latin typeface="+mn-lt"/>
                  <a:ea typeface="+mn-ea"/>
                  <a:cs typeface="+mn-cs"/>
                </a:rPr>
                <a:t>合成示例数据｜单位：份</a:t>
              </a:r>
            </a:p>
          </p:txBody>
        </p:sp>
      </p:grpSp>
      <p:grpSp>
        <p:nvGrpSpPr>
          <p:cNvPr id="18" name="legend"/>
          <p:cNvGrpSpPr/>
          <p:nvPr/>
        </p:nvGrpSpPr>
        <p:grpSpPr>
          <a:xfrm>
            <a:off x="1238250" y="2447925"/>
            <a:ext cx="1243584" cy="234696"/>
            <a:chOff x="1238250" y="2447925"/>
            <a:chExt cx="1243584" cy="234696"/>
          </a:xfrm>
        </p:grpSpPr>
        <p:sp>
          <p:nvSpPr>
            <p:cNvPr id="14" name="Rectangle 14"/>
            <p:cNvSpPr/>
            <p:nvPr/>
          </p:nvSpPr>
          <p:spPr>
            <a:xfrm>
              <a:off x="1238250" y="249555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6E7B8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22654" y="24479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应收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62150" y="2495550"/>
              <a:ext cx="114300" cy="114300"/>
            </a:xfrm>
            <a:prstGeom prst="roundRect">
              <a:avLst>
                <a:gd name="adj" fmla="val 25000"/>
              </a:avLst>
            </a:prstGeom>
            <a:solidFill>
              <a:srgbClr val="D46B0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46554" y="244792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已收</a:t>
              </a:r>
            </a:p>
          </p:txBody>
        </p:sp>
      </p:grpSp>
      <p:graphicFrame>
        <p:nvGraphicFramePr>
          <p:cNvPr id="19" name="completeness-bars"/>
          <p:cNvGraphicFramePr>
            <a:graphicFrameLocks noGrp="1"/>
          </p:cNvGraphicFramePr>
          <p:nvPr/>
        </p:nvGraphicFramePr>
        <p:xfrm>
          <a:off x="1238250" y="2762250"/>
          <a:ext cx="6381750" cy="329565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0" name="kpi-lens"/>
          <p:cNvSpPr/>
          <p:nvPr/>
        </p:nvSpPr>
        <p:spPr>
          <a:xfrm>
            <a:off x="8315325" y="1866900"/>
            <a:ext cx="2924175" cy="2924175"/>
          </a:xfrm>
          <a:prstGeom prst="ellipse">
            <a:avLst/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23" name="kpi"/>
          <p:cNvGrpSpPr/>
          <p:nvPr/>
        </p:nvGrpSpPr>
        <p:grpSpPr>
          <a:xfrm>
            <a:off x="8713203" y="2197100"/>
            <a:ext cx="2128418" cy="2205990"/>
            <a:chOff x="8713203" y="2197100"/>
            <a:chExt cx="2128418" cy="2205990"/>
          </a:xfrm>
        </p:grpSpPr>
        <p:sp>
          <p:nvSpPr>
            <p:cNvPr id="21" name="TextBox 21"/>
            <p:cNvSpPr txBox="1"/>
            <p:nvPr/>
          </p:nvSpPr>
          <p:spPr>
            <a:xfrm>
              <a:off x="9129036" y="2197100"/>
              <a:ext cx="1296753" cy="22059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480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4</a:t>
              </a:r>
              <a:r>
                <a:rPr lang="zh-CN" sz="232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 xml:space="preserve"> 份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13203" y="3895725"/>
              <a:ext cx="21284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资料缺口 · 应收 24 / 已收 20</a:t>
              </a:r>
            </a:p>
          </p:txBody>
        </p:sp>
      </p:grpSp>
      <p:sp>
        <p:nvSpPr>
          <p:cNvPr id="24" name="note-rule"/>
          <p:cNvSpPr/>
          <p:nvPr/>
        </p:nvSpPr>
        <p:spPr>
          <a:xfrm>
            <a:off x="8315325" y="5019675"/>
            <a:ext cx="2924175" cy="19050"/>
          </a:xfrm>
          <a:prstGeom prst="rect">
            <a:avLst/>
          </a:prstGeom>
          <a:solidFill>
            <a:srgbClr val="0F1115"/>
          </a:solidFill>
          <a:ln>
            <a:noFill/>
          </a:ln>
        </p:spPr>
      </p:sp>
      <p:grpSp>
        <p:nvGrpSpPr>
          <p:cNvPr id="28" name="note"/>
          <p:cNvGrpSpPr/>
          <p:nvPr/>
        </p:nvGrpSpPr>
        <p:grpSpPr>
          <a:xfrm>
            <a:off x="8308467" y="5187950"/>
            <a:ext cx="1831086" cy="854583"/>
            <a:chOff x="8308467" y="5187950"/>
            <a:chExt cx="1831086" cy="854583"/>
          </a:xfrm>
        </p:grpSpPr>
        <p:sp>
          <p:nvSpPr>
            <p:cNvPr id="25" name="TextBox 25"/>
            <p:cNvSpPr txBox="1"/>
            <p:nvPr/>
          </p:nvSpPr>
          <p:spPr>
            <a:xfrm>
              <a:off x="8308467" y="51879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缺失处理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8467" y="549275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缺失记录保留为空值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08467" y="57785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不按零处理，也不插补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withEffect" decel="70000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4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withEffect" decel="70000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2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8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withEffect" decel="70000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2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identity-shell"/>
          <p:cNvSpPr/>
          <p:nvPr/>
        </p:nvSpPr>
        <p:spPr>
          <a:xfrm>
            <a:off x="952500" y="5876925"/>
            <a:ext cx="2877312" cy="4476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pic>
        <p:nvPicPr>
          <p:cNvPr id="4" name="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5962650"/>
            <a:ext cx="1336929" cy="276225"/>
          </a:xfrm>
          <a:prstGeom prst="rect">
            <a:avLst/>
          </a:prstGeom>
        </p:spPr>
      </p:pic>
      <p:grpSp>
        <p:nvGrpSpPr>
          <p:cNvPr id="6" name="identity-name"/>
          <p:cNvGrpSpPr/>
          <p:nvPr/>
        </p:nvGrpSpPr>
        <p:grpSpPr>
          <a:xfrm>
            <a:off x="2521458" y="6000750"/>
            <a:ext cx="1143000" cy="234696"/>
            <a:chOff x="2521458" y="6000750"/>
            <a:chExt cx="1143000" cy="234696"/>
          </a:xfrm>
        </p:grpSpPr>
        <p:sp>
          <p:nvSpPr>
            <p:cNvPr id="5" name="TextBox 5"/>
            <p:cNvSpPr txBox="1"/>
            <p:nvPr/>
          </p:nvSpPr>
          <p:spPr>
            <a:xfrm>
              <a:off x="2521458" y="600075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产品中心医学部</a:t>
              </a:r>
            </a:p>
          </p:txBody>
        </p:sp>
      </p:grpSp>
      <p:grpSp>
        <p:nvGrpSpPr>
          <p:cNvPr id="8" name="kicker"/>
          <p:cNvGrpSpPr/>
          <p:nvPr/>
        </p:nvGrpSpPr>
        <p:grpSpPr>
          <a:xfrm>
            <a:off x="5484114" y="1619250"/>
            <a:ext cx="1223772" cy="234696"/>
            <a:chOff x="5484114" y="1619250"/>
            <a:chExt cx="122377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5484114" y="1619250"/>
              <a:ext cx="12237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spc="36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会议决定事项</a:t>
              </a:r>
            </a:p>
          </p:txBody>
        </p:sp>
      </p:grpSp>
      <p:grpSp>
        <p:nvGrpSpPr>
          <p:cNvPr id="10" name="title"/>
          <p:cNvGrpSpPr/>
          <p:nvPr/>
        </p:nvGrpSpPr>
        <p:grpSpPr>
          <a:xfrm>
            <a:off x="3807257" y="1981200"/>
            <a:ext cx="4577486" cy="1090612"/>
            <a:chOff x="3807257" y="1981200"/>
            <a:chExt cx="4577486" cy="1090612"/>
          </a:xfrm>
        </p:grpSpPr>
        <p:sp>
          <p:nvSpPr>
            <p:cNvPr id="9" name="TextBox 9"/>
            <p:cNvSpPr txBox="1"/>
            <p:nvPr/>
          </p:nvSpPr>
          <p:spPr>
            <a:xfrm>
              <a:off x="3807257" y="1981200"/>
              <a:ext cx="4577486" cy="10906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62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请确认两件事</a:t>
              </a:r>
            </a:p>
          </p:txBody>
        </p:sp>
      </p:grpSp>
      <p:sp>
        <p:nvSpPr>
          <p:cNvPr id="11" name="ask-shell-1"/>
          <p:cNvSpPr/>
          <p:nvPr/>
        </p:nvSpPr>
        <p:spPr>
          <a:xfrm>
            <a:off x="1333500" y="3552825"/>
            <a:ext cx="4619625" cy="1123950"/>
          </a:xfrm>
          <a:prstGeom prst="roundRect">
            <a:avLst>
              <a:gd name="adj" fmla="val 27119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15" name="ask-1"/>
          <p:cNvGrpSpPr/>
          <p:nvPr/>
        </p:nvGrpSpPr>
        <p:grpSpPr>
          <a:xfrm>
            <a:off x="1619250" y="3717925"/>
            <a:ext cx="3129744" cy="933450"/>
            <a:chOff x="1619250" y="3717925"/>
            <a:chExt cx="3129744" cy="933450"/>
          </a:xfrm>
        </p:grpSpPr>
        <p:sp>
          <p:nvSpPr>
            <p:cNvPr id="12" name="TextBox 12"/>
            <p:cNvSpPr txBox="1"/>
            <p:nvPr/>
          </p:nvSpPr>
          <p:spPr>
            <a:xfrm>
              <a:off x="1619250" y="3717925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44318" y="3835400"/>
              <a:ext cx="220467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4 份资料由医学部牵头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44318" y="4159250"/>
              <a:ext cx="16195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2027Q1 内补收</a:t>
              </a:r>
            </a:p>
          </p:txBody>
        </p:sp>
      </p:grpSp>
      <p:sp>
        <p:nvSpPr>
          <p:cNvPr id="16" name="ask-shell-2"/>
          <p:cNvSpPr/>
          <p:nvPr/>
        </p:nvSpPr>
        <p:spPr>
          <a:xfrm>
            <a:off x="6238875" y="3552825"/>
            <a:ext cx="4619625" cy="1123950"/>
          </a:xfrm>
          <a:prstGeom prst="roundRect">
            <a:avLst>
              <a:gd name="adj" fmla="val 27119"/>
            </a:avLst>
          </a:prstGeom>
          <a:gradFill>
            <a:gsLst>
              <a:gs pos="0">
                <a:srgbClr val="FFFFFF">
                  <a:alpha val="40000"/>
                </a:srgbClr>
              </a:gs>
              <a:gs pos="48000">
                <a:srgbClr val="FFFAF0">
                  <a:alpha val="12000"/>
                </a:srgbClr>
              </a:gs>
              <a:gs pos="100000">
                <a:srgbClr val="FFECCD">
                  <a:alpha val="22000"/>
                </a:srgbClr>
              </a:gs>
            </a:gsLst>
            <a:lin ang="2700000" scaled="1"/>
          </a:gradFill>
          <a:ln w="12382">
            <a:solidFill>
              <a:srgbClr val="FFFFFF">
                <a:alpha val="95000"/>
              </a:srgbClr>
            </a:solidFill>
          </a:ln>
          <a:effectLst>
            <a:outerShdw blurRad="304800" dist="133350" dir="5400000" algn="ctr" rotWithShape="0">
              <a:srgbClr val="78460A">
                <a:alpha val="16500"/>
              </a:srgbClr>
            </a:outerShdw>
          </a:effectLst>
        </p:spPr>
      </p:sp>
      <p:grpSp>
        <p:nvGrpSpPr>
          <p:cNvPr id="20" name="ask-2"/>
          <p:cNvGrpSpPr/>
          <p:nvPr/>
        </p:nvGrpSpPr>
        <p:grpSpPr>
          <a:xfrm>
            <a:off x="6524625" y="3717925"/>
            <a:ext cx="2718816" cy="933450"/>
            <a:chOff x="6524625" y="3717925"/>
            <a:chExt cx="2718816" cy="933450"/>
          </a:xfrm>
        </p:grpSpPr>
        <p:sp>
          <p:nvSpPr>
            <p:cNvPr id="17" name="TextBox 17"/>
            <p:cNvSpPr txBox="1"/>
            <p:nvPr/>
          </p:nvSpPr>
          <p:spPr>
            <a:xfrm>
              <a:off x="6524625" y="3717925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dirty="0">
                  <a:solidFill>
                    <a:srgbClr val="9A4D0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49693" y="3835400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版本差异确认之后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49693" y="41592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115"/>
                  </a:solidFill>
                  <a:latin typeface="+mn-lt"/>
                  <a:ea typeface="+mn-ea"/>
                  <a:cs typeface="+mn-cs"/>
                </a:rPr>
                <a:t>再做组间比较</a:t>
              </a:r>
            </a:p>
          </p:txBody>
        </p:sp>
      </p:grpSp>
      <p:grpSp>
        <p:nvGrpSpPr>
          <p:cNvPr id="22" name="meta"/>
          <p:cNvGrpSpPr/>
          <p:nvPr/>
        </p:nvGrpSpPr>
        <p:grpSpPr>
          <a:xfrm>
            <a:off x="4865903" y="6210300"/>
            <a:ext cx="2460193" cy="234696"/>
            <a:chOff x="4865903" y="6210300"/>
            <a:chExt cx="2460193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4865903" y="6210300"/>
              <a:ext cx="2460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spc="1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2026年10月　管理层季度汇报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with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 decel="70000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withEffect" decel="70000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angzhe_flagship">
  <a:themeElements>
    <a:clrScheme name="kangzhe_flagship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gzhe_flagship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gzhe_flagshi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2026-10-24T10:17:03Z</dcterms:created>
  <dcterms:modified xsi:type="dcterms:W3CDTF">2026-10-24T10:17:03Z</dcterms:modified>
  <cp:category/>
  <cp:contentStatus/>
</cp:coreProperties>
</file>