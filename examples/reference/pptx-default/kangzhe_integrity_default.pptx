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401.xml" ContentType="application/vnd.openxmlformats-officedocument.drawingml.chart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  <Relationship Id="rId13" Type="http://schemas.openxmlformats.org/officeDocument/2006/relationships/notesMaster" Target="notesMasters/notesMaster1.xml"/>
</Relationships>
</file>

<file path=ppt/charts/_rels/chart4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401.xlsx"/>
</Relationships>
</file>

<file path=ppt/charts/chart4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0581273336116"/>
          <c:y val="0.0280373831776"/>
          <c:w val="0.941872666388"/>
          <c:h val="0.88317757009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应收</c:v>
                </c:pt>
              </c:strCache>
            </c:strRef>
          </c:tx>
          <c:spPr>
            <a:solidFill>
              <a:srgbClr val="6E7B8C"/>
            </a:solidFill>
            <a:ln>
              <a:solidFill>
                <a:srgbClr val="6E7B8C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12</c:v>
                </c:pt>
                <c:pt idx="2">
                  <c:v>6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已收</c:v>
                </c:pt>
              </c:strCache>
            </c:strRef>
          </c:tx>
          <c:spPr>
            <a:solidFill>
              <a:srgbClr val="D46B08"/>
            </a:solidFill>
            <a:ln>
              <a:solidFill>
                <a:srgbClr val="D46B08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9</c:v>
                </c:pt>
                <c:pt idx="2">
                  <c:v>6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lang="zh-CN" sz="1200">
                  <a:solidFill>
                    <a:srgbClr val="404040"/>
                  </a:solidFill>
                  <a:latin typeface="Microsoft YaHei"/>
                  <a:ea typeface="Microsoft YaHei"/>
                  <a:cs typeface="Microsoft YaHei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15"/>
          <c:min val="0"/>
        </c:scaling>
        <c:delete val="0"/>
        <c:axPos val="l"/>
        <c:majorGridlines>
          <c:spPr>
            <a:ln w="6350" cap="flat" cmpd="sng" algn="ctr">
              <a:solidFill>
                <a:srgbClr val="E7EBEE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068027336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zh-CN" sz="1200">
          <a:solidFill>
            <a:srgbClr val="404040"/>
          </a:solidFill>
          <a:latin typeface="Microsoft YaHei"/>
          <a:ea typeface="Microsoft YaHei"/>
          <a:cs typeface="Microsoft YaHei"/>
        </a:defRPr>
      </a:pPr>
      <a:endParaRPr lang="zh-CN"/>
    </a:p>
  </c:txPr>
  <c:externalData r:id="rId1">
    <c:autoUpdate val="0"/>
  </c:externalData>
</c:chartSpace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今天用几分钟汇报一项研究资料包的完整性核对结果，材料是合成示例。先说结论：按计划应收二十四份资料，目前已收二十份，整体可用，但还有缺口需要补齐。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汇报分三部分：先说明这次核对覆盖哪些人群、时间窗和资料组，再看各组的应收与已收情况，最后是补收、确认和复核的季度安排。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核对针对成人受试者，以第十六周作为评价时间窗。纳入的资料分四组：方案与修订、中心记录、实验室数据和安全性报告。方案有两个版本，V二点一和V二点三，我们把两版并排比较，发现两项差异需要确认，分别是筛选窗口和终点评价时间点。这两项会影响后面的组间比较，所以放在核对计划里单独处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资料里，方案与修订、实验室数据已经收齐，缺口集中在中心记录和安全性报告。中心记录应收十二份，已收九份，缺三份；安全性报告应收四份，缺一份，合计缺四份。缺失的记录在数据里保留为空值，不按零处理，也不做插补，这样后续比较时缺口是可见的，不会被当成真实的零值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接下来的安排按季度推进。缺失资料的补收由医学部负责，从二零二六年第四季度开始，二零二七年第一季度内完成；两版方案的差异确认也在第一季度内完成。完整性复核由数统负责，安全性报告核对由PV负责，都从第一季度开始、延续到第二季度。最后在第二季度由医学部形成审阅意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最后请大家确认两件事：四份缺失资料由医学部牵头，在二零二七年第一季度内补收；两项方案差异确认之后，再做组间比较。如果没有不同意见，我们就按这个时间表推进。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angzhe_integrity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angzhe_integrity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5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4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5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a4f7119df6ff402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66c6ad9ed48562f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  <Relationship Id="rId4" Type="http://schemas.openxmlformats.org/officeDocument/2006/relationships/chart" Target="../charts/chart401.xml"/>
  <Relationship Id="rId5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3680aee0826cf66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pic>
        <p:nvPicPr>
          <p:cNvPr id="3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5" name="cover-title"/>
          <p:cNvGrpSpPr/>
          <p:nvPr/>
        </p:nvGrpSpPr>
        <p:grpSpPr>
          <a:xfrm>
            <a:off x="857250" y="1534160"/>
            <a:ext cx="5126736" cy="819150"/>
            <a:chOff x="857250" y="1534160"/>
            <a:chExt cx="5126736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876300" y="1562100"/>
              <a:ext cx="104394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5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研究资料完整性核对</a:t>
              </a:r>
            </a:p>
          </p:txBody>
        </p:sp>
      </p:grpSp>
      <p:grpSp>
        <p:nvGrpSpPr>
          <p:cNvPr id="7" name="cover-subtitle"/>
          <p:cNvGrpSpPr/>
          <p:nvPr/>
        </p:nvGrpSpPr>
        <p:grpSpPr>
          <a:xfrm>
            <a:off x="865632" y="3053080"/>
            <a:ext cx="4374947" cy="410718"/>
            <a:chOff x="865632" y="3053080"/>
            <a:chExt cx="4374947" cy="410718"/>
          </a:xfrm>
        </p:grpSpPr>
        <p:sp>
          <p:nvSpPr>
            <p:cNvPr id="6" name="TextBox 6"/>
            <p:cNvSpPr txBox="1"/>
            <p:nvPr/>
          </p:nvSpPr>
          <p:spPr>
            <a:xfrm>
              <a:off x="876300" y="3067050"/>
              <a:ext cx="10439400" cy="400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2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合成示例｜应收 24 份，已收 20 份</a:t>
              </a:r>
            </a:p>
          </p:txBody>
        </p:sp>
      </p:grpSp>
      <p:grpSp>
        <p:nvGrpSpPr>
          <p:cNvPr id="9" name="cover-meta"/>
          <p:cNvGrpSpPr/>
          <p:nvPr/>
        </p:nvGrpSpPr>
        <p:grpSpPr>
          <a:xfrm>
            <a:off x="868680" y="3632200"/>
            <a:ext cx="2811971" cy="293370"/>
            <a:chOff x="868680" y="3632200"/>
            <a:chExt cx="2811971" cy="293370"/>
          </a:xfrm>
        </p:grpSpPr>
        <p:sp>
          <p:nvSpPr>
            <p:cNvPr id="8" name="TextBox 8"/>
            <p:cNvSpPr txBox="1"/>
            <p:nvPr/>
          </p:nvSpPr>
          <p:spPr>
            <a:xfrm>
              <a:off x="876300" y="3638550"/>
              <a:ext cx="104394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ns3:dur="400">
    <p:fade/>
  </p:transition>
</p:sld>
</file>

<file path=ppt/slides/slide2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857250"/>
            <a:ext cx="12192000" cy="6858000"/>
          </a:xfrm>
          <a:prstGeom prst="rect">
            <a:avLst/>
          </a:prstGeom>
        </p:spPr>
      </p:pic>
      <p:pic>
        <p:nvPicPr>
          <p:cNvPr id="3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9753600" y="431852"/>
            <a:ext cx="1905000" cy="393595"/>
          </a:xfrm>
          <a:prstGeom prst="rect">
            <a:avLst/>
          </a:prstGeom>
        </p:spPr>
      </p:pic>
      <p:grpSp>
        <p:nvGrpSpPr>
          <p:cNvPr id="5" name="toc-title"/>
          <p:cNvGrpSpPr/>
          <p:nvPr/>
        </p:nvGrpSpPr>
        <p:grpSpPr>
          <a:xfrm>
            <a:off x="629412" y="233680"/>
            <a:ext cx="1975104" cy="704088"/>
            <a:chOff x="629412" y="233680"/>
            <a:chExt cx="1975104" cy="704088"/>
          </a:xfrm>
        </p:grpSpPr>
        <p:sp>
          <p:nvSpPr>
            <p:cNvPr id="4" name="TextBox 4"/>
            <p:cNvSpPr txBox="1"/>
            <p:nvPr/>
          </p:nvSpPr>
          <p:spPr>
            <a:xfrm>
              <a:off x="647700" y="266700"/>
              <a:ext cx="8191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4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6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汇报章节</a:t>
              </a:r>
            </a:p>
          </p:txBody>
        </p:sp>
      </p:grpSp>
      <p:grpSp>
        <p:nvGrpSpPr>
          <p:cNvPr id="11" name="toc-card-1"/>
          <p:cNvGrpSpPr/>
          <p:nvPr/>
        </p:nvGrpSpPr>
        <p:grpSpPr>
          <a:xfrm>
            <a:off x="647700" y="1524000"/>
            <a:ext cx="3479768" cy="1295400"/>
            <a:chOff x="647700" y="1524000"/>
            <a:chExt cx="3479768" cy="1295400"/>
          </a:xfrm>
        </p:grpSpPr>
        <p:sp>
          <p:nvSpPr>
            <p:cNvPr id="6" name="Rectangle 6"/>
            <p:cNvSpPr/>
            <p:nvPr/>
          </p:nvSpPr>
          <p:spPr>
            <a:xfrm>
              <a:off x="647700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7" name="Freeform 7"/>
            <p:cNvSpPr/>
            <p:nvPr/>
          </p:nvSpPr>
          <p:spPr>
            <a:xfrm>
              <a:off x="876300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763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240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对象、时间窗与资料组</a:t>
              </a:r>
            </a:p>
          </p:txBody>
        </p:sp>
      </p:grpSp>
      <p:grpSp>
        <p:nvGrpSpPr>
          <p:cNvPr id="17" name="toc-card-2"/>
          <p:cNvGrpSpPr/>
          <p:nvPr/>
        </p:nvGrpSpPr>
        <p:grpSpPr>
          <a:xfrm>
            <a:off x="4356068" y="1524000"/>
            <a:ext cx="3479768" cy="1295400"/>
            <a:chOff x="4356068" y="1524000"/>
            <a:chExt cx="3479768" cy="1295400"/>
          </a:xfrm>
        </p:grpSpPr>
        <p:sp>
          <p:nvSpPr>
            <p:cNvPr id="12" name="Rectangle 12"/>
            <p:cNvSpPr/>
            <p:nvPr/>
          </p:nvSpPr>
          <p:spPr>
            <a:xfrm>
              <a:off x="4356068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Freeform 13"/>
            <p:cNvSpPr/>
            <p:nvPr/>
          </p:nvSpPr>
          <p:spPr>
            <a:xfrm>
              <a:off x="4584668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847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2324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47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应收与已收、缺口所在</a:t>
              </a:r>
            </a:p>
          </p:txBody>
        </p:sp>
      </p:grpSp>
      <p:grpSp>
        <p:nvGrpSpPr>
          <p:cNvPr id="23" name="toc-card-3"/>
          <p:cNvGrpSpPr/>
          <p:nvPr/>
        </p:nvGrpSpPr>
        <p:grpSpPr>
          <a:xfrm>
            <a:off x="8064532" y="1524000"/>
            <a:ext cx="3479768" cy="1295400"/>
            <a:chOff x="8064532" y="1524000"/>
            <a:chExt cx="3479768" cy="1295400"/>
          </a:xfrm>
        </p:grpSpPr>
        <p:sp>
          <p:nvSpPr>
            <p:cNvPr id="18" name="Rectangle 18"/>
            <p:cNvSpPr/>
            <p:nvPr/>
          </p:nvSpPr>
          <p:spPr>
            <a:xfrm>
              <a:off x="8064532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9" name="Freeform 19"/>
            <p:cNvSpPr/>
            <p:nvPr/>
          </p:nvSpPr>
          <p:spPr>
            <a:xfrm>
              <a:off x="8293132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931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9408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核对计划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931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补收、确认与复核</a:t>
              </a:r>
            </a:p>
          </p:txBody>
        </p:sp>
      </p:grpSp>
    </p:spTree>
  </p:cSld>
  <p:clrMapOvr>
    <a:masterClrMapping/>
  </p:clrMapOvr>
  <p:transition ns3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"/>
                            </p:stCondLst>
                            <p:childTnLst>
                              <p:par>
                                <p:cTn id="13" presetID="10" presetClass="entr" presetSubtype="0" fill="hold" grpId="0" nodeType="withEffect" decel="70000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51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2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3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4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21" name="card-population"/>
          <p:cNvGrpSpPr/>
          <p:nvPr/>
        </p:nvGrpSpPr>
        <p:grpSpPr>
          <a:xfrm>
            <a:off x="533400" y="2314575"/>
            <a:ext cx="3555968" cy="2571750"/>
            <a:chOff x="533400" y="2314575"/>
            <a:chExt cx="3555968" cy="2571750"/>
          </a:xfrm>
        </p:grpSpPr>
        <p:sp>
          <p:nvSpPr>
            <p:cNvPr id="12" name="Rectangle 12"/>
            <p:cNvSpPr/>
            <p:nvPr/>
          </p:nvSpPr>
          <p:spPr>
            <a:xfrm>
              <a:off x="533400" y="2314575"/>
              <a:ext cx="3555968" cy="2571750"/>
            </a:xfrm>
            <a:prstGeom prst="roundRect">
              <a:avLst>
                <a:gd name="adj" fmla="val 888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23241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2856" y="2555875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研究人群与时间窗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2981325"/>
              <a:ext cx="3098768" cy="762000"/>
            </a:xfrm>
            <a:prstGeom prst="roundRect">
              <a:avLst>
                <a:gd name="adj" fmla="val 17500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8304" y="31146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研究对象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6780" y="33940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成人受试者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57625"/>
              <a:ext cx="3098768" cy="762000"/>
            </a:xfrm>
            <a:prstGeom prst="roundRect">
              <a:avLst>
                <a:gd name="adj" fmla="val 17500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8304" y="399097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评价时间窗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6780" y="4270375"/>
              <a:ext cx="7795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第 16 周</a:t>
              </a:r>
            </a:p>
          </p:txBody>
        </p:sp>
      </p:grpSp>
      <p:grpSp>
        <p:nvGrpSpPr>
          <p:cNvPr id="35" name="card-documents"/>
          <p:cNvGrpSpPr/>
          <p:nvPr/>
        </p:nvGrpSpPr>
        <p:grpSpPr>
          <a:xfrm>
            <a:off x="4317968" y="2314575"/>
            <a:ext cx="3555968" cy="2571750"/>
            <a:chOff x="4317968" y="2314575"/>
            <a:chExt cx="3555968" cy="2571750"/>
          </a:xfrm>
        </p:grpSpPr>
        <p:sp>
          <p:nvSpPr>
            <p:cNvPr id="22" name="Rectangle 22"/>
            <p:cNvSpPr/>
            <p:nvPr/>
          </p:nvSpPr>
          <p:spPr>
            <a:xfrm>
              <a:off x="4317968" y="2314575"/>
              <a:ext cx="3555968" cy="2571750"/>
            </a:xfrm>
            <a:prstGeom prst="roundRect">
              <a:avLst>
                <a:gd name="adj" fmla="val 888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3" name="Rectangle 23"/>
            <p:cNvSpPr/>
            <p:nvPr/>
          </p:nvSpPr>
          <p:spPr>
            <a:xfrm>
              <a:off x="4546568" y="23241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537424" y="2555875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纳入资料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54704" y="261937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共四组</a:t>
              </a:r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4546568" y="2981325"/>
              <a:ext cx="3098864" cy="1638300"/>
              <a:chOff x="4546568" y="2981325"/>
              <a:chExt cx="3098864" cy="16383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546568" y="2981325"/>
                <a:ext cx="1492282" cy="762000"/>
              </a:xfrm>
              <a:prstGeom prst="roundRect">
                <a:avLst>
                  <a:gd name="adj" fmla="val 17500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4780312" y="325120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方案与修订</a:t>
                </a: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153150" y="2981325"/>
                <a:ext cx="1492282" cy="762000"/>
              </a:xfrm>
              <a:prstGeom prst="roundRect">
                <a:avLst>
                  <a:gd name="adj" fmla="val 17500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6487763" y="3251200"/>
                <a:ext cx="82296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中心记录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46568" y="3857625"/>
                <a:ext cx="1492282" cy="762000"/>
              </a:xfrm>
              <a:prstGeom prst="roundRect">
                <a:avLst>
                  <a:gd name="adj" fmla="val 17500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4780312" y="412750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实验室数据</a:t>
                </a: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6153150" y="3857625"/>
                <a:ext cx="1492282" cy="762000"/>
              </a:xfrm>
              <a:prstGeom prst="roundRect">
                <a:avLst>
                  <a:gd name="adj" fmla="val 17500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6386798" y="412750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安全性报告</a:t>
                </a:r>
              </a:p>
            </p:txBody>
          </p:sp>
        </p:grpSp>
      </p:grpSp>
      <p:grpSp>
        <p:nvGrpSpPr>
          <p:cNvPr id="47" name="card-versions"/>
          <p:cNvGrpSpPr/>
          <p:nvPr/>
        </p:nvGrpSpPr>
        <p:grpSpPr>
          <a:xfrm>
            <a:off x="8102632" y="2314575"/>
            <a:ext cx="3555968" cy="2571750"/>
            <a:chOff x="8102632" y="2314575"/>
            <a:chExt cx="3555968" cy="2571750"/>
          </a:xfrm>
        </p:grpSpPr>
        <p:sp>
          <p:nvSpPr>
            <p:cNvPr id="36" name="Rectangle 36"/>
            <p:cNvSpPr/>
            <p:nvPr/>
          </p:nvSpPr>
          <p:spPr>
            <a:xfrm>
              <a:off x="8102632" y="2314575"/>
              <a:ext cx="3555968" cy="2571750"/>
            </a:xfrm>
            <a:prstGeom prst="roundRect">
              <a:avLst>
                <a:gd name="adj" fmla="val 888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7" name="Rectangle 37"/>
            <p:cNvSpPr/>
            <p:nvPr/>
          </p:nvSpPr>
          <p:spPr>
            <a:xfrm>
              <a:off x="8331232" y="23241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22088" y="2555875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方案版本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331232" y="2981325"/>
              <a:ext cx="1104900" cy="762000"/>
            </a:xfrm>
            <a:prstGeom prst="roundRect">
              <a:avLst>
                <a:gd name="adj" fmla="val 17500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578821" y="3209925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V2.1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9588532" y="3209925"/>
              <a:ext cx="584168" cy="304800"/>
            </a:xfrm>
            <a:prstGeom prst="leftRightArrow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325100" y="2981325"/>
              <a:ext cx="1104900" cy="762000"/>
            </a:xfrm>
            <a:prstGeom prst="roundRect">
              <a:avLst>
                <a:gd name="adj" fmla="val 17500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572689" y="3209925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V2.3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331232" y="3857625"/>
              <a:ext cx="3098768" cy="762000"/>
            </a:xfrm>
            <a:prstGeom prst="roundRect">
              <a:avLst>
                <a:gd name="adj" fmla="val 17500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76012" y="3984625"/>
              <a:ext cx="16089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待确认差异：</a:t>
              </a:r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2 项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476012" y="427037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筛选窗口、终点评价时间点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48" name="TextBox 48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3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45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6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7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8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639824" cy="469392"/>
            <a:chOff x="854583" y="241300"/>
            <a:chExt cx="1639824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22" name="data-card"/>
          <p:cNvGrpSpPr/>
          <p:nvPr/>
        </p:nvGrpSpPr>
        <p:grpSpPr>
          <a:xfrm>
            <a:off x="533400" y="1028700"/>
            <a:ext cx="6356318" cy="5143500"/>
            <a:chOff x="533400" y="1028700"/>
            <a:chExt cx="6356318" cy="5143500"/>
          </a:xfrm>
        </p:grpSpPr>
        <p:sp>
          <p:nvSpPr>
            <p:cNvPr id="12" name="Rectangle 12"/>
            <p:cNvSpPr/>
            <p:nvPr/>
          </p:nvSpPr>
          <p:spPr>
            <a:xfrm>
              <a:off x="533400" y="1028700"/>
              <a:ext cx="6356318" cy="5143500"/>
            </a:xfrm>
            <a:prstGeom prst="roundRect">
              <a:avLst>
                <a:gd name="adj" fmla="val 444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1038225"/>
              <a:ext cx="19050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2856" y="127000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各资料组应收与已收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78038" y="133350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合成示例数据｜单位：份</a:t>
              </a:r>
            </a:p>
          </p:txBody>
        </p:sp>
        <p:grpSp>
          <p:nvGrpSpPr>
            <p:cNvPr id="20" name="completeness-legend"/>
            <p:cNvGrpSpPr/>
            <p:nvPr/>
          </p:nvGrpSpPr>
          <p:grpSpPr>
            <a:xfrm>
              <a:off x="762000" y="1657350"/>
              <a:ext cx="1205484" cy="234696"/>
              <a:chOff x="762000" y="1657350"/>
              <a:chExt cx="1205484" cy="234696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762000" y="16954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6E7B8C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965454" y="1657350"/>
                <a:ext cx="33528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应收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1428750" y="16954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D46B08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1632204" y="1657350"/>
                <a:ext cx="33528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已收</a:t>
                </a:r>
              </a:p>
            </p:txBody>
          </p:sp>
        </p:grpSp>
        <p:graphicFrame>
          <p:nvGraphicFramePr>
            <p:cNvPr id="21" name="completeness-bars"/>
            <p:cNvGraphicFramePr>
              <a:graphicFrameLocks noGrp="1"/>
            </p:cNvGraphicFramePr>
            <p:nvPr/>
          </p:nvGraphicFramePr>
          <p:xfrm>
            <a:off x="762000" y="1905000"/>
            <a:ext cx="5899118" cy="40767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grpSp>
        <p:nvGrpSpPr>
          <p:cNvPr id="26" name="takeaway"/>
          <p:cNvGrpSpPr/>
          <p:nvPr/>
        </p:nvGrpSpPr>
        <p:grpSpPr>
          <a:xfrm>
            <a:off x="7118318" y="1028700"/>
            <a:ext cx="4540282" cy="1333500"/>
            <a:chOff x="7118318" y="1028700"/>
            <a:chExt cx="4540282" cy="1333500"/>
          </a:xfrm>
        </p:grpSpPr>
        <p:sp>
          <p:nvSpPr>
            <p:cNvPr id="23" name="Rectangle 23"/>
            <p:cNvSpPr/>
            <p:nvPr/>
          </p:nvSpPr>
          <p:spPr>
            <a:xfrm>
              <a:off x="7118318" y="1028700"/>
              <a:ext cx="4540282" cy="1333500"/>
            </a:xfrm>
            <a:prstGeom prst="roundRect">
              <a:avLst>
                <a:gd name="adj" fmla="val 171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4" name="Rectangle 24"/>
            <p:cNvSpPr/>
            <p:nvPr/>
          </p:nvSpPr>
          <p:spPr>
            <a:xfrm>
              <a:off x="7346918" y="1038225"/>
              <a:ext cx="1362075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1993" y="1565275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缺口集中在中心记录与安全性报告</a:t>
              </a:r>
            </a:p>
          </p:txBody>
        </p:sp>
      </p:grpSp>
      <p:grpSp>
        <p:nvGrpSpPr>
          <p:cNvPr id="36" name="kpi-totals"/>
          <p:cNvGrpSpPr/>
          <p:nvPr/>
        </p:nvGrpSpPr>
        <p:grpSpPr>
          <a:xfrm>
            <a:off x="7118318" y="2590800"/>
            <a:ext cx="4540282" cy="1219200"/>
            <a:chOff x="7118318" y="2590800"/>
            <a:chExt cx="4540282" cy="1219200"/>
          </a:xfrm>
        </p:grpSpPr>
        <p:sp>
          <p:nvSpPr>
            <p:cNvPr id="27" name="Rectangle 27"/>
            <p:cNvSpPr/>
            <p:nvPr/>
          </p:nvSpPr>
          <p:spPr>
            <a:xfrm>
              <a:off x="7118318" y="2590800"/>
              <a:ext cx="1411796" cy="1219200"/>
            </a:xfrm>
            <a:prstGeom prst="roundRect">
              <a:avLst>
                <a:gd name="adj" fmla="val 14062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8" name="TextBox 28"/>
            <p:cNvSpPr txBox="1"/>
            <p:nvPr/>
          </p:nvSpPr>
          <p:spPr>
            <a:xfrm>
              <a:off x="7520437" y="2908300"/>
              <a:ext cx="60755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24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56576" y="33909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应收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682609" y="2590800"/>
              <a:ext cx="1411796" cy="1219200"/>
            </a:xfrm>
            <a:prstGeom prst="roundRect">
              <a:avLst>
                <a:gd name="adj" fmla="val 14062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1" name="TextBox 31"/>
            <p:cNvSpPr txBox="1"/>
            <p:nvPr/>
          </p:nvSpPr>
          <p:spPr>
            <a:xfrm>
              <a:off x="9084728" y="2908300"/>
              <a:ext cx="60755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20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20867" y="33909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已收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0246804" y="2590800"/>
              <a:ext cx="1411796" cy="1219200"/>
            </a:xfrm>
            <a:prstGeom prst="roundRect">
              <a:avLst>
                <a:gd name="adj" fmla="val 14062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4" name="TextBox 34"/>
            <p:cNvSpPr txBox="1"/>
            <p:nvPr/>
          </p:nvSpPr>
          <p:spPr>
            <a:xfrm>
              <a:off x="10742215" y="2908300"/>
              <a:ext cx="42097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4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85062" y="33909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缺口</a:t>
              </a:r>
            </a:p>
          </p:txBody>
        </p:sp>
      </p:grpSp>
      <p:grpSp>
        <p:nvGrpSpPr>
          <p:cNvPr id="41" name="gap-card"/>
          <p:cNvGrpSpPr/>
          <p:nvPr/>
        </p:nvGrpSpPr>
        <p:grpSpPr>
          <a:xfrm>
            <a:off x="7118318" y="4038600"/>
            <a:ext cx="4540282" cy="2133600"/>
            <a:chOff x="7118318" y="4038600"/>
            <a:chExt cx="4540282" cy="2133600"/>
          </a:xfrm>
        </p:grpSpPr>
        <p:sp>
          <p:nvSpPr>
            <p:cNvPr id="37" name="Rectangle 37"/>
            <p:cNvSpPr/>
            <p:nvPr/>
          </p:nvSpPr>
          <p:spPr>
            <a:xfrm>
              <a:off x="7118318" y="4038600"/>
              <a:ext cx="4540282" cy="2133600"/>
            </a:xfrm>
            <a:prstGeom prst="roundRect">
              <a:avLst>
                <a:gd name="adj" fmla="val 1071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8" name="Rectangle 38"/>
            <p:cNvSpPr/>
            <p:nvPr/>
          </p:nvSpPr>
          <p:spPr>
            <a:xfrm>
              <a:off x="7346918" y="4048125"/>
              <a:ext cx="1362075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337774" y="4279900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缺口与口径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39298" y="4591050"/>
              <a:ext cx="3606165" cy="10934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1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中心记录缺 </a:t>
              </a:r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3 份</a:t>
              </a:r>
            </a:p>
            <a:p>
              <a:pPr algn="l" marL="161925" indent="-161925">
                <a:lnSpc>
                  <a:spcPts val="31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安全性报告缺 </a:t>
              </a:r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1 份</a:t>
              </a:r>
            </a:p>
            <a:p>
              <a:pPr algn="l" marL="161925" indent="-161925">
                <a:lnSpc>
                  <a:spcPts val="31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缺失保留为空值，</a:t>
              </a:r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不按零处理，也不插补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42" name="TextBox 42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4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62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3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4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5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核对计划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58" name="plan-card"/>
          <p:cNvGrpSpPr/>
          <p:nvPr/>
        </p:nvGrpSpPr>
        <p:grpSpPr>
          <a:xfrm>
            <a:off x="533400" y="1028700"/>
            <a:ext cx="11125200" cy="5143500"/>
            <a:chOff x="533400" y="1028700"/>
            <a:chExt cx="11125200" cy="5143500"/>
          </a:xfrm>
        </p:grpSpPr>
        <p:sp>
          <p:nvSpPr>
            <p:cNvPr id="12" name="Rectangle 12"/>
            <p:cNvSpPr/>
            <p:nvPr/>
          </p:nvSpPr>
          <p:spPr>
            <a:xfrm>
              <a:off x="533400" y="1028700"/>
              <a:ext cx="11125200" cy="5143500"/>
            </a:xfrm>
            <a:prstGeom prst="roundRect">
              <a:avLst>
                <a:gd name="adj" fmla="val 444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1038225"/>
              <a:ext cx="333375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2856" y="12700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季度安排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77656" y="133350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合成示例数据｜条形颜色表示负责部门</a:t>
              </a:r>
            </a:p>
          </p:txBody>
        </p:sp>
        <p:grpSp>
          <p:nvGrpSpPr>
            <p:cNvPr id="49" name="check-plan-gantt"/>
            <p:cNvGrpSpPr/>
            <p:nvPr/>
          </p:nvGrpSpPr>
          <p:grpSpPr>
            <a:xfrm>
              <a:off x="754380" y="1676400"/>
              <a:ext cx="10675620" cy="3438525"/>
              <a:chOff x="754380" y="1676400"/>
              <a:chExt cx="10675620" cy="3438525"/>
            </a:xfrm>
          </p:grpSpPr>
          <p:sp>
            <p:nvSpPr>
              <p:cNvPr id="16" name="deadline-quarter"/>
              <p:cNvSpPr/>
              <p:nvPr/>
            </p:nvSpPr>
            <p:spPr>
              <a:xfrm>
                <a:off x="6324600" y="1676400"/>
                <a:ext cx="2552700" cy="3429000"/>
              </a:xfrm>
              <a:prstGeom prst="rect">
                <a:avLst/>
              </a:prstGeom>
              <a:solidFill>
                <a:schemeClr val="accent1">
                  <a:alpha val="7000"/>
                </a:schemeClr>
              </a:solidFill>
              <a:ln>
                <a:noFill/>
              </a:ln>
            </p:spPr>
          </p:sp>
          <p:grpSp>
            <p:nvGrpSpPr>
              <p:cNvPr id="20" name="Group 20"/>
              <p:cNvGrpSpPr/>
              <p:nvPr/>
            </p:nvGrpSpPr>
            <p:grpSpPr>
              <a:xfrm>
                <a:off x="4648581" y="1743075"/>
                <a:ext cx="5904738" cy="293370"/>
                <a:chOff x="4648581" y="1743075"/>
                <a:chExt cx="5904738" cy="293370"/>
              </a:xfrm>
            </p:grpSpPr>
            <p:sp>
              <p:nvSpPr>
                <p:cNvPr id="17" name="TextBox 17"/>
                <p:cNvSpPr txBox="1"/>
                <p:nvPr/>
              </p:nvSpPr>
              <p:spPr>
                <a:xfrm>
                  <a:off x="4648581" y="1743075"/>
                  <a:ext cx="799338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500" b="1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2026Q4</a:t>
                  </a:r>
                </a:p>
              </p:txBody>
            </p:sp>
            <p:sp>
              <p:nvSpPr>
                <p:cNvPr id="18" name="TextBox 18"/>
                <p:cNvSpPr txBox="1"/>
                <p:nvPr/>
              </p:nvSpPr>
              <p:spPr>
                <a:xfrm>
                  <a:off x="7201281" y="1743075"/>
                  <a:ext cx="799338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500" b="1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2027Q1</a:t>
                  </a:r>
                </a:p>
              </p:txBody>
            </p:sp>
            <p:sp>
              <p:nvSpPr>
                <p:cNvPr id="19" name="TextBox 19"/>
                <p:cNvSpPr txBox="1"/>
                <p:nvPr/>
              </p:nvSpPr>
              <p:spPr>
                <a:xfrm>
                  <a:off x="9753981" y="1743075"/>
                  <a:ext cx="799338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en-US" sz="1500" b="1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2027Q2</a:t>
                  </a:r>
                </a:p>
              </p:txBody>
            </p:sp>
          </p:grpSp>
          <p:grpSp>
            <p:nvGrpSpPr>
              <p:cNvPr id="48" name="check-plan-gantt-chartArea"/>
              <p:cNvGrpSpPr/>
              <p:nvPr/>
            </p:nvGrpSpPr>
            <p:grpSpPr>
              <a:xfrm>
                <a:off x="754380" y="1676400"/>
                <a:ext cx="10675620" cy="3438525"/>
                <a:chOff x="754380" y="1676400"/>
                <a:chExt cx="10675620" cy="3438525"/>
              </a:xfrm>
            </p:grpSpPr>
            <p:grpSp>
              <p:nvGrpSpPr>
                <p:cNvPr id="28" name="plan-grid"/>
                <p:cNvGrpSpPr/>
                <p:nvPr/>
              </p:nvGrpSpPr>
              <p:grpSpPr>
                <a:xfrm>
                  <a:off x="762000" y="1676400"/>
                  <a:ext cx="10668000" cy="3429000"/>
                  <a:chOff x="762000" y="1676400"/>
                  <a:chExt cx="10668000" cy="3429000"/>
                </a:xfrm>
              </p:grpSpPr>
              <p:sp>
                <p:nvSpPr>
                  <p:cNvPr id="21" name="Line 21"/>
                  <p:cNvSpPr/>
                  <p:nvPr/>
                </p:nvSpPr>
                <p:spPr>
                  <a:xfrm>
                    <a:off x="762000" y="2057400"/>
                    <a:ext cx="10668000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668000" h="9525">
                        <a:moveTo>
                          <a:pt x="0" y="0"/>
                        </a:moveTo>
                        <a:lnTo>
                          <a:pt x="10668000" y="0"/>
                        </a:lnTo>
                      </a:path>
                    </a:pathLst>
                  </a:custGeom>
                  <a:noFill/>
                  <a:ln w="9525">
                    <a:solidFill>
                      <a:srgbClr val="E7EBEE"/>
                    </a:solidFill>
                  </a:ln>
                </p:spPr>
              </p:sp>
              <p:sp>
                <p:nvSpPr>
                  <p:cNvPr id="22" name="Line 22"/>
                  <p:cNvSpPr/>
                  <p:nvPr/>
                </p:nvSpPr>
                <p:spPr>
                  <a:xfrm>
                    <a:off x="762000" y="2667000"/>
                    <a:ext cx="10668000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668000" h="9525">
                        <a:moveTo>
                          <a:pt x="0" y="0"/>
                        </a:moveTo>
                        <a:lnTo>
                          <a:pt x="10668000" y="0"/>
                        </a:lnTo>
                      </a:path>
                    </a:pathLst>
                  </a:custGeom>
                  <a:noFill/>
                  <a:ln w="9525">
                    <a:solidFill>
                      <a:srgbClr val="E7EBEE"/>
                    </a:solidFill>
                  </a:ln>
                </p:spPr>
              </p:sp>
              <p:sp>
                <p:nvSpPr>
                  <p:cNvPr id="23" name="Line 23"/>
                  <p:cNvSpPr/>
                  <p:nvPr/>
                </p:nvSpPr>
                <p:spPr>
                  <a:xfrm>
                    <a:off x="762000" y="3276600"/>
                    <a:ext cx="10668000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668000" h="9525">
                        <a:moveTo>
                          <a:pt x="0" y="0"/>
                        </a:moveTo>
                        <a:lnTo>
                          <a:pt x="10668000" y="0"/>
                        </a:lnTo>
                      </a:path>
                    </a:pathLst>
                  </a:custGeom>
                  <a:noFill/>
                  <a:ln w="9525">
                    <a:solidFill>
                      <a:srgbClr val="E7EBEE"/>
                    </a:solidFill>
                  </a:ln>
                </p:spPr>
              </p:sp>
              <p:sp>
                <p:nvSpPr>
                  <p:cNvPr id="24" name="Line 24"/>
                  <p:cNvSpPr/>
                  <p:nvPr/>
                </p:nvSpPr>
                <p:spPr>
                  <a:xfrm>
                    <a:off x="762000" y="3886200"/>
                    <a:ext cx="10668000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668000" h="9525">
                        <a:moveTo>
                          <a:pt x="0" y="0"/>
                        </a:moveTo>
                        <a:lnTo>
                          <a:pt x="10668000" y="0"/>
                        </a:lnTo>
                      </a:path>
                    </a:pathLst>
                  </a:custGeom>
                  <a:noFill/>
                  <a:ln w="9525">
                    <a:solidFill>
                      <a:srgbClr val="E7EBEE"/>
                    </a:solidFill>
                  </a:ln>
                </p:spPr>
              </p:sp>
              <p:sp>
                <p:nvSpPr>
                  <p:cNvPr id="25" name="Line 25"/>
                  <p:cNvSpPr/>
                  <p:nvPr/>
                </p:nvSpPr>
                <p:spPr>
                  <a:xfrm>
                    <a:off x="762000" y="4495800"/>
                    <a:ext cx="10668000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668000" h="9525">
                        <a:moveTo>
                          <a:pt x="0" y="0"/>
                        </a:moveTo>
                        <a:lnTo>
                          <a:pt x="10668000" y="0"/>
                        </a:lnTo>
                      </a:path>
                    </a:pathLst>
                  </a:custGeom>
                  <a:noFill/>
                  <a:ln w="9525">
                    <a:solidFill>
                      <a:srgbClr val="E7EBEE"/>
                    </a:solidFill>
                  </a:ln>
                </p:spPr>
              </p:sp>
              <p:sp>
                <p:nvSpPr>
                  <p:cNvPr id="26" name="Line 26"/>
                  <p:cNvSpPr/>
                  <p:nvPr/>
                </p:nvSpPr>
                <p:spPr>
                  <a:xfrm>
                    <a:off x="6324600" y="1676400"/>
                    <a:ext cx="9525" cy="3429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429000">
                        <a:moveTo>
                          <a:pt x="0" y="0"/>
                        </a:moveTo>
                        <a:lnTo>
                          <a:pt x="0" y="3429000"/>
                        </a:lnTo>
                      </a:path>
                    </a:pathLst>
                  </a:custGeom>
                  <a:noFill/>
                  <a:ln w="9525">
                    <a:solidFill>
                      <a:srgbClr val="E7EBEE"/>
                    </a:solidFill>
                  </a:ln>
                </p:spPr>
              </p:sp>
              <p:sp>
                <p:nvSpPr>
                  <p:cNvPr id="27" name="Line 27"/>
                  <p:cNvSpPr/>
                  <p:nvPr/>
                </p:nvSpPr>
                <p:spPr>
                  <a:xfrm>
                    <a:off x="8877300" y="1676400"/>
                    <a:ext cx="9525" cy="3429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429000">
                        <a:moveTo>
                          <a:pt x="0" y="0"/>
                        </a:moveTo>
                        <a:lnTo>
                          <a:pt x="0" y="3429000"/>
                        </a:lnTo>
                      </a:path>
                    </a:pathLst>
                  </a:custGeom>
                  <a:noFill/>
                  <a:ln w="9525">
                    <a:solidFill>
                      <a:srgbClr val="E7EBEE"/>
                    </a:solidFill>
                  </a:ln>
                </p:spPr>
              </p:sp>
            </p:grpSp>
            <p:sp>
              <p:nvSpPr>
                <p:cNvPr id="29" name="Line 29"/>
                <p:cNvSpPr/>
                <p:nvPr/>
              </p:nvSpPr>
              <p:spPr>
                <a:xfrm>
                  <a:off x="762000" y="51054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19050">
                  <a:solidFill>
                    <a:schemeClr val="accent6"/>
                  </a:solidFill>
                </a:ln>
              </p:spPr>
            </p:sp>
            <p:sp>
              <p:nvSpPr>
                <p:cNvPr id="30" name="Line 30"/>
                <p:cNvSpPr/>
                <p:nvPr/>
              </p:nvSpPr>
              <p:spPr>
                <a:xfrm>
                  <a:off x="3771900" y="16764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chemeClr val="accent6"/>
                  </a:solidFill>
                </a:ln>
              </p:spPr>
            </p:sp>
            <p:grpSp>
              <p:nvGrpSpPr>
                <p:cNvPr id="36" name="Group 36"/>
                <p:cNvGrpSpPr/>
                <p:nvPr/>
              </p:nvGrpSpPr>
              <p:grpSpPr>
                <a:xfrm>
                  <a:off x="754380" y="2127250"/>
                  <a:ext cx="1428750" cy="2731770"/>
                  <a:chOff x="754380" y="2127250"/>
                  <a:chExt cx="1428750" cy="2731770"/>
                </a:xfrm>
              </p:grpSpPr>
              <p:sp>
                <p:nvSpPr>
                  <p:cNvPr id="31" name="TextBox 31"/>
                  <p:cNvSpPr txBox="1"/>
                  <p:nvPr/>
                </p:nvSpPr>
                <p:spPr>
                  <a:xfrm>
                    <a:off x="754380" y="2127250"/>
                    <a:ext cx="1226820" cy="29337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500" dirty="0">
                        <a:solidFill>
                          <a:srgbClr val="0F1115"/>
                        </a:solidFill>
                        <a:latin typeface="+mn-lt"/>
                        <a:ea typeface="+mn-ea"/>
                        <a:cs typeface="+mn-cs"/>
                      </a:rPr>
                      <a:t>缺失资料补收</a:t>
                    </a:r>
                  </a:p>
                </p:txBody>
              </p:sp>
              <p:sp>
                <p:nvSpPr>
                  <p:cNvPr id="32" name="TextBox 32"/>
                  <p:cNvSpPr txBox="1"/>
                  <p:nvPr/>
                </p:nvSpPr>
                <p:spPr>
                  <a:xfrm>
                    <a:off x="754380" y="2736850"/>
                    <a:ext cx="1226820" cy="29337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500" dirty="0">
                        <a:solidFill>
                          <a:srgbClr val="0F1115"/>
                        </a:solidFill>
                        <a:latin typeface="+mn-lt"/>
                        <a:ea typeface="+mn-ea"/>
                        <a:cs typeface="+mn-cs"/>
                      </a:rPr>
                      <a:t>版本差异确认</a:t>
                    </a:r>
                  </a:p>
                </p:txBody>
              </p:sp>
              <p:sp>
                <p:nvSpPr>
                  <p:cNvPr id="33" name="TextBox 33"/>
                  <p:cNvSpPr txBox="1"/>
                  <p:nvPr/>
                </p:nvSpPr>
                <p:spPr>
                  <a:xfrm>
                    <a:off x="754380" y="3346450"/>
                    <a:ext cx="1024890" cy="29337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500" dirty="0">
                        <a:solidFill>
                          <a:srgbClr val="0F1115"/>
                        </a:solidFill>
                        <a:latin typeface="+mn-lt"/>
                        <a:ea typeface="+mn-ea"/>
                        <a:cs typeface="+mn-cs"/>
                      </a:rPr>
                      <a:t>完整性复核</a:t>
                    </a:r>
                  </a:p>
                </p:txBody>
              </p:sp>
              <p:sp>
                <p:nvSpPr>
                  <p:cNvPr id="34" name="TextBox 34"/>
                  <p:cNvSpPr txBox="1"/>
                  <p:nvPr/>
                </p:nvSpPr>
                <p:spPr>
                  <a:xfrm>
                    <a:off x="754380" y="3956050"/>
                    <a:ext cx="1428750" cy="29337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500" dirty="0">
                        <a:solidFill>
                          <a:srgbClr val="0F1115"/>
                        </a:solidFill>
                        <a:latin typeface="+mn-lt"/>
                        <a:ea typeface="+mn-ea"/>
                        <a:cs typeface="+mn-cs"/>
                      </a:rPr>
                      <a:t>安全性报告核对</a:t>
                    </a:r>
                  </a:p>
                </p:txBody>
              </p:sp>
              <p:sp>
                <p:nvSpPr>
                  <p:cNvPr id="35" name="TextBox 35"/>
                  <p:cNvSpPr txBox="1"/>
                  <p:nvPr/>
                </p:nvSpPr>
                <p:spPr>
                  <a:xfrm>
                    <a:off x="754380" y="4565650"/>
                    <a:ext cx="1226820" cy="29337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500" dirty="0">
                        <a:solidFill>
                          <a:srgbClr val="0F1115"/>
                        </a:solidFill>
                        <a:latin typeface="+mn-lt"/>
                        <a:ea typeface="+mn-ea"/>
                        <a:cs typeface="+mn-cs"/>
                      </a:rPr>
                      <a:t>审阅意见形成</a:t>
                    </a:r>
                  </a:p>
                </p:txBody>
              </p:sp>
            </p:grpSp>
            <p:grpSp>
              <p:nvGrpSpPr>
                <p:cNvPr id="42" name="Group 42"/>
                <p:cNvGrpSpPr/>
                <p:nvPr/>
              </p:nvGrpSpPr>
              <p:grpSpPr>
                <a:xfrm>
                  <a:off x="755904" y="2381250"/>
                  <a:ext cx="496824" cy="2673096"/>
                  <a:chOff x="755904" y="2381250"/>
                  <a:chExt cx="496824" cy="2673096"/>
                </a:xfrm>
              </p:grpSpPr>
              <p:sp>
                <p:nvSpPr>
                  <p:cNvPr id="37" name="TextBox 37"/>
                  <p:cNvSpPr txBox="1"/>
                  <p:nvPr/>
                </p:nvSpPr>
                <p:spPr>
                  <a:xfrm>
                    <a:off x="755904" y="2381250"/>
                    <a:ext cx="496824" cy="23469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200" dirty="0">
                        <a:solidFill>
                          <a:schemeClr val="accent5"/>
                        </a:solidFill>
                        <a:latin typeface="+mn-lt"/>
                        <a:ea typeface="+mn-ea"/>
                        <a:cs typeface="+mn-cs"/>
                      </a:rPr>
                      <a:t>医学部</a:t>
                    </a:r>
                  </a:p>
                </p:txBody>
              </p:sp>
              <p:sp>
                <p:nvSpPr>
                  <p:cNvPr id="38" name="TextBox 38"/>
                  <p:cNvSpPr txBox="1"/>
                  <p:nvPr/>
                </p:nvSpPr>
                <p:spPr>
                  <a:xfrm>
                    <a:off x="755904" y="2990850"/>
                    <a:ext cx="496824" cy="23469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200" dirty="0">
                        <a:solidFill>
                          <a:schemeClr val="accent5"/>
                        </a:solidFill>
                        <a:latin typeface="+mn-lt"/>
                        <a:ea typeface="+mn-ea"/>
                        <a:cs typeface="+mn-cs"/>
                      </a:rPr>
                      <a:t>医学部</a:t>
                    </a:r>
                  </a:p>
                </p:txBody>
              </p:sp>
              <p:sp>
                <p:nvSpPr>
                  <p:cNvPr id="39" name="TextBox 39"/>
                  <p:cNvSpPr txBox="1"/>
                  <p:nvPr/>
                </p:nvSpPr>
                <p:spPr>
                  <a:xfrm>
                    <a:off x="755904" y="3600450"/>
                    <a:ext cx="335280" cy="23469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200" dirty="0">
                        <a:solidFill>
                          <a:schemeClr val="accent5"/>
                        </a:solidFill>
                        <a:latin typeface="+mn-lt"/>
                        <a:ea typeface="+mn-ea"/>
                        <a:cs typeface="+mn-cs"/>
                      </a:rPr>
                      <a:t>数统</a:t>
                    </a:r>
                  </a:p>
                </p:txBody>
              </p:sp>
              <p:sp>
                <p:nvSpPr>
                  <p:cNvPr id="40" name="TextBox 40"/>
                  <p:cNvSpPr txBox="1"/>
                  <p:nvPr/>
                </p:nvSpPr>
                <p:spPr>
                  <a:xfrm>
                    <a:off x="755904" y="4210050"/>
                    <a:ext cx="199949" cy="23469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en-US" sz="1200" dirty="0">
                        <a:solidFill>
                          <a:schemeClr val="accent5"/>
                        </a:solidFill>
                        <a:latin typeface="+mn-lt"/>
                        <a:ea typeface="+mn-ea"/>
                        <a:cs typeface="+mn-cs"/>
                      </a:rPr>
                      <a:t>PV</a:t>
                    </a:r>
                  </a:p>
                </p:txBody>
              </p:sp>
              <p:sp>
                <p:nvSpPr>
                  <p:cNvPr id="41" name="TextBox 41"/>
                  <p:cNvSpPr txBox="1"/>
                  <p:nvPr/>
                </p:nvSpPr>
                <p:spPr>
                  <a:xfrm>
                    <a:off x="755904" y="4819650"/>
                    <a:ext cx="496824" cy="23469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1200" dirty="0">
                        <a:solidFill>
                          <a:schemeClr val="accent5"/>
                        </a:solidFill>
                        <a:latin typeface="+mn-lt"/>
                        <a:ea typeface="+mn-ea"/>
                        <a:cs typeface="+mn-cs"/>
                      </a:rPr>
                      <a:t>医学部</a:t>
                    </a:r>
                  </a:p>
                </p:txBody>
              </p:sp>
            </p:grpSp>
            <p:sp>
              <p:nvSpPr>
                <p:cNvPr id="43" name="Rectangle 43"/>
                <p:cNvSpPr/>
                <p:nvPr/>
              </p:nvSpPr>
              <p:spPr>
                <a:xfrm>
                  <a:off x="3848100" y="2228850"/>
                  <a:ext cx="4953000" cy="266700"/>
                </a:xfrm>
                <a:prstGeom prst="roundRect">
                  <a:avLst>
                    <a:gd name="adj" fmla="val 28571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</p:sp>
            <p:sp>
              <p:nvSpPr>
                <p:cNvPr id="44" name="Rectangle 44"/>
                <p:cNvSpPr/>
                <p:nvPr/>
              </p:nvSpPr>
              <p:spPr>
                <a:xfrm>
                  <a:off x="6400800" y="2838450"/>
                  <a:ext cx="2400300" cy="266700"/>
                </a:xfrm>
                <a:prstGeom prst="roundRect">
                  <a:avLst>
                    <a:gd name="adj" fmla="val 28571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</p:sp>
            <p:sp>
              <p:nvSpPr>
                <p:cNvPr id="45" name="Rectangle 45"/>
                <p:cNvSpPr/>
                <p:nvPr/>
              </p:nvSpPr>
              <p:spPr>
                <a:xfrm>
                  <a:off x="6400800" y="3448050"/>
                  <a:ext cx="4953000" cy="266700"/>
                </a:xfrm>
                <a:prstGeom prst="roundRect">
                  <a:avLst>
                    <a:gd name="adj" fmla="val 28571"/>
                  </a:avLst>
                </a:prstGeom>
                <a:solidFill>
                  <a:srgbClr val="587B3B"/>
                </a:solidFill>
                <a:ln>
                  <a:noFill/>
                </a:ln>
              </p:spPr>
            </p:sp>
            <p:sp>
              <p:nvSpPr>
                <p:cNvPr id="46" name="Rectangle 46"/>
                <p:cNvSpPr/>
                <p:nvPr/>
              </p:nvSpPr>
              <p:spPr>
                <a:xfrm>
                  <a:off x="6400800" y="4057650"/>
                  <a:ext cx="4953000" cy="266700"/>
                </a:xfrm>
                <a:prstGeom prst="roundRect">
                  <a:avLst>
                    <a:gd name="adj" fmla="val 28571"/>
                  </a:avLst>
                </a:prstGeom>
                <a:solidFill>
                  <a:srgbClr val="A85F34"/>
                </a:solidFill>
                <a:ln>
                  <a:noFill/>
                </a:ln>
              </p:spPr>
            </p:sp>
            <p:sp>
              <p:nvSpPr>
                <p:cNvPr id="47" name="Rectangle 47"/>
                <p:cNvSpPr/>
                <p:nvPr/>
              </p:nvSpPr>
              <p:spPr>
                <a:xfrm>
                  <a:off x="8953500" y="4667250"/>
                  <a:ext cx="2400300" cy="266700"/>
                </a:xfrm>
                <a:prstGeom prst="roundRect">
                  <a:avLst>
                    <a:gd name="adj" fmla="val 28571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</p:sp>
          </p:grpSp>
        </p:grpSp>
        <p:grpSp>
          <p:nvGrpSpPr>
            <p:cNvPr id="56" name="plan-legend"/>
            <p:cNvGrpSpPr/>
            <p:nvPr/>
          </p:nvGrpSpPr>
          <p:grpSpPr>
            <a:xfrm>
              <a:off x="762000" y="5314950"/>
              <a:ext cx="1965503" cy="234696"/>
              <a:chOff x="762000" y="5314950"/>
              <a:chExt cx="1965503" cy="234696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762000" y="53530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965454" y="5314950"/>
                <a:ext cx="49682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医学部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1619250" y="53530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587B3B"/>
              </a:solidFill>
              <a:ln>
                <a:noFill/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1822704" y="5314950"/>
                <a:ext cx="33528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数统</a:t>
                </a:r>
              </a:p>
            </p:txBody>
          </p:sp>
          <p:sp>
            <p:nvSpPr>
              <p:cNvPr id="54" name="Rectangle 54"/>
              <p:cNvSpPr/>
              <p:nvPr/>
            </p:nvSpPr>
            <p:spPr>
              <a:xfrm>
                <a:off x="2324100" y="53530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A85F34"/>
              </a:solidFill>
              <a:ln>
                <a:noFill/>
              </a:ln>
            </p:spPr>
          </p:sp>
          <p:sp>
            <p:nvSpPr>
              <p:cNvPr id="55" name="TextBox 55"/>
              <p:cNvSpPr txBox="1"/>
              <p:nvPr/>
            </p:nvSpPr>
            <p:spPr>
              <a:xfrm>
                <a:off x="2527554" y="5314950"/>
                <a:ext cx="19994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PV</a:t>
                </a:r>
              </a:p>
            </p:txBody>
          </p:sp>
        </p:grpSp>
        <p:sp>
          <p:nvSpPr>
            <p:cNvPr id="57" name="TextBox 57"/>
            <p:cNvSpPr txBox="1"/>
            <p:nvPr/>
          </p:nvSpPr>
          <p:spPr>
            <a:xfrm>
              <a:off x="754380" y="5727700"/>
              <a:ext cx="57831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补收与版本确认</a:t>
              </a: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在 2027Q1 内完成</a:t>
              </a: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，复核与审阅意见在 2027Q2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59" name="TextBox 59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5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8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5" name="ending-title"/>
          <p:cNvGrpSpPr/>
          <p:nvPr/>
        </p:nvGrpSpPr>
        <p:grpSpPr>
          <a:xfrm>
            <a:off x="857250" y="1691640"/>
            <a:ext cx="6338316" cy="1504950"/>
            <a:chOff x="857250" y="1691640"/>
            <a:chExt cx="6338316" cy="1504950"/>
          </a:xfrm>
        </p:grpSpPr>
        <p:sp>
          <p:nvSpPr>
            <p:cNvPr id="4" name="TextBox 4"/>
            <p:cNvSpPr txBox="1"/>
            <p:nvPr/>
          </p:nvSpPr>
          <p:spPr>
            <a:xfrm>
              <a:off x="876300" y="1752600"/>
              <a:ext cx="10439400" cy="1314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9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7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请确认两件事</a:t>
              </a:r>
            </a:p>
          </p:txBody>
        </p:sp>
      </p:grpSp>
      <p:grpSp>
        <p:nvGrpSpPr>
          <p:cNvPr id="7" name="ending-subtitle"/>
          <p:cNvGrpSpPr/>
          <p:nvPr/>
        </p:nvGrpSpPr>
        <p:grpSpPr>
          <a:xfrm>
            <a:off x="865632" y="3167380"/>
            <a:ext cx="6249848" cy="410718"/>
            <a:chOff x="865632" y="3167380"/>
            <a:chExt cx="6249848" cy="410718"/>
          </a:xfrm>
        </p:grpSpPr>
        <p:sp>
          <p:nvSpPr>
            <p:cNvPr id="6" name="TextBox 6"/>
            <p:cNvSpPr txBox="1"/>
            <p:nvPr/>
          </p:nvSpPr>
          <p:spPr>
            <a:xfrm>
              <a:off x="876300" y="3181350"/>
              <a:ext cx="10439400" cy="400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2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 份资料 2027Q1 内补收，2 项差异确认后再比较</a:t>
              </a:r>
            </a:p>
          </p:txBody>
        </p:sp>
      </p:grpSp>
      <p:grpSp>
        <p:nvGrpSpPr>
          <p:cNvPr id="9" name="ending-meta"/>
          <p:cNvGrpSpPr/>
          <p:nvPr/>
        </p:nvGrpSpPr>
        <p:grpSpPr>
          <a:xfrm>
            <a:off x="868680" y="3746500"/>
            <a:ext cx="2811971" cy="293370"/>
            <a:chOff x="868680" y="3746500"/>
            <a:chExt cx="2811971" cy="293370"/>
          </a:xfrm>
        </p:grpSpPr>
        <p:sp>
          <p:nvSpPr>
            <p:cNvPr id="8" name="TextBox 8"/>
            <p:cNvSpPr txBox="1"/>
            <p:nvPr/>
          </p:nvSpPr>
          <p:spPr>
            <a:xfrm>
              <a:off x="876300" y="3752850"/>
              <a:ext cx="104394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ns3:dur="400">
    <p:fade/>
  </p:transition>
</p:sld>
</file>

<file path=ppt/theme/theme1.xml><?xml version="1.0" encoding="utf-8"?>
<a:theme xmlns:a="http://schemas.openxmlformats.org/drawingml/2006/main" name="kangzhe_integrity">
  <a:themeElements>
    <a:clrScheme name="kangzhe_integrity">
      <a:dk1>
        <a:srgbClr val="404040"/>
      </a:dk1>
      <a:lt1>
        <a:srgbClr val="FBFCFD"/>
      </a:lt1>
      <a:dk2>
        <a:srgbClr val="1F497D"/>
      </a:dk2>
      <a:lt2>
        <a:srgbClr val="FFFFFF"/>
      </a:lt2>
      <a:accent1>
        <a:srgbClr val="FF9900"/>
      </a:accent1>
      <a:accent2>
        <a:srgbClr val="FFCC00"/>
      </a:accent2>
      <a:accent3>
        <a:srgbClr val="C00000"/>
      </a:accent3>
      <a:accent4>
        <a:srgbClr val="FF9900"/>
      </a:accent4>
      <a:accent5>
        <a:srgbClr val="64676B"/>
      </a:accent5>
      <a:accent6>
        <a:srgbClr val="CED3D8"/>
      </a:accent6>
      <a:hlink>
        <a:srgbClr val="FFCC00"/>
      </a:hlink>
      <a:folHlink>
        <a:srgbClr val="C00000"/>
      </a:folHlink>
    </a:clrScheme>
    <a:fontScheme name="kangzhe_integrit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integ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gzhe_integrity">
  <a:themeElements>
    <a:clrScheme name="kangzhe_integrity">
      <a:dk1>
        <a:srgbClr val="404040"/>
      </a:dk1>
      <a:lt1>
        <a:srgbClr val="FBFCFD"/>
      </a:lt1>
      <a:dk2>
        <a:srgbClr val="1F497D"/>
      </a:dk2>
      <a:lt2>
        <a:srgbClr val="FFFFFF"/>
      </a:lt2>
      <a:accent1>
        <a:srgbClr val="FF9900"/>
      </a:accent1>
      <a:accent2>
        <a:srgbClr val="FFCC00"/>
      </a:accent2>
      <a:accent3>
        <a:srgbClr val="C00000"/>
      </a:accent3>
      <a:accent4>
        <a:srgbClr val="FF9900"/>
      </a:accent4>
      <a:accent5>
        <a:srgbClr val="64676B"/>
      </a:accent5>
      <a:accent6>
        <a:srgbClr val="CED3D8"/>
      </a:accent6>
      <a:hlink>
        <a:srgbClr val="FFCC00"/>
      </a:hlink>
      <a:folHlink>
        <a:srgbClr val="C00000"/>
      </a:folHlink>
    </a:clrScheme>
    <a:fontScheme name="kangzhe_integrit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integ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2026-10-23T18:30:33Z</dcterms:created>
  <dcterms:modified xsi:type="dcterms:W3CDTF">2026-10-23T18:30:33Z</dcterms:modified>
  <cp:category/>
  <cp:contentStatus/>
</cp:coreProperties>
</file>