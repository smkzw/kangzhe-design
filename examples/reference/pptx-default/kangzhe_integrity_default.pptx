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401.xml" ContentType="application/vnd.openxmlformats-officedocument.drawingml.char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  <Relationship Id="rId13" Type="http://schemas.openxmlformats.org/officeDocument/2006/relationships/notesMaster" Target="notesMasters/notesMaster1.xml"/>
</Relationships>
</file>

<file path=ppt/charts/_rels/chart4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401.xlsx"/>
</Relationships>
</file>

<file path=ppt/charts/chart4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581273336116"/>
          <c:y val="0.0280373831776"/>
          <c:w val="0.941872666388"/>
          <c:h val="0.88317757009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应收</c:v>
                </c:pt>
              </c:strCache>
            </c:strRef>
          </c:tx>
          <c:spPr>
            <a:solidFill>
              <a:srgbClr val="6E7B8C"/>
            </a:solidFill>
            <a:ln>
              <a:solidFill>
                <a:srgbClr val="6E7B8C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方案与修订</c:v>
                </c:pt>
                <c:pt idx="1">
                  <c:v>中心记录</c:v>
                </c:pt>
                <c:pt idx="2">
                  <c:v>实验室数据</c:v>
                </c:pt>
                <c:pt idx="3">
                  <c:v>安全性报告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12</c:v>
                </c:pt>
                <c:pt idx="2">
                  <c:v>6</c:v>
                </c:pt>
                <c:pt idx="3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已收</c:v>
                </c:pt>
              </c:strCache>
            </c:strRef>
          </c:tx>
          <c:spPr>
            <a:solidFill>
              <a:srgbClr val="D46B08"/>
            </a:solidFill>
            <a:ln>
              <a:solidFill>
                <a:srgbClr val="D46B08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方案与修订</c:v>
                </c:pt>
                <c:pt idx="1">
                  <c:v>中心记录</c:v>
                </c:pt>
                <c:pt idx="2">
                  <c:v>实验室数据</c:v>
                </c:pt>
                <c:pt idx="3">
                  <c:v>安全性报告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lang="zh-CN" sz="1200">
                  <a:solidFill>
                    <a:srgbClr val="404040"/>
                  </a:solidFill>
                  <a:latin typeface="Microsoft YaHei"/>
                  <a:ea typeface="Microsoft YaHei"/>
                  <a:cs typeface="Microsoft YaHei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CED3D8"/>
            </a:solidFill>
            <a:round/>
          </a:ln>
        </c:spPr>
        <c:txPr>
          <a:bodyPr/>
          <a:lstStyle/>
          <a:p>
            <a:pPr>
              <a:defRPr lang="zh-CN"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5"/>
          <c:min val="0"/>
        </c:scaling>
        <c:delete val="0"/>
        <c:axPos val="l"/>
        <c:majorGridlines>
          <c:spPr>
            <a:ln w="6350" cap="flat" cmpd="sng" algn="ctr">
              <a:solidFill>
                <a:srgbClr val="E7EBEE"/>
              </a:solidFill>
              <a:round/>
            </a:ln>
          </c:spPr>
        </c:majorGridlines>
        <c:majorTickMark val="none"/>
        <c:minorTickMark val="none"/>
        <c:tickLblPos val="nextTo"/>
        <c:spPr>
          <a:ln w="9525" cap="flat" cmpd="sng" algn="ctr">
            <a:solidFill>
              <a:srgbClr val="CED3D8"/>
            </a:solidFill>
            <a:round/>
          </a:ln>
        </c:spPr>
        <c:txPr>
          <a:bodyPr/>
          <a:lstStyle/>
          <a:p>
            <a:pPr>
              <a:defRPr lang="zh-CN"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068027336"/>
        <c:crosses val="autoZero"/>
        <c:crossBetween val="between"/>
        <c:majorUnit val="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CN" sz="1200">
          <a:solidFill>
            <a:srgbClr val="404040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今天用几分钟汇报一个研究资料包的完整性核对，数据是合成的。按计划应收 24 份，目前收到 20 份，还缺 4 份。希望会上把补收和确认的安排定下来。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分三部分：这次核对的范围，各组资料收齐了多少，以及补收、确认和复核的季度安排。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核对对象是成人受试者，评价时间窗是第 16 周。资料分 4 组：方案与修订、中心记录、实验室数据、安全性报告。方案有 V2.1 和 V2.3 两版，并排比下来有 2 处要确认：筛选窗口和终点评价时间点。这 2 项会影响后面的组间比较，所以确认之前先不比。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方案与修订、实验室数据已经收齐，缺口在两组：中心记录缺 3 份，安全性报告缺 1 份。缺的记录在数据里留空，不按零处理，也不插补，这样后面比较时缺口一直看得见。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关键节点是 2027 年一季度。缺的 4 份由医学部从今年四季度开始补收，一季度内补齐；两版方案的差异也在一季度内确认。数统的完整性复核和 PV 的安全性报告核对从一季度做到二季度，二季度由医学部形成审阅意见。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最后请大家确认两件事：一是缺的 4 份资料由医学部牵头，2027 年一季度内补收；二是 2 项版本差异确认之后，再做组间比较。没有不同意见的话，就按这个时间表推进。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kangzhe_integrit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kangzhe_integrit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a4f7119df6ff402.png"/>
  <Relationship Id="rId3" Type="http://schemas.openxmlformats.org/officeDocument/2006/relationships/image" Target="../media/image_72d4f71d42247542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66c6ad9ed48562f.png"/>
  <Relationship Id="rId3" Type="http://schemas.openxmlformats.org/officeDocument/2006/relationships/image" Target="../media/image_72d4f71d42247542.png"/>
  <Relationship Id="rId4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e19777696202c35.png"/>
  <Relationship Id="rId3" Type="http://schemas.openxmlformats.org/officeDocument/2006/relationships/image" Target="../media/image_72d4f71d42247542.png"/>
  <Relationship Id="rId4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e19777696202c35.png"/>
  <Relationship Id="rId3" Type="http://schemas.openxmlformats.org/officeDocument/2006/relationships/image" Target="../media/image_72d4f71d42247542.png"/>
  <Relationship Id="rId4" Type="http://schemas.openxmlformats.org/officeDocument/2006/relationships/chart" Target="../charts/chart401.xml"/>
  <Relationship Id="rId5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e19777696202c35.png"/>
  <Relationship Id="rId3" Type="http://schemas.openxmlformats.org/officeDocument/2006/relationships/image" Target="../media/image_72d4f71d42247542.png"/>
  <Relationship Id="rId4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3680aee0826cf66.png"/>
  <Relationship Id="rId3" Type="http://schemas.openxmlformats.org/officeDocument/2006/relationships/image" Target="../media/image_72d4f71d42247542.png"/>
  <Relationship Id="rId4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ns2="http://schemas.openxmlformats.org/officeDocument/2006/relationships" xmlns:ns3="http://schemas.microsoft.com/office/powerpoint/2010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-image"/>
          <p:cNvPicPr>
            <a:picLocks noChangeAspect="1"/>
          </p:cNvPicPr>
          <p:nvPr/>
        </p:nvPicPr>
        <p:blipFill>
          <a:blip ns2:embed="rId2"/>
          <a:srcRect l="0" t="26" r="0" b="27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sp>
        <p:nvSpPr>
          <p:cNvPr id="3" name="hero-image-fade"/>
          <p:cNvSpPr/>
          <p:nvPr/>
        </p:nvSpPr>
        <p:spPr>
          <a:xfrm>
            <a:off x="0" y="381000"/>
            <a:ext cx="12192000" cy="6858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533400" y="419100"/>
            <a:ext cx="2286000" cy="476250"/>
          </a:xfrm>
          <a:prstGeom prst="rect">
            <a:avLst/>
          </a:prstGeom>
        </p:spPr>
      </p:pic>
      <p:grpSp>
        <p:nvGrpSpPr>
          <p:cNvPr id="6" name="cover-title"/>
          <p:cNvGrpSpPr/>
          <p:nvPr/>
        </p:nvGrpSpPr>
        <p:grpSpPr>
          <a:xfrm>
            <a:off x="857250" y="2277110"/>
            <a:ext cx="5126736" cy="819150"/>
            <a:chOff x="857250" y="2277110"/>
            <a:chExt cx="5126736" cy="819150"/>
          </a:xfrm>
        </p:grpSpPr>
        <p:sp>
          <p:nvSpPr>
            <p:cNvPr id="5" name="TextBox 5"/>
            <p:cNvSpPr txBox="1"/>
            <p:nvPr/>
          </p:nvSpPr>
          <p:spPr>
            <a:xfrm>
              <a:off x="876300" y="1562100"/>
              <a:ext cx="10439400" cy="1409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>
              <a:noAutofit/>
            </a:bodyPr>
            <a:lstStyle/>
            <a:p>
              <a:pPr algn="l">
                <a:lnSpc>
                  <a:spcPts val="52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42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研究资料完整性核对</a:t>
              </a:r>
            </a:p>
          </p:txBody>
        </p:sp>
      </p:grpSp>
      <p:grpSp>
        <p:nvGrpSpPr>
          <p:cNvPr id="8" name="cover-subtitle"/>
          <p:cNvGrpSpPr/>
          <p:nvPr/>
        </p:nvGrpSpPr>
        <p:grpSpPr>
          <a:xfrm>
            <a:off x="865632" y="3053080"/>
            <a:ext cx="4374947" cy="410718"/>
            <a:chOff x="865632" y="3053080"/>
            <a:chExt cx="4374947" cy="410718"/>
          </a:xfrm>
        </p:grpSpPr>
        <p:sp>
          <p:nvSpPr>
            <p:cNvPr id="7" name="TextBox 7"/>
            <p:cNvSpPr txBox="1"/>
            <p:nvPr/>
          </p:nvSpPr>
          <p:spPr>
            <a:xfrm>
              <a:off x="876300" y="3067050"/>
              <a:ext cx="104394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2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合成示例｜应收 24 份，已收 20 份</a:t>
              </a:r>
            </a:p>
          </p:txBody>
        </p:sp>
      </p:grpSp>
      <p:grpSp>
        <p:nvGrpSpPr>
          <p:cNvPr id="10" name="cover-meta"/>
          <p:cNvGrpSpPr/>
          <p:nvPr/>
        </p:nvGrpSpPr>
        <p:grpSpPr>
          <a:xfrm>
            <a:off x="868680" y="3632200"/>
            <a:ext cx="2811971" cy="293370"/>
            <a:chOff x="868680" y="3632200"/>
            <a:chExt cx="2811971" cy="293370"/>
          </a:xfrm>
        </p:grpSpPr>
        <p:sp>
          <p:nvSpPr>
            <p:cNvPr id="9" name="TextBox 9"/>
            <p:cNvSpPr txBox="1"/>
            <p:nvPr/>
          </p:nvSpPr>
          <p:spPr>
            <a:xfrm>
              <a:off x="876300" y="3638550"/>
              <a:ext cx="104394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187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产品中心-医学部｜2026年10月</a:t>
              </a:r>
            </a:p>
          </p:txBody>
        </p:sp>
      </p:grpSp>
    </p:spTree>
  </p:cSld>
  <p:clrMapOvr>
    <a:masterClrMapping/>
  </p:clrMapOvr>
  <p:transition ns3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decel="7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 decel="70000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"/>
                            </p:stCondLst>
                            <p:childTnLst>
                              <p:par>
                                <p:cTn id="13" presetID="10" presetClass="entr" presetSubtype="0" fill="hold" grpId="0" nodeType="withEffect" decel="70000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ns2="http://schemas.openxmlformats.org/officeDocument/2006/relationships" xmlns:ns3="http://schemas.microsoft.com/office/powerpoint/2010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-image"/>
          <p:cNvPicPr>
            <a:picLocks noChangeAspect="1"/>
          </p:cNvPicPr>
          <p:nvPr/>
        </p:nvPicPr>
        <p:blipFill>
          <a:blip ns2:embed="rId2"/>
          <a:srcRect l="0" t="26" r="0" b="27"/>
          <a:stretch>
            <a:fillRect/>
          </a:stretch>
        </p:blipFill>
        <p:spPr>
          <a:xfrm>
            <a:off x="0" y="857250"/>
            <a:ext cx="12192000" cy="6858000"/>
          </a:xfrm>
          <a:prstGeom prst="rect">
            <a:avLst/>
          </a:prstGeom>
        </p:spPr>
      </p:pic>
      <p:sp>
        <p:nvSpPr>
          <p:cNvPr id="3" name="hero-image-fade"/>
          <p:cNvSpPr/>
          <p:nvPr/>
        </p:nvSpPr>
        <p:spPr>
          <a:xfrm>
            <a:off x="0" y="857250"/>
            <a:ext cx="12192000" cy="6858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9753600" y="431852"/>
            <a:ext cx="1905000" cy="393595"/>
          </a:xfrm>
          <a:prstGeom prst="rect">
            <a:avLst/>
          </a:prstGeom>
        </p:spPr>
      </p:pic>
      <p:grpSp>
        <p:nvGrpSpPr>
          <p:cNvPr id="6" name="toc-title"/>
          <p:cNvGrpSpPr/>
          <p:nvPr/>
        </p:nvGrpSpPr>
        <p:grpSpPr>
          <a:xfrm>
            <a:off x="629412" y="233680"/>
            <a:ext cx="1975104" cy="704088"/>
            <a:chOff x="629412" y="233680"/>
            <a:chExt cx="1975104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647700" y="266700"/>
              <a:ext cx="81915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4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36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汇报章节</a:t>
              </a:r>
            </a:p>
          </p:txBody>
        </p:sp>
      </p:grpSp>
      <p:grpSp>
        <p:nvGrpSpPr>
          <p:cNvPr id="12" name="toc-card-1"/>
          <p:cNvGrpSpPr/>
          <p:nvPr/>
        </p:nvGrpSpPr>
        <p:grpSpPr>
          <a:xfrm>
            <a:off x="647700" y="1524000"/>
            <a:ext cx="3479768" cy="1295400"/>
            <a:chOff x="647700" y="1524000"/>
            <a:chExt cx="3479768" cy="1295400"/>
          </a:xfrm>
        </p:grpSpPr>
        <p:sp>
          <p:nvSpPr>
            <p:cNvPr id="7" name="Rectangle 7"/>
            <p:cNvSpPr/>
            <p:nvPr/>
          </p:nvSpPr>
          <p:spPr>
            <a:xfrm>
              <a:off x="647700" y="1524000"/>
              <a:ext cx="3479768" cy="1295400"/>
            </a:xfrm>
            <a:prstGeom prst="roundRect">
              <a:avLst>
                <a:gd name="adj" fmla="val 17647"/>
              </a:avLst>
            </a:prstGeom>
            <a:gradFill>
              <a:gsLst>
                <a:gs pos="0">
                  <a:srgbClr val="FFFDFB">
                    <a:alpha val="62000"/>
                  </a:srgbClr>
                </a:gs>
                <a:gs pos="48000">
                  <a:srgbClr val="FFFBF2">
                    <a:alpha val="55000"/>
                  </a:srgbClr>
                </a:gs>
                <a:gs pos="100000">
                  <a:srgbClr val="FFF5E4">
                    <a:alpha val="50000"/>
                  </a:srgbClr>
                </a:gs>
              </a:gsLst>
              <a:lin ang="2700000" scaled="1"/>
            </a:gradFill>
            <a:ln w="9525">
              <a:solidFill>
                <a:srgbClr val="BEB2A1">
                  <a:alpha val="45000"/>
                </a:srgbClr>
              </a:solidFill>
            </a:ln>
            <a:effectLst>
              <a:outerShdw blurRad="152400" dist="57150" dir="5400000" algn="ctr" rotWithShape="0">
                <a:srgbClr val="48341A">
                  <a:alpha val="9000"/>
                </a:srgbClr>
              </a:outerShdw>
            </a:effectLst>
          </p:spPr>
        </p:sp>
        <p:sp>
          <p:nvSpPr>
            <p:cNvPr id="8" name="Freeform 8"/>
            <p:cNvSpPr/>
            <p:nvPr/>
          </p:nvSpPr>
          <p:spPr>
            <a:xfrm>
              <a:off x="876300" y="1543050"/>
              <a:ext cx="1043940" cy="9525"/>
            </a:xfrm>
            <a:custGeom>
              <a:avLst/>
              <a:gdLst/>
              <a:ahLst/>
              <a:cxnLst/>
              <a:rect l="l" t="t" r="r" b="b"/>
              <a:pathLst>
                <a:path w="1043940" h="9525">
                  <a:moveTo>
                    <a:pt x="0" y="0"/>
                  </a:moveTo>
                  <a:lnTo>
                    <a:pt x="104394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FFFFFF">
                  <a:alpha val="90000"/>
                </a:srgbClr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6300" y="1828800"/>
              <a:ext cx="571500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3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24000" y="1914525"/>
              <a:ext cx="237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24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研究范围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6300" y="2466975"/>
              <a:ext cx="30226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187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对象、时间窗与资料组</a:t>
              </a:r>
            </a:p>
          </p:txBody>
        </p:sp>
      </p:grpSp>
      <p:grpSp>
        <p:nvGrpSpPr>
          <p:cNvPr id="18" name="toc-card-2"/>
          <p:cNvGrpSpPr/>
          <p:nvPr/>
        </p:nvGrpSpPr>
        <p:grpSpPr>
          <a:xfrm>
            <a:off x="4356068" y="1524000"/>
            <a:ext cx="3479768" cy="1295400"/>
            <a:chOff x="4356068" y="1524000"/>
            <a:chExt cx="3479768" cy="1295400"/>
          </a:xfrm>
        </p:grpSpPr>
        <p:sp>
          <p:nvSpPr>
            <p:cNvPr id="13" name="Rectangle 13"/>
            <p:cNvSpPr/>
            <p:nvPr/>
          </p:nvSpPr>
          <p:spPr>
            <a:xfrm>
              <a:off x="4356068" y="1524000"/>
              <a:ext cx="3479768" cy="1295400"/>
            </a:xfrm>
            <a:prstGeom prst="roundRect">
              <a:avLst>
                <a:gd name="adj" fmla="val 17647"/>
              </a:avLst>
            </a:prstGeom>
            <a:gradFill>
              <a:gsLst>
                <a:gs pos="0">
                  <a:srgbClr val="FFFDFB">
                    <a:alpha val="62000"/>
                  </a:srgbClr>
                </a:gs>
                <a:gs pos="48000">
                  <a:srgbClr val="FFFBF2">
                    <a:alpha val="55000"/>
                  </a:srgbClr>
                </a:gs>
                <a:gs pos="100000">
                  <a:srgbClr val="FFF5E4">
                    <a:alpha val="50000"/>
                  </a:srgbClr>
                </a:gs>
              </a:gsLst>
              <a:lin ang="2700000" scaled="1"/>
            </a:gradFill>
            <a:ln w="9525">
              <a:solidFill>
                <a:srgbClr val="BEB2A1">
                  <a:alpha val="45000"/>
                </a:srgbClr>
              </a:solidFill>
            </a:ln>
            <a:effectLst>
              <a:outerShdw blurRad="152400" dist="57150" dir="5400000" algn="ctr" rotWithShape="0">
                <a:srgbClr val="48341A">
                  <a:alpha val="9000"/>
                </a:srgbClr>
              </a:outerShdw>
            </a:effectLst>
          </p:spPr>
        </p:sp>
        <p:sp>
          <p:nvSpPr>
            <p:cNvPr id="14" name="Freeform 14"/>
            <p:cNvSpPr/>
            <p:nvPr/>
          </p:nvSpPr>
          <p:spPr>
            <a:xfrm>
              <a:off x="4584668" y="1543050"/>
              <a:ext cx="1043940" cy="9525"/>
            </a:xfrm>
            <a:custGeom>
              <a:avLst/>
              <a:gdLst/>
              <a:ahLst/>
              <a:cxnLst/>
              <a:rect l="l" t="t" r="r" b="b"/>
              <a:pathLst>
                <a:path w="1043940" h="9525">
                  <a:moveTo>
                    <a:pt x="0" y="0"/>
                  </a:moveTo>
                  <a:lnTo>
                    <a:pt x="104394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FFFFFF">
                  <a:alpha val="90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584700" y="1828800"/>
              <a:ext cx="571500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3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32400" y="1914525"/>
              <a:ext cx="237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24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资料完整性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84700" y="2466975"/>
              <a:ext cx="30226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187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应收与已收、缺口所在</a:t>
              </a:r>
            </a:p>
          </p:txBody>
        </p:sp>
      </p:grpSp>
      <p:grpSp>
        <p:nvGrpSpPr>
          <p:cNvPr id="24" name="toc-card-3"/>
          <p:cNvGrpSpPr/>
          <p:nvPr/>
        </p:nvGrpSpPr>
        <p:grpSpPr>
          <a:xfrm>
            <a:off x="8064532" y="1524000"/>
            <a:ext cx="3479768" cy="1295400"/>
            <a:chOff x="8064532" y="1524000"/>
            <a:chExt cx="3479768" cy="1295400"/>
          </a:xfrm>
        </p:grpSpPr>
        <p:sp>
          <p:nvSpPr>
            <p:cNvPr id="19" name="Rectangle 19"/>
            <p:cNvSpPr/>
            <p:nvPr/>
          </p:nvSpPr>
          <p:spPr>
            <a:xfrm>
              <a:off x="8064532" y="1524000"/>
              <a:ext cx="3479768" cy="1295400"/>
            </a:xfrm>
            <a:prstGeom prst="roundRect">
              <a:avLst>
                <a:gd name="adj" fmla="val 17647"/>
              </a:avLst>
            </a:prstGeom>
            <a:gradFill>
              <a:gsLst>
                <a:gs pos="0">
                  <a:srgbClr val="FFFDFB">
                    <a:alpha val="62000"/>
                  </a:srgbClr>
                </a:gs>
                <a:gs pos="48000">
                  <a:srgbClr val="FFFBF2">
                    <a:alpha val="55000"/>
                  </a:srgbClr>
                </a:gs>
                <a:gs pos="100000">
                  <a:srgbClr val="FFF5E4">
                    <a:alpha val="50000"/>
                  </a:srgbClr>
                </a:gs>
              </a:gsLst>
              <a:lin ang="2700000" scaled="1"/>
            </a:gradFill>
            <a:ln w="9525">
              <a:solidFill>
                <a:srgbClr val="BEB2A1">
                  <a:alpha val="45000"/>
                </a:srgbClr>
              </a:solidFill>
            </a:ln>
            <a:effectLst>
              <a:outerShdw blurRad="152400" dist="57150" dir="5400000" algn="ctr" rotWithShape="0">
                <a:srgbClr val="48341A">
                  <a:alpha val="9000"/>
                </a:srgbClr>
              </a:outerShdw>
            </a:effectLst>
          </p:spPr>
        </p:sp>
        <p:sp>
          <p:nvSpPr>
            <p:cNvPr id="20" name="Freeform 20"/>
            <p:cNvSpPr/>
            <p:nvPr/>
          </p:nvSpPr>
          <p:spPr>
            <a:xfrm>
              <a:off x="8293132" y="1543050"/>
              <a:ext cx="1043940" cy="9525"/>
            </a:xfrm>
            <a:custGeom>
              <a:avLst/>
              <a:gdLst/>
              <a:ahLst/>
              <a:cxnLst/>
              <a:rect l="l" t="t" r="r" b="b"/>
              <a:pathLst>
                <a:path w="1043940" h="9525">
                  <a:moveTo>
                    <a:pt x="0" y="0"/>
                  </a:moveTo>
                  <a:lnTo>
                    <a:pt x="104394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FFFFFF">
                  <a:alpha val="90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93100" y="1828800"/>
              <a:ext cx="571500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3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40800" y="1914525"/>
              <a:ext cx="237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24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核对计划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3100" y="2466975"/>
              <a:ext cx="30226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187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补收、确认与复核</a:t>
              </a:r>
            </a:p>
          </p:txBody>
        </p:sp>
      </p:grpSp>
    </p:spTree>
  </p:cSld>
  <p:clrMapOvr>
    <a:masterClrMapping/>
  </p:clrMapOvr>
  <p:transition ns3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decel="7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 decel="70000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"/>
                            </p:stCondLst>
                            <p:childTnLst>
                              <p:par>
                                <p:cTn id="13" presetID="10" presetClass="entr" presetSubtype="0" fill="hold" grpId="0" nodeType="withEffect" decel="70000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47625" y="85725"/>
            <a:ext cx="847725" cy="657225"/>
            <a:chOff x="47625" y="85725"/>
            <a:chExt cx="847725" cy="657225"/>
          </a:xfrm>
        </p:grpSpPr>
        <p:sp xmlns:p="http://schemas.openxmlformats.org/presentationml/2006/main" xmlns:a="http://schemas.openxmlformats.org/drawingml/2006/main">
          <p:nvSpPr>
            <p:cNvPr id="55" name="kz-facet-o"/>
            <p:cNvSpPr/>
            <p:nvPr/>
          </p:nvSpPr>
          <p:spPr>
            <a:xfrm>
              <a:off x="228600" y="85725"/>
              <a:ext cx="666750" cy="590550"/>
            </a:xfrm>
            <a:custGeom>
              <a:avLst/>
              <a:gdLst/>
              <a:ahLst/>
              <a:cxnLst/>
              <a:rect l="l" t="t" r="r" b="b"/>
              <a:pathLst>
                <a:path w="666750" h="590550">
                  <a:moveTo>
                    <a:pt x="295275" y="0"/>
                  </a:moveTo>
                  <a:lnTo>
                    <a:pt x="666750" y="0"/>
                  </a:lnTo>
                  <a:lnTo>
                    <a:pt x="381000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FF9900">
                <a:alpha val="1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 xmlns:p="http://schemas.openxmlformats.org/presentationml/2006/main" xmlns:a="http://schemas.openxmlformats.org/drawingml/2006/main">
          <p:nvSpPr>
            <p:cNvPr id="56" name="kz-facet-y"/>
            <p:cNvSpPr/>
            <p:nvPr/>
          </p:nvSpPr>
          <p:spPr>
            <a:xfrm>
              <a:off x="47625" y="400050"/>
              <a:ext cx="381000" cy="342900"/>
            </a:xfrm>
            <a:custGeom>
              <a:avLst/>
              <a:gdLst/>
              <a:ahLst/>
              <a:cxnLst/>
              <a:rect l="l" t="t" r="r" b="b"/>
              <a:pathLst>
                <a:path w="381000" h="342900">
                  <a:moveTo>
                    <a:pt x="171450" y="0"/>
                  </a:moveTo>
                  <a:lnTo>
                    <a:pt x="381000" y="0"/>
                  </a:lnTo>
                  <a:lnTo>
                    <a:pt x="219075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CC00">
                <a:alpha val="1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 xmlns:p="http://schemas.openxmlformats.org/presentationml/2006/main" xmlns:a="http://schemas.openxmlformats.org/drawingml/2006/main">
          <p:nvSpPr>
            <p:cNvPr id="57" name="kz-facet-o-candy"/>
            <p:cNvSpPr/>
            <p:nvPr/>
          </p:nvSpPr>
          <p:spPr>
            <a:xfrm>
              <a:off x="239675" y="85725"/>
              <a:ext cx="644888" cy="590550"/>
            </a:xfrm>
            <a:custGeom>
              <a:avLst/>
              <a:gdLst/>
              <a:ahLst/>
              <a:cxnLst/>
              <a:rect l="l" t="t" r="r" b="b"/>
              <a:pathLst>
                <a:path w="644888" h="590550">
                  <a:moveTo>
                    <a:pt x="273125" y="22150"/>
                  </a:moveTo>
                  <a:lnTo>
                    <a:pt x="308965" y="0"/>
                  </a:lnTo>
                  <a:lnTo>
                    <a:pt x="630910" y="0"/>
                  </a:lnTo>
                  <a:lnTo>
                    <a:pt x="644888" y="22292"/>
                  </a:lnTo>
                  <a:lnTo>
                    <a:pt x="380712" y="568258"/>
                  </a:lnTo>
                  <a:lnTo>
                    <a:pt x="345160" y="590550"/>
                  </a:lnTo>
                  <a:lnTo>
                    <a:pt x="13690" y="590550"/>
                  </a:lnTo>
                  <a:lnTo>
                    <a:pt x="0" y="568400"/>
                  </a:lnTo>
                  <a:close/>
                </a:path>
              </a:pathLst>
            </a:custGeom>
            <a:gradFill rotWithShape="1">
              <a:gsLst>
                <a:gs pos="0">
                  <a:srgbClr val="FFC65A"/>
                </a:gs>
                <a:gs pos="47000">
                  <a:srgbClr val="FF9B12"/>
                </a:gs>
                <a:gs pos="100000">
                  <a:srgbClr val="EC7A00"/>
                </a:gs>
              </a:gsLst>
              <a:lin ang="2700000" scaled="1"/>
            </a:gradFill>
            <a:ln>
              <a:noFill/>
            </a:ln>
            <a:effectLst>
              <a:outerShdw blurRad="27940" dist="10160" dir="2700000" algn="ctr" rotWithShape="0">
                <a:srgbClr val="D98213">
                  <a:alpha val="14000"/>
                </a:srgbClr>
              </a:outerShdw>
              <a:softEdge rad="4445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 xmlns:p="http://schemas.openxmlformats.org/presentationml/2006/main" xmlns:a="http://schemas.openxmlformats.org/drawingml/2006/main">
          <p:nvSpPr>
            <p:cNvPr id="58" name="kz-facet-y-candy"/>
            <p:cNvSpPr/>
            <p:nvPr/>
          </p:nvSpPr>
          <p:spPr>
            <a:xfrm>
              <a:off x="55292" y="400050"/>
              <a:ext cx="366012" cy="342900"/>
            </a:xfrm>
            <a:custGeom>
              <a:avLst/>
              <a:gdLst/>
              <a:ahLst/>
              <a:cxnLst/>
              <a:rect l="l" t="t" r="r" b="b"/>
              <a:pathLst>
                <a:path w="366012" h="342900">
                  <a:moveTo>
                    <a:pt x="156116" y="15335"/>
                  </a:moveTo>
                  <a:lnTo>
                    <a:pt x="180928" y="0"/>
                  </a:lnTo>
                  <a:lnTo>
                    <a:pt x="356188" y="0"/>
                  </a:lnTo>
                  <a:lnTo>
                    <a:pt x="366012" y="15503"/>
                  </a:lnTo>
                  <a:lnTo>
                    <a:pt x="218729" y="327397"/>
                  </a:lnTo>
                  <a:lnTo>
                    <a:pt x="194263" y="342900"/>
                  </a:lnTo>
                  <a:lnTo>
                    <a:pt x="9478" y="342900"/>
                  </a:lnTo>
                  <a:lnTo>
                    <a:pt x="0" y="327565"/>
                  </a:lnTo>
                  <a:close/>
                </a:path>
              </a:pathLst>
            </a:custGeom>
            <a:gradFill rotWithShape="1">
              <a:gsLst>
                <a:gs pos="0">
                  <a:srgbClr val="FFF07A"/>
                </a:gs>
                <a:gs pos="47000">
                  <a:srgbClr val="FFD21A"/>
                </a:gs>
                <a:gs pos="100000">
                  <a:srgbClr val="EFB600"/>
                </a:gs>
              </a:gsLst>
              <a:lin ang="2700000" scaled="1"/>
            </a:gradFill>
            <a:ln>
              <a:noFill/>
            </a:ln>
            <a:effectLst>
              <a:outerShdw blurRad="27940" dist="10160" dir="2700000" algn="ctr" rotWithShape="0">
                <a:srgbClr val="D8A500">
                  <a:alpha val="14000"/>
                </a:srgbClr>
              </a:outerShdw>
              <a:softEdge rad="4445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" name="title"/>
          <p:cNvGrpSpPr/>
          <p:nvPr/>
        </p:nvGrpSpPr>
        <p:grpSpPr>
          <a:xfrm>
            <a:off x="854583" y="241300"/>
            <a:ext cx="1316736" cy="469392"/>
            <a:chOff x="854583" y="241300"/>
            <a:chExt cx="1316736" cy="469392"/>
          </a:xfrm>
        </p:grpSpPr>
        <p:sp>
          <p:nvSpPr>
            <p:cNvPr id="8" name="TextBox 8"/>
            <p:cNvSpPr txBox="1"/>
            <p:nvPr/>
          </p:nvSpPr>
          <p:spPr>
            <a:xfrm>
              <a:off x="854583" y="2413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研究范围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14350" y="762000"/>
            <a:ext cx="11458575" cy="9525"/>
          </a:xfrm>
          <a:custGeom>
            <a:avLst/>
            <a:gdLst/>
            <a:ahLst/>
            <a:cxnLst/>
            <a:rect l="l" t="t" r="r" b="b"/>
            <a:pathLst>
              <a:path w="11458575" h="9525">
                <a:moveTo>
                  <a:pt x="0" y="0"/>
                </a:moveTo>
                <a:lnTo>
                  <a:pt x="11458575" y="0"/>
                </a:lnTo>
              </a:path>
            </a:pathLst>
          </a:custGeom>
          <a:noFill/>
          <a:ln w="14288">
            <a:solidFill>
              <a:schemeClr val="accent1"/>
            </a:solidFill>
          </a:ln>
        </p:spPr>
      </p:sp>
      <p:pic>
        <p:nvPicPr>
          <p:cNvPr id="11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275" y="428625"/>
            <a:ext cx="1504950" cy="314325"/>
          </a:xfrm>
          <a:prstGeom prst="rect">
            <a:avLst/>
          </a:prstGeom>
        </p:spPr>
      </p:pic>
      <p:grpSp>
        <p:nvGrpSpPr>
          <p:cNvPr id="21" name="card-population"/>
          <p:cNvGrpSpPr/>
          <p:nvPr/>
        </p:nvGrpSpPr>
        <p:grpSpPr>
          <a:xfrm>
            <a:off x="533400" y="1628775"/>
            <a:ext cx="3555968" cy="2914650"/>
            <a:chOff x="533400" y="1628775"/>
            <a:chExt cx="3555968" cy="2914650"/>
          </a:xfrm>
        </p:grpSpPr>
        <p:sp>
          <p:nvSpPr>
            <p:cNvPr id="12" name="Rectangle 12"/>
            <p:cNvSpPr/>
            <p:nvPr/>
          </p:nvSpPr>
          <p:spPr>
            <a:xfrm>
              <a:off x="533400" y="1628775"/>
              <a:ext cx="3555968" cy="2914650"/>
            </a:xfrm>
            <a:prstGeom prst="roundRect">
              <a:avLst>
                <a:gd name="adj" fmla="val 7843"/>
              </a:avLst>
            </a:prstGeom>
            <a:gradFill>
              <a:gsLst>
                <a:gs pos="0">
                  <a:srgbClr val="FFFDFB">
                    <a:alpha val="62000"/>
                  </a:srgbClr>
                </a:gs>
                <a:gs pos="48000">
                  <a:srgbClr val="FFFBF2">
                    <a:alpha val="55000"/>
                  </a:srgbClr>
                </a:gs>
                <a:gs pos="100000">
                  <a:srgbClr val="FFF5E4">
                    <a:alpha val="50000"/>
                  </a:srgbClr>
                </a:gs>
              </a:gsLst>
              <a:lin ang="2700000" scaled="1"/>
            </a:gradFill>
            <a:ln w="9525">
              <a:solidFill>
                <a:srgbClr val="BEB2A1">
                  <a:alpha val="45000"/>
                </a:srgbClr>
              </a:solidFill>
            </a:ln>
            <a:effectLst>
              <a:outerShdw blurRad="152400" dist="57150" dir="5400000" algn="ctr" rotWithShape="0">
                <a:srgbClr val="48341A">
                  <a:alpha val="90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762000" y="1638300"/>
              <a:ext cx="1066800" cy="14288"/>
            </a:xfrm>
            <a:prstGeom prst="rect">
              <a:avLst/>
            </a:prstGeom>
            <a:gradFill>
              <a:gsLst>
                <a:gs pos="0">
                  <a:schemeClr val="lt2">
                    <a:alpha val="0"/>
                  </a:schemeClr>
                </a:gs>
                <a:gs pos="50000">
                  <a:schemeClr val="lt2">
                    <a:alpha val="95000"/>
                  </a:schemeClr>
                </a:gs>
                <a:gs pos="100000">
                  <a:schemeClr val="lt2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2856" y="187007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研究对象与时间窗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2314575"/>
              <a:ext cx="3098768" cy="914400"/>
            </a:xfrm>
            <a:prstGeom prst="roundRect">
              <a:avLst>
                <a:gd name="adj" fmla="val 14583"/>
              </a:avLst>
            </a:prstGeom>
            <a:gradFill>
              <a:gsLst>
                <a:gs pos="0">
                  <a:schemeClr val="lt2">
                    <a:alpha val="56000"/>
                  </a:schemeClr>
                </a:gs>
                <a:gs pos="100000">
                  <a:srgbClr val="FFF8EC">
                    <a:alpha val="36000"/>
                  </a:srgbClr>
                </a:gs>
              </a:gsLst>
              <a:lin ang="2700000" scaled="1"/>
            </a:gradFill>
            <a:ln w="9525">
              <a:solidFill>
                <a:srgbClr val="BEB2A1">
                  <a:alpha val="26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8304" y="25241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研究对象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6780" y="28416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成人受试者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3381375"/>
              <a:ext cx="3098768" cy="914400"/>
            </a:xfrm>
            <a:prstGeom prst="roundRect">
              <a:avLst>
                <a:gd name="adj" fmla="val 14583"/>
              </a:avLst>
            </a:prstGeom>
            <a:gradFill>
              <a:gsLst>
                <a:gs pos="0">
                  <a:schemeClr val="lt2">
                    <a:alpha val="56000"/>
                  </a:schemeClr>
                </a:gs>
                <a:gs pos="100000">
                  <a:srgbClr val="FFF8EC">
                    <a:alpha val="36000"/>
                  </a:srgbClr>
                </a:gs>
              </a:gsLst>
              <a:lin ang="2700000" scaled="1"/>
            </a:gradFill>
            <a:ln w="9525">
              <a:solidFill>
                <a:srgbClr val="BEB2A1">
                  <a:alpha val="26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8304" y="359092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评价时间窗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6780" y="3908425"/>
              <a:ext cx="7795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第 16 周</a:t>
              </a:r>
            </a:p>
          </p:txBody>
        </p:sp>
      </p:grpSp>
      <p:grpSp>
        <p:nvGrpSpPr>
          <p:cNvPr id="35" name="card-documents"/>
          <p:cNvGrpSpPr/>
          <p:nvPr/>
        </p:nvGrpSpPr>
        <p:grpSpPr>
          <a:xfrm>
            <a:off x="4317968" y="1628775"/>
            <a:ext cx="3555968" cy="2914650"/>
            <a:chOff x="4317968" y="1628775"/>
            <a:chExt cx="3555968" cy="2914650"/>
          </a:xfrm>
        </p:grpSpPr>
        <p:sp>
          <p:nvSpPr>
            <p:cNvPr id="22" name="Rectangle 22"/>
            <p:cNvSpPr/>
            <p:nvPr/>
          </p:nvSpPr>
          <p:spPr>
            <a:xfrm>
              <a:off x="4317968" y="1628775"/>
              <a:ext cx="3555968" cy="2914650"/>
            </a:xfrm>
            <a:prstGeom prst="roundRect">
              <a:avLst>
                <a:gd name="adj" fmla="val 7843"/>
              </a:avLst>
            </a:prstGeom>
            <a:gradFill>
              <a:gsLst>
                <a:gs pos="0">
                  <a:srgbClr val="FFFDFB">
                    <a:alpha val="62000"/>
                  </a:srgbClr>
                </a:gs>
                <a:gs pos="48000">
                  <a:srgbClr val="FFFBF2">
                    <a:alpha val="55000"/>
                  </a:srgbClr>
                </a:gs>
                <a:gs pos="100000">
                  <a:srgbClr val="FFF5E4">
                    <a:alpha val="50000"/>
                  </a:srgbClr>
                </a:gs>
              </a:gsLst>
              <a:lin ang="2700000" scaled="1"/>
            </a:gradFill>
            <a:ln w="9525">
              <a:solidFill>
                <a:srgbClr val="BEB2A1">
                  <a:alpha val="45000"/>
                </a:srgbClr>
              </a:solidFill>
            </a:ln>
            <a:effectLst>
              <a:outerShdw blurRad="152400" dist="57150" dir="5400000" algn="ctr" rotWithShape="0">
                <a:srgbClr val="48341A">
                  <a:alpha val="9000"/>
                </a:srgbClr>
              </a:outerShdw>
            </a:effectLst>
          </p:spPr>
        </p:sp>
        <p:sp>
          <p:nvSpPr>
            <p:cNvPr id="23" name="Rectangle 23"/>
            <p:cNvSpPr/>
            <p:nvPr/>
          </p:nvSpPr>
          <p:spPr>
            <a:xfrm>
              <a:off x="4546568" y="1638300"/>
              <a:ext cx="1066800" cy="14288"/>
            </a:xfrm>
            <a:prstGeom prst="rect">
              <a:avLst/>
            </a:prstGeom>
            <a:gradFill>
              <a:gsLst>
                <a:gs pos="0">
                  <a:schemeClr val="lt2">
                    <a:alpha val="0"/>
                  </a:schemeClr>
                </a:gs>
                <a:gs pos="50000">
                  <a:schemeClr val="lt2">
                    <a:alpha val="95000"/>
                  </a:schemeClr>
                </a:gs>
                <a:gs pos="100000">
                  <a:schemeClr val="lt2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537424" y="187007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纳入资料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30472" y="1933575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共 4 组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4546568" y="2314575"/>
              <a:ext cx="3098864" cy="1981200"/>
              <a:chOff x="4546568" y="2314575"/>
              <a:chExt cx="3098864" cy="19812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546568" y="2314575"/>
                <a:ext cx="1492282" cy="914400"/>
              </a:xfrm>
              <a:prstGeom prst="roundRect">
                <a:avLst>
                  <a:gd name="adj" fmla="val 14583"/>
                </a:avLst>
              </a:prstGeom>
              <a:gradFill>
                <a:gsLst>
                  <a:gs pos="0">
                    <a:schemeClr val="lt2">
                      <a:alpha val="56000"/>
                    </a:schemeClr>
                  </a:gs>
                  <a:gs pos="100000">
                    <a:srgbClr val="FFF8EC">
                      <a:alpha val="36000"/>
                    </a:srgbClr>
                  </a:gs>
                </a:gsLst>
                <a:lin ang="2700000" scaled="1"/>
              </a:gradFill>
              <a:ln w="9525">
                <a:solidFill>
                  <a:srgbClr val="BEB2A1">
                    <a:alpha val="26000"/>
                  </a:srgbClr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780216" y="266065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F1115"/>
                    </a:solidFill>
                    <a:latin typeface="+mn-lt"/>
                    <a:ea typeface="+mn-ea"/>
                    <a:cs typeface="+mn-cs"/>
                  </a:rPr>
                  <a:t>方案与修订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6153150" y="2314575"/>
                <a:ext cx="1492282" cy="914400"/>
              </a:xfrm>
              <a:prstGeom prst="roundRect">
                <a:avLst>
                  <a:gd name="adj" fmla="val 14583"/>
                </a:avLst>
              </a:prstGeom>
              <a:gradFill>
                <a:gsLst>
                  <a:gs pos="0">
                    <a:schemeClr val="lt2">
                      <a:alpha val="56000"/>
                    </a:schemeClr>
                  </a:gs>
                  <a:gs pos="100000">
                    <a:srgbClr val="FFF8EC">
                      <a:alpha val="36000"/>
                    </a:srgbClr>
                  </a:gs>
                </a:gsLst>
                <a:lin ang="2700000" scaled="1"/>
              </a:gradFill>
              <a:ln w="9525">
                <a:solidFill>
                  <a:srgbClr val="BEB2A1">
                    <a:alpha val="26000"/>
                  </a:srgbClr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487763" y="2660650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F1115"/>
                    </a:solidFill>
                    <a:latin typeface="+mn-lt"/>
                    <a:ea typeface="+mn-ea"/>
                    <a:cs typeface="+mn-cs"/>
                  </a:rPr>
                  <a:t>中心记录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4546568" y="3381375"/>
                <a:ext cx="1492282" cy="914400"/>
              </a:xfrm>
              <a:prstGeom prst="roundRect">
                <a:avLst>
                  <a:gd name="adj" fmla="val 14583"/>
                </a:avLst>
              </a:prstGeom>
              <a:gradFill>
                <a:gsLst>
                  <a:gs pos="0">
                    <a:schemeClr val="lt2">
                      <a:alpha val="56000"/>
                    </a:schemeClr>
                  </a:gs>
                  <a:gs pos="100000">
                    <a:srgbClr val="FFF8EC">
                      <a:alpha val="36000"/>
                    </a:srgbClr>
                  </a:gs>
                </a:gsLst>
                <a:lin ang="2700000" scaled="1"/>
              </a:gradFill>
              <a:ln w="9525">
                <a:solidFill>
                  <a:srgbClr val="BEB2A1">
                    <a:alpha val="26000"/>
                  </a:srgbClr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780216" y="372745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F1115"/>
                    </a:solidFill>
                    <a:latin typeface="+mn-lt"/>
                    <a:ea typeface="+mn-ea"/>
                    <a:cs typeface="+mn-cs"/>
                  </a:rPr>
                  <a:t>实验室数据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6153150" y="3381375"/>
                <a:ext cx="1492282" cy="914400"/>
              </a:xfrm>
              <a:prstGeom prst="roundRect">
                <a:avLst>
                  <a:gd name="adj" fmla="val 14583"/>
                </a:avLst>
              </a:prstGeom>
              <a:gradFill>
                <a:gsLst>
                  <a:gs pos="0">
                    <a:schemeClr val="lt2">
                      <a:alpha val="56000"/>
                    </a:schemeClr>
                  </a:gs>
                  <a:gs pos="100000">
                    <a:srgbClr val="FFF8EC">
                      <a:alpha val="36000"/>
                    </a:srgbClr>
                  </a:gs>
                </a:gsLst>
                <a:lin ang="2700000" scaled="1"/>
              </a:gradFill>
              <a:ln w="9525">
                <a:solidFill>
                  <a:srgbClr val="BEB2A1">
                    <a:alpha val="26000"/>
                  </a:srgbClr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386798" y="372745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F1115"/>
                    </a:solidFill>
                    <a:latin typeface="+mn-lt"/>
                    <a:ea typeface="+mn-ea"/>
                    <a:cs typeface="+mn-cs"/>
                  </a:rPr>
                  <a:t>安全性报告</a:t>
                </a:r>
              </a:p>
            </p:txBody>
          </p:sp>
        </p:grpSp>
      </p:grpSp>
      <p:grpSp>
        <p:nvGrpSpPr>
          <p:cNvPr id="47" name="card-versions"/>
          <p:cNvGrpSpPr/>
          <p:nvPr/>
        </p:nvGrpSpPr>
        <p:grpSpPr>
          <a:xfrm>
            <a:off x="8102632" y="1628775"/>
            <a:ext cx="3555968" cy="2914650"/>
            <a:chOff x="8102632" y="1628775"/>
            <a:chExt cx="3555968" cy="2914650"/>
          </a:xfrm>
        </p:grpSpPr>
        <p:sp>
          <p:nvSpPr>
            <p:cNvPr id="36" name="Rectangle 36"/>
            <p:cNvSpPr/>
            <p:nvPr/>
          </p:nvSpPr>
          <p:spPr>
            <a:xfrm>
              <a:off x="8102632" y="1628775"/>
              <a:ext cx="3555968" cy="2914650"/>
            </a:xfrm>
            <a:prstGeom prst="roundRect">
              <a:avLst>
                <a:gd name="adj" fmla="val 7843"/>
              </a:avLst>
            </a:prstGeom>
            <a:gradFill>
              <a:gsLst>
                <a:gs pos="0">
                  <a:srgbClr val="FFFDFB">
                    <a:alpha val="62000"/>
                  </a:srgbClr>
                </a:gs>
                <a:gs pos="48000">
                  <a:srgbClr val="FFFBF2">
                    <a:alpha val="55000"/>
                  </a:srgbClr>
                </a:gs>
                <a:gs pos="100000">
                  <a:srgbClr val="FFF5E4">
                    <a:alpha val="50000"/>
                  </a:srgbClr>
                </a:gs>
              </a:gsLst>
              <a:lin ang="2700000" scaled="1"/>
            </a:gradFill>
            <a:ln w="9525">
              <a:solidFill>
                <a:srgbClr val="BEB2A1">
                  <a:alpha val="45000"/>
                </a:srgbClr>
              </a:solidFill>
            </a:ln>
            <a:effectLst>
              <a:outerShdw blurRad="152400" dist="57150" dir="5400000" algn="ctr" rotWithShape="0">
                <a:srgbClr val="48341A">
                  <a:alpha val="9000"/>
                </a:srgbClr>
              </a:outerShdw>
            </a:effectLst>
          </p:spPr>
        </p:sp>
        <p:sp>
          <p:nvSpPr>
            <p:cNvPr id="37" name="Rectangle 37"/>
            <p:cNvSpPr/>
            <p:nvPr/>
          </p:nvSpPr>
          <p:spPr>
            <a:xfrm>
              <a:off x="8331232" y="1638300"/>
              <a:ext cx="1066800" cy="14288"/>
            </a:xfrm>
            <a:prstGeom prst="rect">
              <a:avLst/>
            </a:prstGeom>
            <a:gradFill>
              <a:gsLst>
                <a:gs pos="0">
                  <a:schemeClr val="lt2">
                    <a:alpha val="0"/>
                  </a:schemeClr>
                </a:gs>
                <a:gs pos="50000">
                  <a:schemeClr val="lt2">
                    <a:alpha val="95000"/>
                  </a:schemeClr>
                </a:gs>
                <a:gs pos="100000">
                  <a:schemeClr val="lt2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22088" y="187007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方案版本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331232" y="2314575"/>
              <a:ext cx="1104900" cy="914400"/>
            </a:xfrm>
            <a:prstGeom prst="roundRect">
              <a:avLst>
                <a:gd name="adj" fmla="val 14583"/>
              </a:avLst>
            </a:prstGeom>
            <a:gradFill>
              <a:gsLst>
                <a:gs pos="0">
                  <a:schemeClr val="lt2">
                    <a:alpha val="56000"/>
                  </a:schemeClr>
                </a:gs>
                <a:gs pos="100000">
                  <a:srgbClr val="FFF8EC">
                    <a:alpha val="36000"/>
                  </a:srgbClr>
                </a:gs>
              </a:gsLst>
              <a:lin ang="2700000" scaled="1"/>
            </a:gradFill>
            <a:ln w="9525">
              <a:solidFill>
                <a:srgbClr val="BEB2A1">
                  <a:alpha val="26000"/>
                </a:srgbClr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578821" y="2628900"/>
              <a:ext cx="609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V2.1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9588532" y="2619375"/>
              <a:ext cx="584168" cy="304800"/>
            </a:xfrm>
            <a:prstGeom prst="leftRightArrow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325100" y="2314575"/>
              <a:ext cx="1104900" cy="914400"/>
            </a:xfrm>
            <a:prstGeom prst="roundRect">
              <a:avLst>
                <a:gd name="adj" fmla="val 14583"/>
              </a:avLst>
            </a:prstGeom>
            <a:gradFill>
              <a:gsLst>
                <a:gs pos="0">
                  <a:schemeClr val="lt2">
                    <a:alpha val="56000"/>
                  </a:schemeClr>
                </a:gs>
                <a:gs pos="100000">
                  <a:srgbClr val="FFF8EC">
                    <a:alpha val="36000"/>
                  </a:srgbClr>
                </a:gs>
              </a:gsLst>
              <a:lin ang="2700000" scaled="1"/>
            </a:gradFill>
            <a:ln w="9525">
              <a:solidFill>
                <a:srgbClr val="BEB2A1">
                  <a:alpha val="26000"/>
                </a:srgbClr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572689" y="2628900"/>
              <a:ext cx="609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V2.3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331232" y="3381375"/>
              <a:ext cx="3098768" cy="914400"/>
            </a:xfrm>
            <a:prstGeom prst="roundRect">
              <a:avLst>
                <a:gd name="adj" fmla="val 14583"/>
              </a:avLst>
            </a:prstGeom>
            <a:gradFill>
              <a:gsLst>
                <a:gs pos="0">
                  <a:schemeClr val="lt2">
                    <a:alpha val="56000"/>
                  </a:schemeClr>
                </a:gs>
                <a:gs pos="100000">
                  <a:srgbClr val="FFF8EC">
                    <a:alpha val="36000"/>
                  </a:srgbClr>
                </a:gs>
              </a:gsLst>
              <a:lin ang="2700000" scaled="1"/>
            </a:gradFill>
            <a:ln w="9525">
              <a:solidFill>
                <a:srgbClr val="BEB2A1">
                  <a:alpha val="26000"/>
                </a:srgbClr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76012" y="3565525"/>
              <a:ext cx="16089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待确认差异：</a:t>
              </a:r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 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76012" y="38893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筛选窗口、终点评价时间点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4772025"/>
            <a:ext cx="11125200" cy="800100"/>
            <a:chOff x="533400" y="4772025"/>
            <a:chExt cx="11125200" cy="800100"/>
          </a:xfrm>
        </p:grpSpPr>
        <p:sp>
          <p:nvSpPr>
            <p:cNvPr id="48" name="Rectangle 48"/>
            <p:cNvSpPr/>
            <p:nvPr/>
          </p:nvSpPr>
          <p:spPr>
            <a:xfrm>
              <a:off x="533400" y="4772025"/>
              <a:ext cx="11125200" cy="800100"/>
            </a:xfrm>
            <a:prstGeom prst="roundRect">
              <a:avLst>
                <a:gd name="adj" fmla="val 28571"/>
              </a:avLst>
            </a:prstGeom>
            <a:gradFill>
              <a:gsLst>
                <a:gs pos="0">
                  <a:srgbClr val="FFFDFB">
                    <a:alpha val="62000"/>
                  </a:srgbClr>
                </a:gs>
                <a:gs pos="48000">
                  <a:srgbClr val="FFFBF2">
                    <a:alpha val="55000"/>
                  </a:srgbClr>
                </a:gs>
                <a:gs pos="100000">
                  <a:srgbClr val="FFF5E4">
                    <a:alpha val="50000"/>
                  </a:srgbClr>
                </a:gs>
              </a:gsLst>
              <a:lin ang="2700000" scaled="1"/>
            </a:gradFill>
            <a:ln w="9525">
              <a:solidFill>
                <a:srgbClr val="BEB2A1">
                  <a:alpha val="45000"/>
                </a:srgbClr>
              </a:solidFill>
            </a:ln>
            <a:effectLst>
              <a:outerShdw blurRad="152400" dist="57150" dir="5400000" algn="ctr" rotWithShape="0">
                <a:srgbClr val="48341A">
                  <a:alpha val="9000"/>
                </a:srgbClr>
              </a:outerShdw>
            </a:effectLst>
          </p:spPr>
        </p:sp>
        <p:sp>
          <p:nvSpPr>
            <p:cNvPr id="49" name="Rectangle 49"/>
            <p:cNvSpPr/>
            <p:nvPr/>
          </p:nvSpPr>
          <p:spPr>
            <a:xfrm>
              <a:off x="762000" y="4781550"/>
              <a:ext cx="3333750" cy="14288"/>
            </a:xfrm>
            <a:prstGeom prst="rect">
              <a:avLst/>
            </a:prstGeom>
            <a:gradFill>
              <a:gsLst>
                <a:gs pos="0">
                  <a:schemeClr val="lt2">
                    <a:alpha val="0"/>
                  </a:schemeClr>
                </a:gs>
                <a:gs pos="50000">
                  <a:schemeClr val="lt2">
                    <a:alpha val="95000"/>
                  </a:schemeClr>
                </a:gs>
                <a:gs pos="100000">
                  <a:schemeClr val="lt2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269486" y="504190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版本差异</a:t>
              </a:r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确认之后</a:t>
              </a:r>
              <a:r>
                <a:rPr lang="zh-CN" sz="18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，再做组间比较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221742" y="6521450"/>
            <a:ext cx="11672316" cy="264033"/>
            <a:chOff x="221742" y="6521450"/>
            <a:chExt cx="11672316" cy="264033"/>
          </a:xfrm>
        </p:grpSpPr>
        <p:sp>
          <p:nvSpPr>
            <p:cNvPr id="52" name="TextBox 52"/>
            <p:cNvSpPr txBox="1"/>
            <p:nvPr/>
          </p:nvSpPr>
          <p:spPr>
            <a:xfrm>
              <a:off x="221742" y="6521450"/>
              <a:ext cx="25307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产品中心-医学部｜2026年10月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471434" y="6521450"/>
              <a:ext cx="4226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3 / 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withEffect" decel="7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 decel="70000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withEffect" decel="70000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withEffect" decel="70000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47625" y="85725"/>
            <a:ext cx="847725" cy="657225"/>
            <a:chOff x="47625" y="85725"/>
            <a:chExt cx="847725" cy="657225"/>
          </a:xfrm>
        </p:grpSpPr>
        <p:sp xmlns:p="http://schemas.openxmlformats.org/presentationml/2006/main" xmlns:a="http://schemas.openxmlformats.org/drawingml/2006/main">
          <p:nvSpPr>
            <p:cNvPr id="45" name="kz-facet-o"/>
            <p:cNvSpPr/>
            <p:nvPr/>
          </p:nvSpPr>
          <p:spPr>
            <a:xfrm>
              <a:off x="228600" y="85725"/>
              <a:ext cx="666750" cy="590550"/>
            </a:xfrm>
            <a:custGeom>
              <a:avLst/>
              <a:gdLst/>
              <a:ahLst/>
              <a:cxnLst/>
              <a:rect l="l" t="t" r="r" b="b"/>
              <a:pathLst>
                <a:path w="666750" h="590550">
                  <a:moveTo>
                    <a:pt x="295275" y="0"/>
                  </a:moveTo>
                  <a:lnTo>
                    <a:pt x="666750" y="0"/>
                  </a:lnTo>
                  <a:lnTo>
                    <a:pt x="381000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FF9900">
                <a:alpha val="1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 xmlns:p="http://schemas.openxmlformats.org/presentationml/2006/main" xmlns:a="http://schemas.openxmlformats.org/drawingml/2006/main">
          <p:nvSpPr>
            <p:cNvPr id="46" name="kz-facet-y"/>
            <p:cNvSpPr/>
            <p:nvPr/>
          </p:nvSpPr>
          <p:spPr>
            <a:xfrm>
              <a:off x="47625" y="400050"/>
              <a:ext cx="381000" cy="342900"/>
            </a:xfrm>
            <a:custGeom>
              <a:avLst/>
              <a:gdLst/>
              <a:ahLst/>
              <a:cxnLst/>
              <a:rect l="l" t="t" r="r" b="b"/>
              <a:pathLst>
                <a:path w="381000" h="342900">
                  <a:moveTo>
                    <a:pt x="171450" y="0"/>
                  </a:moveTo>
                  <a:lnTo>
                    <a:pt x="381000" y="0"/>
                  </a:lnTo>
                  <a:lnTo>
                    <a:pt x="219075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CC00">
                <a:alpha val="1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 xmlns:p="http://schemas.openxmlformats.org/presentationml/2006/main" xmlns:a="http://schemas.openxmlformats.org/drawingml/2006/main">
          <p:nvSpPr>
            <p:cNvPr id="47" name="kz-facet-o-candy"/>
            <p:cNvSpPr/>
            <p:nvPr/>
          </p:nvSpPr>
          <p:spPr>
            <a:xfrm>
              <a:off x="239675" y="85725"/>
              <a:ext cx="644888" cy="590550"/>
            </a:xfrm>
            <a:custGeom>
              <a:avLst/>
              <a:gdLst/>
              <a:ahLst/>
              <a:cxnLst/>
              <a:rect l="l" t="t" r="r" b="b"/>
              <a:pathLst>
                <a:path w="644888" h="590550">
                  <a:moveTo>
                    <a:pt x="273125" y="22150"/>
                  </a:moveTo>
                  <a:lnTo>
                    <a:pt x="308965" y="0"/>
                  </a:lnTo>
                  <a:lnTo>
                    <a:pt x="630910" y="0"/>
                  </a:lnTo>
                  <a:lnTo>
                    <a:pt x="644888" y="22292"/>
                  </a:lnTo>
                  <a:lnTo>
                    <a:pt x="380712" y="568258"/>
                  </a:lnTo>
                  <a:lnTo>
                    <a:pt x="345160" y="590550"/>
                  </a:lnTo>
                  <a:lnTo>
                    <a:pt x="13690" y="590550"/>
                  </a:lnTo>
                  <a:lnTo>
                    <a:pt x="0" y="568400"/>
                  </a:lnTo>
                  <a:close/>
                </a:path>
              </a:pathLst>
            </a:custGeom>
            <a:gradFill rotWithShape="1">
              <a:gsLst>
                <a:gs pos="0">
                  <a:srgbClr val="FFC65A"/>
                </a:gs>
                <a:gs pos="47000">
                  <a:srgbClr val="FF9B12"/>
                </a:gs>
                <a:gs pos="100000">
                  <a:srgbClr val="EC7A00"/>
                </a:gs>
              </a:gsLst>
              <a:lin ang="2700000" scaled="1"/>
            </a:gradFill>
            <a:ln>
              <a:noFill/>
            </a:ln>
            <a:effectLst>
              <a:outerShdw blurRad="27940" dist="10160" dir="2700000" algn="ctr" rotWithShape="0">
                <a:srgbClr val="D98213">
                  <a:alpha val="14000"/>
                </a:srgbClr>
              </a:outerShdw>
              <a:softEdge rad="4445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 xmlns:p="http://schemas.openxmlformats.org/presentationml/2006/main" xmlns:a="http://schemas.openxmlformats.org/drawingml/2006/main">
          <p:nvSpPr>
            <p:cNvPr id="48" name="kz-facet-y-candy"/>
            <p:cNvSpPr/>
            <p:nvPr/>
          </p:nvSpPr>
          <p:spPr>
            <a:xfrm>
              <a:off x="55292" y="400050"/>
              <a:ext cx="366012" cy="342900"/>
            </a:xfrm>
            <a:custGeom>
              <a:avLst/>
              <a:gdLst/>
              <a:ahLst/>
              <a:cxnLst/>
              <a:rect l="l" t="t" r="r" b="b"/>
              <a:pathLst>
                <a:path w="366012" h="342900">
                  <a:moveTo>
                    <a:pt x="156116" y="15335"/>
                  </a:moveTo>
                  <a:lnTo>
                    <a:pt x="180928" y="0"/>
                  </a:lnTo>
                  <a:lnTo>
                    <a:pt x="356188" y="0"/>
                  </a:lnTo>
                  <a:lnTo>
                    <a:pt x="366012" y="15503"/>
                  </a:lnTo>
                  <a:lnTo>
                    <a:pt x="218729" y="327397"/>
                  </a:lnTo>
                  <a:lnTo>
                    <a:pt x="194263" y="342900"/>
                  </a:lnTo>
                  <a:lnTo>
                    <a:pt x="9478" y="342900"/>
                  </a:lnTo>
                  <a:lnTo>
                    <a:pt x="0" y="327565"/>
                  </a:lnTo>
                  <a:close/>
                </a:path>
              </a:pathLst>
            </a:custGeom>
            <a:gradFill rotWithShape="1">
              <a:gsLst>
                <a:gs pos="0">
                  <a:srgbClr val="FFF07A"/>
                </a:gs>
                <a:gs pos="47000">
                  <a:srgbClr val="FFD21A"/>
                </a:gs>
                <a:gs pos="100000">
                  <a:srgbClr val="EFB600"/>
                </a:gs>
              </a:gsLst>
              <a:lin ang="2700000" scaled="1"/>
            </a:gradFill>
            <a:ln>
              <a:noFill/>
            </a:ln>
            <a:effectLst>
              <a:outerShdw blurRad="27940" dist="10160" dir="2700000" algn="ctr" rotWithShape="0">
                <a:srgbClr val="D8A500">
                  <a:alpha val="14000"/>
                </a:srgbClr>
              </a:outerShdw>
              <a:softEdge rad="4445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" name="title"/>
          <p:cNvGrpSpPr/>
          <p:nvPr/>
        </p:nvGrpSpPr>
        <p:grpSpPr>
          <a:xfrm>
            <a:off x="854583" y="241300"/>
            <a:ext cx="1639824" cy="469392"/>
            <a:chOff x="854583" y="241300"/>
            <a:chExt cx="1639824" cy="469392"/>
          </a:xfrm>
        </p:grpSpPr>
        <p:sp>
          <p:nvSpPr>
            <p:cNvPr id="8" name="TextBox 8"/>
            <p:cNvSpPr txBox="1"/>
            <p:nvPr/>
          </p:nvSpPr>
          <p:spPr>
            <a:xfrm>
              <a:off x="854583" y="2413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资料完整性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14350" y="762000"/>
            <a:ext cx="11458575" cy="9525"/>
          </a:xfrm>
          <a:custGeom>
            <a:avLst/>
            <a:gdLst/>
            <a:ahLst/>
            <a:cxnLst/>
            <a:rect l="l" t="t" r="r" b="b"/>
            <a:pathLst>
              <a:path w="11458575" h="9525">
                <a:moveTo>
                  <a:pt x="0" y="0"/>
                </a:moveTo>
                <a:lnTo>
                  <a:pt x="11458575" y="0"/>
                </a:lnTo>
              </a:path>
            </a:pathLst>
          </a:custGeom>
          <a:noFill/>
          <a:ln w="14288">
            <a:solidFill>
              <a:schemeClr val="accent1"/>
            </a:solidFill>
          </a:ln>
        </p:spPr>
      </p:sp>
      <p:pic>
        <p:nvPicPr>
          <p:cNvPr id="11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275" y="428625"/>
            <a:ext cx="1504950" cy="314325"/>
          </a:xfrm>
          <a:prstGeom prst="rect">
            <a:avLst/>
          </a:prstGeom>
        </p:spPr>
      </p:pic>
      <p:sp>
        <p:nvSpPr>
          <p:cNvPr id="12" name="data-card-shell"/>
          <p:cNvSpPr/>
          <p:nvPr/>
        </p:nvSpPr>
        <p:spPr>
          <a:xfrm>
            <a:off x="533400" y="1028700"/>
            <a:ext cx="6356318" cy="5143500"/>
          </a:xfrm>
          <a:prstGeom prst="roundRect">
            <a:avLst>
              <a:gd name="adj" fmla="val 4444"/>
            </a:avLst>
          </a:prstGeom>
          <a:gradFill>
            <a:gsLst>
              <a:gs pos="0">
                <a:srgbClr val="FFFDFB">
                  <a:alpha val="62000"/>
                </a:srgbClr>
              </a:gs>
              <a:gs pos="48000">
                <a:srgbClr val="FFFBF2">
                  <a:alpha val="55000"/>
                </a:srgbClr>
              </a:gs>
              <a:gs pos="100000">
                <a:srgbClr val="FFF5E4">
                  <a:alpha val="50000"/>
                </a:srgbClr>
              </a:gs>
            </a:gsLst>
            <a:lin ang="2700000" scaled="1"/>
          </a:gradFill>
          <a:ln w="9525">
            <a:solidFill>
              <a:srgbClr val="BEB2A1">
                <a:alpha val="45000"/>
              </a:srgbClr>
            </a:solidFill>
          </a:ln>
          <a:effectLst>
            <a:outerShdw blurRad="152400" dist="57150" dir="5400000" algn="ctr" rotWithShape="0">
              <a:srgbClr val="48341A">
                <a:alpha val="9000"/>
              </a:srgbClr>
            </a:outerShdw>
          </a:effectLst>
        </p:spPr>
      </p:sp>
      <p:sp>
        <p:nvSpPr>
          <p:cNvPr id="13" name="data-card-glint"/>
          <p:cNvSpPr/>
          <p:nvPr/>
        </p:nvSpPr>
        <p:spPr>
          <a:xfrm>
            <a:off x="762000" y="1038225"/>
            <a:ext cx="1905000" cy="14288"/>
          </a:xfrm>
          <a:prstGeom prst="rect">
            <a:avLst/>
          </a:prstGeom>
          <a:gradFill>
            <a:gsLst>
              <a:gs pos="0">
                <a:schemeClr val="lt2">
                  <a:alpha val="0"/>
                </a:schemeClr>
              </a:gs>
              <a:gs pos="50000">
                <a:schemeClr val="lt2">
                  <a:alpha val="95000"/>
                </a:schemeClr>
              </a:gs>
              <a:gs pos="100000">
                <a:schemeClr val="l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21" name="data-card"/>
          <p:cNvGrpSpPr/>
          <p:nvPr/>
        </p:nvGrpSpPr>
        <p:grpSpPr>
          <a:xfrm>
            <a:off x="752856" y="1270000"/>
            <a:ext cx="5914358" cy="622046"/>
            <a:chOff x="752856" y="1270000"/>
            <a:chExt cx="5914358" cy="622046"/>
          </a:xfrm>
        </p:grpSpPr>
        <p:sp>
          <p:nvSpPr>
            <p:cNvPr id="14" name="TextBox 14"/>
            <p:cNvSpPr txBox="1"/>
            <p:nvPr/>
          </p:nvSpPr>
          <p:spPr>
            <a:xfrm>
              <a:off x="752856" y="127000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各资料组应收与已收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78038" y="133350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合成示例数据｜单位：份</a:t>
              </a:r>
            </a:p>
          </p:txBody>
        </p:sp>
        <p:grpSp>
          <p:nvGrpSpPr>
            <p:cNvPr id="20" name="completeness-legend"/>
            <p:cNvGrpSpPr/>
            <p:nvPr/>
          </p:nvGrpSpPr>
          <p:grpSpPr>
            <a:xfrm>
              <a:off x="762000" y="1657350"/>
              <a:ext cx="1205484" cy="234696"/>
              <a:chOff x="762000" y="1657350"/>
              <a:chExt cx="1205484" cy="234696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762000" y="1695450"/>
                <a:ext cx="152400" cy="114300"/>
              </a:xfrm>
              <a:prstGeom prst="roundRect">
                <a:avLst>
                  <a:gd name="adj" fmla="val 25000"/>
                </a:avLst>
              </a:prstGeom>
              <a:solidFill>
                <a:srgbClr val="6E7B8C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965454" y="165735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应收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1428750" y="1695450"/>
                <a:ext cx="152400" cy="114300"/>
              </a:xfrm>
              <a:prstGeom prst="roundRect">
                <a:avLst>
                  <a:gd name="adj" fmla="val 25000"/>
                </a:avLst>
              </a:prstGeom>
              <a:solidFill>
                <a:srgbClr val="D46B08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632204" y="165735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已收</a:t>
                </a:r>
              </a:p>
            </p:txBody>
          </p:sp>
        </p:grpSp>
      </p:grpSp>
      <p:graphicFrame>
        <p:nvGraphicFramePr>
          <p:cNvPr id="22" name="completeness-bars"/>
          <p:cNvGraphicFramePr>
            <a:graphicFrameLocks noGrp="1"/>
          </p:cNvGraphicFramePr>
          <p:nvPr/>
        </p:nvGraphicFramePr>
        <p:xfrm>
          <a:off x="762000" y="1905000"/>
          <a:ext cx="5899118" cy="40767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pSp>
        <p:nvGrpSpPr>
          <p:cNvPr id="26" name="takeaway"/>
          <p:cNvGrpSpPr/>
          <p:nvPr/>
        </p:nvGrpSpPr>
        <p:grpSpPr>
          <a:xfrm>
            <a:off x="7118318" y="1028700"/>
            <a:ext cx="4540282" cy="1333500"/>
            <a:chOff x="7118318" y="1028700"/>
            <a:chExt cx="4540282" cy="1333500"/>
          </a:xfrm>
        </p:grpSpPr>
        <p:sp>
          <p:nvSpPr>
            <p:cNvPr id="23" name="Rectangle 23"/>
            <p:cNvSpPr/>
            <p:nvPr/>
          </p:nvSpPr>
          <p:spPr>
            <a:xfrm>
              <a:off x="7118318" y="1028700"/>
              <a:ext cx="4540282" cy="1333500"/>
            </a:xfrm>
            <a:prstGeom prst="roundRect">
              <a:avLst>
                <a:gd name="adj" fmla="val 17143"/>
              </a:avLst>
            </a:prstGeom>
            <a:gradFill>
              <a:gsLst>
                <a:gs pos="0">
                  <a:srgbClr val="FFFDFB">
                    <a:alpha val="62000"/>
                  </a:srgbClr>
                </a:gs>
                <a:gs pos="48000">
                  <a:srgbClr val="FFFBF2">
                    <a:alpha val="55000"/>
                  </a:srgbClr>
                </a:gs>
                <a:gs pos="100000">
                  <a:srgbClr val="FFF5E4">
                    <a:alpha val="50000"/>
                  </a:srgbClr>
                </a:gs>
              </a:gsLst>
              <a:lin ang="2700000" scaled="1"/>
            </a:gradFill>
            <a:ln w="9525">
              <a:solidFill>
                <a:srgbClr val="BEB2A1">
                  <a:alpha val="45000"/>
                </a:srgbClr>
              </a:solidFill>
            </a:ln>
            <a:effectLst>
              <a:outerShdw blurRad="152400" dist="57150" dir="5400000" algn="ctr" rotWithShape="0">
                <a:srgbClr val="48341A">
                  <a:alpha val="9000"/>
                </a:srgbClr>
              </a:outerShdw>
            </a:effectLst>
          </p:spPr>
        </p:sp>
        <p:sp>
          <p:nvSpPr>
            <p:cNvPr id="24" name="Rectangle 24"/>
            <p:cNvSpPr/>
            <p:nvPr/>
          </p:nvSpPr>
          <p:spPr>
            <a:xfrm>
              <a:off x="7346918" y="1038225"/>
              <a:ext cx="1362075" cy="14288"/>
            </a:xfrm>
            <a:prstGeom prst="rect">
              <a:avLst/>
            </a:prstGeom>
            <a:gradFill>
              <a:gsLst>
                <a:gs pos="0">
                  <a:schemeClr val="lt2">
                    <a:alpha val="0"/>
                  </a:schemeClr>
                </a:gs>
                <a:gs pos="50000">
                  <a:schemeClr val="lt2">
                    <a:alpha val="95000"/>
                  </a:schemeClr>
                </a:gs>
                <a:gs pos="100000">
                  <a:schemeClr val="lt2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61993" y="1565275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缺口集中在中心记录与安全性报告</a:t>
              </a:r>
            </a:p>
          </p:txBody>
        </p:sp>
      </p:grpSp>
      <p:grpSp>
        <p:nvGrpSpPr>
          <p:cNvPr id="36" name="kpi-totals"/>
          <p:cNvGrpSpPr/>
          <p:nvPr/>
        </p:nvGrpSpPr>
        <p:grpSpPr>
          <a:xfrm>
            <a:off x="7118318" y="2590800"/>
            <a:ext cx="4540282" cy="1676400"/>
            <a:chOff x="7118318" y="2590800"/>
            <a:chExt cx="4540282" cy="1676400"/>
          </a:xfrm>
        </p:grpSpPr>
        <p:sp>
          <p:nvSpPr>
            <p:cNvPr id="27" name="Rectangle 27"/>
            <p:cNvSpPr/>
            <p:nvPr/>
          </p:nvSpPr>
          <p:spPr>
            <a:xfrm>
              <a:off x="7118318" y="2590800"/>
              <a:ext cx="1411796" cy="1676400"/>
            </a:xfrm>
            <a:prstGeom prst="roundRect">
              <a:avLst>
                <a:gd name="adj" fmla="val 12144"/>
              </a:avLst>
            </a:prstGeom>
            <a:gradFill>
              <a:gsLst>
                <a:gs pos="0">
                  <a:srgbClr val="FFFDFB">
                    <a:alpha val="62000"/>
                  </a:srgbClr>
                </a:gs>
                <a:gs pos="48000">
                  <a:srgbClr val="FFFBF2">
                    <a:alpha val="55000"/>
                  </a:srgbClr>
                </a:gs>
                <a:gs pos="100000">
                  <a:srgbClr val="FFF5E4">
                    <a:alpha val="50000"/>
                  </a:srgbClr>
                </a:gs>
              </a:gsLst>
              <a:lin ang="2700000" scaled="1"/>
            </a:gradFill>
            <a:ln w="9525">
              <a:solidFill>
                <a:srgbClr val="BEB2A1">
                  <a:alpha val="45000"/>
                </a:srgbClr>
              </a:solidFill>
            </a:ln>
            <a:effectLst>
              <a:outerShdw blurRad="152400" dist="57150" dir="5400000" algn="ctr" rotWithShape="0">
                <a:srgbClr val="48341A">
                  <a:alpha val="900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7520437" y="3098800"/>
              <a:ext cx="6075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24</a:t>
              </a: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份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56576" y="36385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应收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682609" y="2590800"/>
              <a:ext cx="1411796" cy="1676400"/>
            </a:xfrm>
            <a:prstGeom prst="roundRect">
              <a:avLst>
                <a:gd name="adj" fmla="val 12144"/>
              </a:avLst>
            </a:prstGeom>
            <a:gradFill>
              <a:gsLst>
                <a:gs pos="0">
                  <a:srgbClr val="FFFDFB">
                    <a:alpha val="62000"/>
                  </a:srgbClr>
                </a:gs>
                <a:gs pos="48000">
                  <a:srgbClr val="FFFBF2">
                    <a:alpha val="55000"/>
                  </a:srgbClr>
                </a:gs>
                <a:gs pos="100000">
                  <a:srgbClr val="FFF5E4">
                    <a:alpha val="50000"/>
                  </a:srgbClr>
                </a:gs>
              </a:gsLst>
              <a:lin ang="2700000" scaled="1"/>
            </a:gradFill>
            <a:ln w="9525">
              <a:solidFill>
                <a:srgbClr val="BEB2A1">
                  <a:alpha val="45000"/>
                </a:srgbClr>
              </a:solidFill>
            </a:ln>
            <a:effectLst>
              <a:outerShdw blurRad="152400" dist="57150" dir="5400000" algn="ctr" rotWithShape="0">
                <a:srgbClr val="48341A">
                  <a:alpha val="9000"/>
                </a:srgbClr>
              </a:outerShdw>
            </a:effectLst>
          </p:spPr>
        </p:sp>
        <p:sp>
          <p:nvSpPr>
            <p:cNvPr id="31" name="TextBox 31"/>
            <p:cNvSpPr txBox="1"/>
            <p:nvPr/>
          </p:nvSpPr>
          <p:spPr>
            <a:xfrm>
              <a:off x="9084728" y="3098800"/>
              <a:ext cx="6075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20</a:t>
              </a: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份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20867" y="36385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已收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0246804" y="2590800"/>
              <a:ext cx="1411796" cy="1676400"/>
            </a:xfrm>
            <a:prstGeom prst="roundRect">
              <a:avLst>
                <a:gd name="adj" fmla="val 12144"/>
              </a:avLst>
            </a:prstGeom>
            <a:gradFill>
              <a:gsLst>
                <a:gs pos="0">
                  <a:srgbClr val="FFFDFB">
                    <a:alpha val="62000"/>
                  </a:srgbClr>
                </a:gs>
                <a:gs pos="48000">
                  <a:srgbClr val="FFFBF2">
                    <a:alpha val="55000"/>
                  </a:srgbClr>
                </a:gs>
                <a:gs pos="100000">
                  <a:srgbClr val="FFF5E4">
                    <a:alpha val="50000"/>
                  </a:srgbClr>
                </a:gs>
              </a:gsLst>
              <a:lin ang="2700000" scaled="1"/>
            </a:gradFill>
            <a:ln w="9525">
              <a:solidFill>
                <a:srgbClr val="BEB2A1">
                  <a:alpha val="45000"/>
                </a:srgbClr>
              </a:solidFill>
            </a:ln>
            <a:effectLst>
              <a:outerShdw blurRad="152400" dist="57150" dir="5400000" algn="ctr" rotWithShape="0">
                <a:srgbClr val="48341A">
                  <a:alpha val="9000"/>
                </a:srgbClr>
              </a:outerShdw>
            </a:effectLst>
          </p:spPr>
        </p:sp>
        <p:sp>
          <p:nvSpPr>
            <p:cNvPr id="34" name="TextBox 34"/>
            <p:cNvSpPr txBox="1"/>
            <p:nvPr/>
          </p:nvSpPr>
          <p:spPr>
            <a:xfrm>
              <a:off x="10742215" y="3098800"/>
              <a:ext cx="42097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</a:t>
              </a: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份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785062" y="36385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缺口</a:t>
              </a:r>
            </a:p>
          </p:txBody>
        </p:sp>
      </p:grpSp>
      <p:grpSp>
        <p:nvGrpSpPr>
          <p:cNvPr id="41" name="gap-card"/>
          <p:cNvGrpSpPr/>
          <p:nvPr/>
        </p:nvGrpSpPr>
        <p:grpSpPr>
          <a:xfrm>
            <a:off x="7118318" y="4495800"/>
            <a:ext cx="4540282" cy="1676400"/>
            <a:chOff x="7118318" y="4495800"/>
            <a:chExt cx="4540282" cy="1676400"/>
          </a:xfrm>
        </p:grpSpPr>
        <p:sp>
          <p:nvSpPr>
            <p:cNvPr id="37" name="Rectangle 37"/>
            <p:cNvSpPr/>
            <p:nvPr/>
          </p:nvSpPr>
          <p:spPr>
            <a:xfrm>
              <a:off x="7118318" y="4495800"/>
              <a:ext cx="4540282" cy="1676400"/>
            </a:xfrm>
            <a:prstGeom prst="roundRect">
              <a:avLst>
                <a:gd name="adj" fmla="val 13636"/>
              </a:avLst>
            </a:prstGeom>
            <a:gradFill>
              <a:gsLst>
                <a:gs pos="0">
                  <a:srgbClr val="FFFDFB">
                    <a:alpha val="62000"/>
                  </a:srgbClr>
                </a:gs>
                <a:gs pos="48000">
                  <a:srgbClr val="FFFBF2">
                    <a:alpha val="55000"/>
                  </a:srgbClr>
                </a:gs>
                <a:gs pos="100000">
                  <a:srgbClr val="FFF5E4">
                    <a:alpha val="50000"/>
                  </a:srgbClr>
                </a:gs>
              </a:gsLst>
              <a:lin ang="2700000" scaled="1"/>
            </a:gradFill>
            <a:ln w="9525">
              <a:solidFill>
                <a:srgbClr val="BEB2A1">
                  <a:alpha val="45000"/>
                </a:srgbClr>
              </a:solidFill>
            </a:ln>
            <a:effectLst>
              <a:outerShdw blurRad="152400" dist="57150" dir="5400000" algn="ctr" rotWithShape="0">
                <a:srgbClr val="48341A">
                  <a:alpha val="9000"/>
                </a:srgbClr>
              </a:outerShdw>
            </a:effectLst>
          </p:spPr>
        </p:sp>
        <p:sp>
          <p:nvSpPr>
            <p:cNvPr id="38" name="Rectangle 38"/>
            <p:cNvSpPr/>
            <p:nvPr/>
          </p:nvSpPr>
          <p:spPr>
            <a:xfrm>
              <a:off x="7346918" y="4505325"/>
              <a:ext cx="1362075" cy="14288"/>
            </a:xfrm>
            <a:prstGeom prst="rect">
              <a:avLst/>
            </a:prstGeom>
            <a:gradFill>
              <a:gsLst>
                <a:gs pos="0">
                  <a:schemeClr val="lt2">
                    <a:alpha val="0"/>
                  </a:schemeClr>
                </a:gs>
                <a:gs pos="50000">
                  <a:schemeClr val="lt2">
                    <a:alpha val="95000"/>
                  </a:schemeClr>
                </a:gs>
                <a:gs pos="100000">
                  <a:schemeClr val="lt2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37774" y="47180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缺失处理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39298" y="5029200"/>
              <a:ext cx="2082165" cy="693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缺失记录保留为空值</a:t>
              </a:r>
            </a:p>
            <a:p>
              <a:pPr algn="l" marL="161925" indent="-161925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不按零处理，也不插补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221742" y="6521450"/>
            <a:ext cx="11672316" cy="264033"/>
            <a:chOff x="221742" y="6521450"/>
            <a:chExt cx="11672316" cy="264033"/>
          </a:xfrm>
        </p:grpSpPr>
        <p:sp>
          <p:nvSpPr>
            <p:cNvPr id="42" name="TextBox 42"/>
            <p:cNvSpPr txBox="1"/>
            <p:nvPr/>
          </p:nvSpPr>
          <p:spPr>
            <a:xfrm>
              <a:off x="221742" y="6521450"/>
              <a:ext cx="25307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产品中心-医学部｜2026年10月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471434" y="6521450"/>
              <a:ext cx="4226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4 / 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withEffect" decel="7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4" fill="hold" grpId="0" nodeType="withEffect" decel="70000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withEffect" decel="70000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withEffect" decel="70000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2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withEffect" decel="70000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47625" y="85725"/>
            <a:ext cx="847725" cy="657225"/>
            <a:chOff x="47625" y="85725"/>
            <a:chExt cx="847725" cy="657225"/>
          </a:xfrm>
        </p:grpSpPr>
        <p:sp xmlns:p="http://schemas.openxmlformats.org/presentationml/2006/main" xmlns:a="http://schemas.openxmlformats.org/drawingml/2006/main">
          <p:nvSpPr>
            <p:cNvPr id="62" name="kz-facet-o"/>
            <p:cNvSpPr/>
            <p:nvPr/>
          </p:nvSpPr>
          <p:spPr>
            <a:xfrm>
              <a:off x="228600" y="85725"/>
              <a:ext cx="666750" cy="590550"/>
            </a:xfrm>
            <a:custGeom>
              <a:avLst/>
              <a:gdLst/>
              <a:ahLst/>
              <a:cxnLst/>
              <a:rect l="l" t="t" r="r" b="b"/>
              <a:pathLst>
                <a:path w="666750" h="590550">
                  <a:moveTo>
                    <a:pt x="295275" y="0"/>
                  </a:moveTo>
                  <a:lnTo>
                    <a:pt x="666750" y="0"/>
                  </a:lnTo>
                  <a:lnTo>
                    <a:pt x="381000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FF9900">
                <a:alpha val="1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 xmlns:p="http://schemas.openxmlformats.org/presentationml/2006/main" xmlns:a="http://schemas.openxmlformats.org/drawingml/2006/main">
          <p:nvSpPr>
            <p:cNvPr id="63" name="kz-facet-y"/>
            <p:cNvSpPr/>
            <p:nvPr/>
          </p:nvSpPr>
          <p:spPr>
            <a:xfrm>
              <a:off x="47625" y="400050"/>
              <a:ext cx="381000" cy="342900"/>
            </a:xfrm>
            <a:custGeom>
              <a:avLst/>
              <a:gdLst/>
              <a:ahLst/>
              <a:cxnLst/>
              <a:rect l="l" t="t" r="r" b="b"/>
              <a:pathLst>
                <a:path w="381000" h="342900">
                  <a:moveTo>
                    <a:pt x="171450" y="0"/>
                  </a:moveTo>
                  <a:lnTo>
                    <a:pt x="381000" y="0"/>
                  </a:lnTo>
                  <a:lnTo>
                    <a:pt x="219075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CC00">
                <a:alpha val="1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 xmlns:p="http://schemas.openxmlformats.org/presentationml/2006/main" xmlns:a="http://schemas.openxmlformats.org/drawingml/2006/main">
          <p:nvSpPr>
            <p:cNvPr id="64" name="kz-facet-o-candy"/>
            <p:cNvSpPr/>
            <p:nvPr/>
          </p:nvSpPr>
          <p:spPr>
            <a:xfrm>
              <a:off x="239675" y="85725"/>
              <a:ext cx="644888" cy="590550"/>
            </a:xfrm>
            <a:custGeom>
              <a:avLst/>
              <a:gdLst/>
              <a:ahLst/>
              <a:cxnLst/>
              <a:rect l="l" t="t" r="r" b="b"/>
              <a:pathLst>
                <a:path w="644888" h="590550">
                  <a:moveTo>
                    <a:pt x="273125" y="22150"/>
                  </a:moveTo>
                  <a:lnTo>
                    <a:pt x="308965" y="0"/>
                  </a:lnTo>
                  <a:lnTo>
                    <a:pt x="630910" y="0"/>
                  </a:lnTo>
                  <a:lnTo>
                    <a:pt x="644888" y="22292"/>
                  </a:lnTo>
                  <a:lnTo>
                    <a:pt x="380712" y="568258"/>
                  </a:lnTo>
                  <a:lnTo>
                    <a:pt x="345160" y="590550"/>
                  </a:lnTo>
                  <a:lnTo>
                    <a:pt x="13690" y="590550"/>
                  </a:lnTo>
                  <a:lnTo>
                    <a:pt x="0" y="568400"/>
                  </a:lnTo>
                  <a:close/>
                </a:path>
              </a:pathLst>
            </a:custGeom>
            <a:gradFill rotWithShape="1">
              <a:gsLst>
                <a:gs pos="0">
                  <a:srgbClr val="FFC65A"/>
                </a:gs>
                <a:gs pos="47000">
                  <a:srgbClr val="FF9B12"/>
                </a:gs>
                <a:gs pos="100000">
                  <a:srgbClr val="EC7A00"/>
                </a:gs>
              </a:gsLst>
              <a:lin ang="2700000" scaled="1"/>
            </a:gradFill>
            <a:ln>
              <a:noFill/>
            </a:ln>
            <a:effectLst>
              <a:outerShdw blurRad="27940" dist="10160" dir="2700000" algn="ctr" rotWithShape="0">
                <a:srgbClr val="D98213">
                  <a:alpha val="14000"/>
                </a:srgbClr>
              </a:outerShdw>
              <a:softEdge rad="4445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 xmlns:p="http://schemas.openxmlformats.org/presentationml/2006/main" xmlns:a="http://schemas.openxmlformats.org/drawingml/2006/main">
          <p:nvSpPr>
            <p:cNvPr id="65" name="kz-facet-y-candy"/>
            <p:cNvSpPr/>
            <p:nvPr/>
          </p:nvSpPr>
          <p:spPr>
            <a:xfrm>
              <a:off x="55292" y="400050"/>
              <a:ext cx="366012" cy="342900"/>
            </a:xfrm>
            <a:custGeom>
              <a:avLst/>
              <a:gdLst/>
              <a:ahLst/>
              <a:cxnLst/>
              <a:rect l="l" t="t" r="r" b="b"/>
              <a:pathLst>
                <a:path w="366012" h="342900">
                  <a:moveTo>
                    <a:pt x="156116" y="15335"/>
                  </a:moveTo>
                  <a:lnTo>
                    <a:pt x="180928" y="0"/>
                  </a:lnTo>
                  <a:lnTo>
                    <a:pt x="356188" y="0"/>
                  </a:lnTo>
                  <a:lnTo>
                    <a:pt x="366012" y="15503"/>
                  </a:lnTo>
                  <a:lnTo>
                    <a:pt x="218729" y="327397"/>
                  </a:lnTo>
                  <a:lnTo>
                    <a:pt x="194263" y="342900"/>
                  </a:lnTo>
                  <a:lnTo>
                    <a:pt x="9478" y="342900"/>
                  </a:lnTo>
                  <a:lnTo>
                    <a:pt x="0" y="327565"/>
                  </a:lnTo>
                  <a:close/>
                </a:path>
              </a:pathLst>
            </a:custGeom>
            <a:gradFill rotWithShape="1">
              <a:gsLst>
                <a:gs pos="0">
                  <a:srgbClr val="FFF07A"/>
                </a:gs>
                <a:gs pos="47000">
                  <a:srgbClr val="FFD21A"/>
                </a:gs>
                <a:gs pos="100000">
                  <a:srgbClr val="EFB600"/>
                </a:gs>
              </a:gsLst>
              <a:lin ang="2700000" scaled="1"/>
            </a:gradFill>
            <a:ln>
              <a:noFill/>
            </a:ln>
            <a:effectLst>
              <a:outerShdw blurRad="27940" dist="10160" dir="2700000" algn="ctr" rotWithShape="0">
                <a:srgbClr val="D8A500">
                  <a:alpha val="14000"/>
                </a:srgbClr>
              </a:outerShdw>
              <a:softEdge rad="4445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" name="title"/>
          <p:cNvGrpSpPr/>
          <p:nvPr/>
        </p:nvGrpSpPr>
        <p:grpSpPr>
          <a:xfrm>
            <a:off x="854583" y="241300"/>
            <a:ext cx="1316736" cy="469392"/>
            <a:chOff x="854583" y="241300"/>
            <a:chExt cx="1316736" cy="469392"/>
          </a:xfrm>
        </p:grpSpPr>
        <p:sp>
          <p:nvSpPr>
            <p:cNvPr id="8" name="TextBox 8"/>
            <p:cNvSpPr txBox="1"/>
            <p:nvPr/>
          </p:nvSpPr>
          <p:spPr>
            <a:xfrm>
              <a:off x="854583" y="2413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核对计划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14350" y="762000"/>
            <a:ext cx="11458575" cy="9525"/>
          </a:xfrm>
          <a:custGeom>
            <a:avLst/>
            <a:gdLst/>
            <a:ahLst/>
            <a:cxnLst/>
            <a:rect l="l" t="t" r="r" b="b"/>
            <a:pathLst>
              <a:path w="11458575" h="9525">
                <a:moveTo>
                  <a:pt x="0" y="0"/>
                </a:moveTo>
                <a:lnTo>
                  <a:pt x="11458575" y="0"/>
                </a:lnTo>
              </a:path>
            </a:pathLst>
          </a:custGeom>
          <a:noFill/>
          <a:ln w="14288">
            <a:solidFill>
              <a:schemeClr val="accent1"/>
            </a:solidFill>
          </a:ln>
        </p:spPr>
      </p:sp>
      <p:pic>
        <p:nvPicPr>
          <p:cNvPr id="11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275" y="428625"/>
            <a:ext cx="1504950" cy="314325"/>
          </a:xfrm>
          <a:prstGeom prst="rect">
            <a:avLst/>
          </a:prstGeom>
        </p:spPr>
      </p:pic>
      <p:sp>
        <p:nvSpPr>
          <p:cNvPr id="12" name="plan-card-shell"/>
          <p:cNvSpPr/>
          <p:nvPr/>
        </p:nvSpPr>
        <p:spPr>
          <a:xfrm>
            <a:off x="533400" y="1028700"/>
            <a:ext cx="11125200" cy="5143500"/>
          </a:xfrm>
          <a:prstGeom prst="roundRect">
            <a:avLst>
              <a:gd name="adj" fmla="val 4444"/>
            </a:avLst>
          </a:prstGeom>
          <a:gradFill>
            <a:gsLst>
              <a:gs pos="0">
                <a:srgbClr val="FFFDFB">
                  <a:alpha val="62000"/>
                </a:srgbClr>
              </a:gs>
              <a:gs pos="48000">
                <a:srgbClr val="FFFBF2">
                  <a:alpha val="55000"/>
                </a:srgbClr>
              </a:gs>
              <a:gs pos="100000">
                <a:srgbClr val="FFF5E4">
                  <a:alpha val="50000"/>
                </a:srgbClr>
              </a:gs>
            </a:gsLst>
            <a:lin ang="2700000" scaled="1"/>
          </a:gradFill>
          <a:ln w="9525">
            <a:solidFill>
              <a:srgbClr val="BEB2A1">
                <a:alpha val="45000"/>
              </a:srgbClr>
            </a:solidFill>
          </a:ln>
          <a:effectLst>
            <a:outerShdw blurRad="152400" dist="57150" dir="5400000" algn="ctr" rotWithShape="0">
              <a:srgbClr val="48341A">
                <a:alpha val="9000"/>
              </a:srgbClr>
            </a:outerShdw>
          </a:effectLst>
        </p:spPr>
      </p:sp>
      <p:sp>
        <p:nvSpPr>
          <p:cNvPr id="13" name="plan-card-glint"/>
          <p:cNvSpPr/>
          <p:nvPr/>
        </p:nvSpPr>
        <p:spPr>
          <a:xfrm>
            <a:off x="762000" y="1038225"/>
            <a:ext cx="3333750" cy="14288"/>
          </a:xfrm>
          <a:prstGeom prst="rect">
            <a:avLst/>
          </a:prstGeom>
          <a:gradFill>
            <a:gsLst>
              <a:gs pos="0">
                <a:schemeClr val="lt2">
                  <a:alpha val="0"/>
                </a:schemeClr>
              </a:gs>
              <a:gs pos="50000">
                <a:schemeClr val="lt2">
                  <a:alpha val="95000"/>
                </a:schemeClr>
              </a:gs>
              <a:gs pos="100000">
                <a:schemeClr val="l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16" name="plan-card"/>
          <p:cNvGrpSpPr/>
          <p:nvPr/>
        </p:nvGrpSpPr>
        <p:grpSpPr>
          <a:xfrm>
            <a:off x="752856" y="1270000"/>
            <a:ext cx="10683240" cy="352044"/>
            <a:chOff x="752856" y="1270000"/>
            <a:chExt cx="10683240" cy="352044"/>
          </a:xfrm>
        </p:grpSpPr>
        <p:sp>
          <p:nvSpPr>
            <p:cNvPr id="14" name="TextBox 14"/>
            <p:cNvSpPr txBox="1"/>
            <p:nvPr/>
          </p:nvSpPr>
          <p:spPr>
            <a:xfrm>
              <a:off x="752856" y="12700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季度安排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54640" y="13335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合成示例数据</a:t>
              </a:r>
            </a:p>
          </p:txBody>
        </p:sp>
      </p:grpSp>
      <p:grpSp>
        <p:nvGrpSpPr>
          <p:cNvPr id="49" name="check-plan-gantt"/>
          <p:cNvGrpSpPr/>
          <p:nvPr/>
        </p:nvGrpSpPr>
        <p:grpSpPr>
          <a:xfrm>
            <a:off x="754380" y="1676400"/>
            <a:ext cx="10675620" cy="3438525"/>
            <a:chOff x="754380" y="1676400"/>
            <a:chExt cx="10675620" cy="3438525"/>
          </a:xfrm>
        </p:grpSpPr>
        <p:grpSp>
          <p:nvGrpSpPr>
            <p:cNvPr id="20" name="Group 20"/>
            <p:cNvGrpSpPr/>
            <p:nvPr/>
          </p:nvGrpSpPr>
          <p:grpSpPr>
            <a:xfrm>
              <a:off x="4648581" y="1743075"/>
              <a:ext cx="5904738" cy="293370"/>
              <a:chOff x="4648581" y="1743075"/>
              <a:chExt cx="5904738" cy="293370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4648581" y="1743075"/>
                <a:ext cx="79933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0F1115"/>
                    </a:solidFill>
                    <a:latin typeface="+mn-lt"/>
                    <a:ea typeface="+mn-ea"/>
                    <a:cs typeface="+mn-cs"/>
                  </a:rPr>
                  <a:t>2026Q4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201281" y="1743075"/>
                <a:ext cx="79933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0F1115"/>
                    </a:solidFill>
                    <a:latin typeface="+mn-lt"/>
                    <a:ea typeface="+mn-ea"/>
                    <a:cs typeface="+mn-cs"/>
                  </a:rPr>
                  <a:t>2027Q1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753981" y="1743075"/>
                <a:ext cx="79933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0F1115"/>
                    </a:solidFill>
                    <a:latin typeface="+mn-lt"/>
                    <a:ea typeface="+mn-ea"/>
                    <a:cs typeface="+mn-cs"/>
                  </a:rPr>
                  <a:t>2027Q2</a:t>
                </a:r>
              </a:p>
            </p:txBody>
          </p:sp>
        </p:grpSp>
        <p:grpSp>
          <p:nvGrpSpPr>
            <p:cNvPr id="48" name="check-plan-gantt-chartArea"/>
            <p:cNvGrpSpPr/>
            <p:nvPr/>
          </p:nvGrpSpPr>
          <p:grpSpPr>
            <a:xfrm>
              <a:off x="754380" y="1676400"/>
              <a:ext cx="10675620" cy="3438525"/>
              <a:chOff x="754380" y="1676400"/>
              <a:chExt cx="10675620" cy="3438525"/>
            </a:xfrm>
          </p:grpSpPr>
          <p:grpSp>
            <p:nvGrpSpPr>
              <p:cNvPr id="28" name="plan-grid"/>
              <p:cNvGrpSpPr/>
              <p:nvPr/>
            </p:nvGrpSpPr>
            <p:grpSpPr>
              <a:xfrm>
                <a:off x="762000" y="1676400"/>
                <a:ext cx="10668000" cy="3429000"/>
                <a:chOff x="762000" y="1676400"/>
                <a:chExt cx="10668000" cy="3429000"/>
              </a:xfrm>
            </p:grpSpPr>
            <p:sp>
              <p:nvSpPr>
                <p:cNvPr id="21" name="Line 21"/>
                <p:cNvSpPr/>
                <p:nvPr/>
              </p:nvSpPr>
              <p:spPr>
                <a:xfrm>
                  <a:off x="762000" y="2057400"/>
                  <a:ext cx="10668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68000" h="9525">
                      <a:moveTo>
                        <a:pt x="0" y="0"/>
                      </a:moveTo>
                      <a:lnTo>
                        <a:pt x="10668000" y="0"/>
                      </a:lnTo>
                    </a:path>
                  </a:pathLst>
                </a:custGeom>
                <a:noFill/>
                <a:ln w="9525">
                  <a:solidFill>
                    <a:srgbClr val="E7EBEE"/>
                  </a:solidFill>
                </a:ln>
              </p:spPr>
            </p:sp>
            <p:sp>
              <p:nvSpPr>
                <p:cNvPr id="22" name="Line 22"/>
                <p:cNvSpPr/>
                <p:nvPr/>
              </p:nvSpPr>
              <p:spPr>
                <a:xfrm>
                  <a:off x="762000" y="2667000"/>
                  <a:ext cx="10668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68000" h="9525">
                      <a:moveTo>
                        <a:pt x="0" y="0"/>
                      </a:moveTo>
                      <a:lnTo>
                        <a:pt x="10668000" y="0"/>
                      </a:lnTo>
                    </a:path>
                  </a:pathLst>
                </a:custGeom>
                <a:noFill/>
                <a:ln w="9525">
                  <a:solidFill>
                    <a:srgbClr val="E7EBEE"/>
                  </a:solidFill>
                </a:ln>
              </p:spPr>
            </p:sp>
            <p:sp>
              <p:nvSpPr>
                <p:cNvPr id="23" name="Line 23"/>
                <p:cNvSpPr/>
                <p:nvPr/>
              </p:nvSpPr>
              <p:spPr>
                <a:xfrm>
                  <a:off x="762000" y="3276600"/>
                  <a:ext cx="10668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68000" h="9525">
                      <a:moveTo>
                        <a:pt x="0" y="0"/>
                      </a:moveTo>
                      <a:lnTo>
                        <a:pt x="10668000" y="0"/>
                      </a:lnTo>
                    </a:path>
                  </a:pathLst>
                </a:custGeom>
                <a:noFill/>
                <a:ln w="9525">
                  <a:solidFill>
                    <a:srgbClr val="E7EBEE"/>
                  </a:solidFill>
                </a:ln>
              </p:spPr>
            </p:sp>
            <p:sp>
              <p:nvSpPr>
                <p:cNvPr id="24" name="Line 24"/>
                <p:cNvSpPr/>
                <p:nvPr/>
              </p:nvSpPr>
              <p:spPr>
                <a:xfrm>
                  <a:off x="762000" y="3886200"/>
                  <a:ext cx="10668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68000" h="9525">
                      <a:moveTo>
                        <a:pt x="0" y="0"/>
                      </a:moveTo>
                      <a:lnTo>
                        <a:pt x="10668000" y="0"/>
                      </a:lnTo>
                    </a:path>
                  </a:pathLst>
                </a:custGeom>
                <a:noFill/>
                <a:ln w="9525">
                  <a:solidFill>
                    <a:srgbClr val="E7EBEE"/>
                  </a:solidFill>
                </a:ln>
              </p:spPr>
            </p:sp>
            <p:sp>
              <p:nvSpPr>
                <p:cNvPr id="25" name="Line 25"/>
                <p:cNvSpPr/>
                <p:nvPr/>
              </p:nvSpPr>
              <p:spPr>
                <a:xfrm>
                  <a:off x="762000" y="4495800"/>
                  <a:ext cx="10668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68000" h="9525">
                      <a:moveTo>
                        <a:pt x="0" y="0"/>
                      </a:moveTo>
                      <a:lnTo>
                        <a:pt x="10668000" y="0"/>
                      </a:lnTo>
                    </a:path>
                  </a:pathLst>
                </a:custGeom>
                <a:noFill/>
                <a:ln w="9525">
                  <a:solidFill>
                    <a:srgbClr val="E7EBEE"/>
                  </a:solidFill>
                </a:ln>
              </p:spPr>
            </p:sp>
            <p:sp>
              <p:nvSpPr>
                <p:cNvPr id="26" name="Line 26"/>
                <p:cNvSpPr/>
                <p:nvPr/>
              </p:nvSpPr>
              <p:spPr>
                <a:xfrm>
                  <a:off x="6324600" y="1676400"/>
                  <a:ext cx="9525" cy="342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429000">
                      <a:moveTo>
                        <a:pt x="0" y="0"/>
                      </a:moveTo>
                      <a:lnTo>
                        <a:pt x="0" y="3429000"/>
                      </a:lnTo>
                    </a:path>
                  </a:pathLst>
                </a:custGeom>
                <a:noFill/>
                <a:ln w="9525">
                  <a:solidFill>
                    <a:srgbClr val="E7EBEE"/>
                  </a:solidFill>
                </a:ln>
              </p:spPr>
            </p:sp>
            <p:sp>
              <p:nvSpPr>
                <p:cNvPr id="27" name="Line 27"/>
                <p:cNvSpPr/>
                <p:nvPr/>
              </p:nvSpPr>
              <p:spPr>
                <a:xfrm>
                  <a:off x="8877300" y="1676400"/>
                  <a:ext cx="9525" cy="342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429000">
                      <a:moveTo>
                        <a:pt x="0" y="0"/>
                      </a:moveTo>
                      <a:lnTo>
                        <a:pt x="0" y="3429000"/>
                      </a:lnTo>
                    </a:path>
                  </a:pathLst>
                </a:custGeom>
                <a:noFill/>
                <a:ln w="9525">
                  <a:solidFill>
                    <a:srgbClr val="E7EBEE"/>
                  </a:solidFill>
                </a:ln>
              </p:spPr>
            </p:sp>
          </p:grpSp>
          <p:sp>
            <p:nvSpPr>
              <p:cNvPr id="29" name="Line 29"/>
              <p:cNvSpPr/>
              <p:nvPr/>
            </p:nvSpPr>
            <p:spPr>
              <a:xfrm>
                <a:off x="762000" y="5105400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19050">
                <a:solidFill>
                  <a:schemeClr val="accent6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3771900" y="1676400"/>
                <a:ext cx="9525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29000">
                    <a:moveTo>
                      <a:pt x="0" y="0"/>
                    </a:moveTo>
                    <a:lnTo>
                      <a:pt x="0" y="342900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754380" y="2127250"/>
                <a:ext cx="1428750" cy="2731770"/>
                <a:chOff x="754380" y="2127250"/>
                <a:chExt cx="1428750" cy="2731770"/>
              </a:xfrm>
            </p:grpSpPr>
            <p:sp>
              <p:nvSpPr>
                <p:cNvPr id="31" name="TextBox 31"/>
                <p:cNvSpPr txBox="1"/>
                <p:nvPr/>
              </p:nvSpPr>
              <p:spPr>
                <a:xfrm>
                  <a:off x="754380" y="2127250"/>
                  <a:ext cx="122682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dirty="0">
                      <a:solidFill>
                        <a:srgbClr val="0F1115"/>
                      </a:solidFill>
                      <a:latin typeface="+mn-lt"/>
                      <a:ea typeface="+mn-ea"/>
                      <a:cs typeface="+mn-cs"/>
                    </a:rPr>
                    <a:t>缺失资料补收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754380" y="2736850"/>
                  <a:ext cx="122682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dirty="0">
                      <a:solidFill>
                        <a:srgbClr val="0F1115"/>
                      </a:solidFill>
                      <a:latin typeface="+mn-lt"/>
                      <a:ea typeface="+mn-ea"/>
                      <a:cs typeface="+mn-cs"/>
                    </a:rPr>
                    <a:t>版本差异确认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754380" y="3346450"/>
                  <a:ext cx="102489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dirty="0">
                      <a:solidFill>
                        <a:srgbClr val="0F1115"/>
                      </a:solidFill>
                      <a:latin typeface="+mn-lt"/>
                      <a:ea typeface="+mn-ea"/>
                      <a:cs typeface="+mn-cs"/>
                    </a:rPr>
                    <a:t>完整性复核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754380" y="3956050"/>
                  <a:ext cx="142875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dirty="0">
                      <a:solidFill>
                        <a:srgbClr val="0F1115"/>
                      </a:solidFill>
                      <a:latin typeface="+mn-lt"/>
                      <a:ea typeface="+mn-ea"/>
                      <a:cs typeface="+mn-cs"/>
                    </a:rPr>
                    <a:t>安全性报告核对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754380" y="4565650"/>
                  <a:ext cx="122682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dirty="0">
                      <a:solidFill>
                        <a:srgbClr val="0F1115"/>
                      </a:solidFill>
                      <a:latin typeface="+mn-lt"/>
                      <a:ea typeface="+mn-ea"/>
                      <a:cs typeface="+mn-cs"/>
                    </a:rPr>
                    <a:t>审阅意见形成</a:t>
                  </a:r>
                </a:p>
              </p:txBody>
            </p:sp>
          </p:grpSp>
          <p:grpSp>
            <p:nvGrpSpPr>
              <p:cNvPr id="42" name="Group 42"/>
              <p:cNvGrpSpPr/>
              <p:nvPr/>
            </p:nvGrpSpPr>
            <p:grpSpPr>
              <a:xfrm>
                <a:off x="755904" y="2381250"/>
                <a:ext cx="496824" cy="2673096"/>
                <a:chOff x="755904" y="2381250"/>
                <a:chExt cx="496824" cy="2673096"/>
              </a:xfrm>
            </p:grpSpPr>
            <p:sp>
              <p:nvSpPr>
                <p:cNvPr id="37" name="TextBox 37"/>
                <p:cNvSpPr txBox="1"/>
                <p:nvPr/>
              </p:nvSpPr>
              <p:spPr>
                <a:xfrm>
                  <a:off x="755904" y="2381250"/>
                  <a:ext cx="49682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医学部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755904" y="2990850"/>
                  <a:ext cx="49682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医学部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755904" y="3600450"/>
                  <a:ext cx="33528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数统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755904" y="4210050"/>
                  <a:ext cx="19994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PV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755904" y="4819650"/>
                  <a:ext cx="49682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医学部</a:t>
                  </a:r>
                </a:p>
              </p:txBody>
            </p:sp>
          </p:grpSp>
          <p:sp>
            <p:nvSpPr>
              <p:cNvPr id="43" name="Rectangle 43"/>
              <p:cNvSpPr/>
              <p:nvPr/>
            </p:nvSpPr>
            <p:spPr>
              <a:xfrm>
                <a:off x="3848100" y="2228850"/>
                <a:ext cx="4953000" cy="266700"/>
              </a:xfrm>
              <a:prstGeom prst="roundRect">
                <a:avLst>
                  <a:gd name="adj" fmla="val 2857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6400800" y="2838450"/>
                <a:ext cx="2400300" cy="266700"/>
              </a:xfrm>
              <a:prstGeom prst="roundRect">
                <a:avLst>
                  <a:gd name="adj" fmla="val 2857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6400800" y="3448050"/>
                <a:ext cx="495300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587B3B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6400800" y="4057650"/>
                <a:ext cx="495300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A85F34"/>
              </a:soli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8953500" y="4667250"/>
                <a:ext cx="2400300" cy="266700"/>
              </a:xfrm>
              <a:prstGeom prst="roundRect">
                <a:avLst>
                  <a:gd name="adj" fmla="val 2857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</p:grpSp>
      </p:grpSp>
      <p:grpSp>
        <p:nvGrpSpPr>
          <p:cNvPr id="56" name="plan-legend"/>
          <p:cNvGrpSpPr/>
          <p:nvPr/>
        </p:nvGrpSpPr>
        <p:grpSpPr>
          <a:xfrm>
            <a:off x="762000" y="5314950"/>
            <a:ext cx="1965503" cy="234696"/>
            <a:chOff x="762000" y="5314950"/>
            <a:chExt cx="1965503" cy="234696"/>
          </a:xfrm>
        </p:grpSpPr>
        <p:sp>
          <p:nvSpPr>
            <p:cNvPr id="50" name="Rectangle 50"/>
            <p:cNvSpPr/>
            <p:nvPr/>
          </p:nvSpPr>
          <p:spPr>
            <a:xfrm>
              <a:off x="762000" y="5353050"/>
              <a:ext cx="152400" cy="1143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65454" y="53149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医学部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619250" y="5353050"/>
              <a:ext cx="152400" cy="114300"/>
            </a:xfrm>
            <a:prstGeom prst="roundRect">
              <a:avLst>
                <a:gd name="adj" fmla="val 25000"/>
              </a:avLst>
            </a:prstGeom>
            <a:solidFill>
              <a:srgbClr val="587B3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822704" y="53149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数统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324100" y="5353050"/>
              <a:ext cx="152400" cy="114300"/>
            </a:xfrm>
            <a:prstGeom prst="roundRect">
              <a:avLst>
                <a:gd name="adj" fmla="val 25000"/>
              </a:avLst>
            </a:prstGeom>
            <a:solidFill>
              <a:srgbClr val="A85F34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527554" y="531495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PV</a:t>
              </a:r>
            </a:p>
          </p:txBody>
        </p:sp>
      </p:grpSp>
      <p:grpSp>
        <p:nvGrpSpPr>
          <p:cNvPr id="58" name="plan-takeaway"/>
          <p:cNvGrpSpPr/>
          <p:nvPr/>
        </p:nvGrpSpPr>
        <p:grpSpPr>
          <a:xfrm>
            <a:off x="754380" y="5727700"/>
            <a:ext cx="8472221" cy="293370"/>
            <a:chOff x="754380" y="5727700"/>
            <a:chExt cx="8472221" cy="293370"/>
          </a:xfrm>
        </p:grpSpPr>
        <p:sp>
          <p:nvSpPr>
            <p:cNvPr id="57" name="TextBox 57"/>
            <p:cNvSpPr txBox="1"/>
            <p:nvPr/>
          </p:nvSpPr>
          <p:spPr>
            <a:xfrm>
              <a:off x="754380" y="5727700"/>
              <a:ext cx="84722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补收与版本差异确认</a:t>
              </a:r>
              <a:r>
                <a:rPr lang="zh-CN" sz="15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在 2027Q1 内完成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，复核、安全性报告核对与审阅意见在 2027Q2 内完成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221742" y="6521450"/>
            <a:ext cx="11672316" cy="264033"/>
            <a:chOff x="221742" y="6521450"/>
            <a:chExt cx="11672316" cy="264033"/>
          </a:xfrm>
        </p:grpSpPr>
        <p:sp>
          <p:nvSpPr>
            <p:cNvPr id="59" name="TextBox 59"/>
            <p:cNvSpPr txBox="1"/>
            <p:nvPr/>
          </p:nvSpPr>
          <p:spPr>
            <a:xfrm>
              <a:off x="221742" y="6521450"/>
              <a:ext cx="25307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产品中心-医学部｜2026年10月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471434" y="6521450"/>
              <a:ext cx="4226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5 / 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withEffect" decel="7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8" fill="hold" grpId="0" nodeType="withEffect" decel="70000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withEffect" decel="70000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withEffect" decel="70000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ns2="http://schemas.openxmlformats.org/officeDocument/2006/relationships" xmlns:ns3="http://schemas.microsoft.com/office/powerpoint/2010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-image"/>
          <p:cNvPicPr>
            <a:picLocks noChangeAspect="1"/>
          </p:cNvPicPr>
          <p:nvPr/>
        </p:nvPicPr>
        <p:blipFill>
          <a:blip ns2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533400" y="419100"/>
            <a:ext cx="2286000" cy="476250"/>
          </a:xfrm>
          <a:prstGeom prst="rect">
            <a:avLst/>
          </a:prstGeom>
        </p:spPr>
      </p:pic>
      <p:grpSp>
        <p:nvGrpSpPr>
          <p:cNvPr id="5" name="ending-title"/>
          <p:cNvGrpSpPr/>
          <p:nvPr/>
        </p:nvGrpSpPr>
        <p:grpSpPr>
          <a:xfrm>
            <a:off x="857250" y="1691640"/>
            <a:ext cx="6338316" cy="1504950"/>
            <a:chOff x="857250" y="1691640"/>
            <a:chExt cx="6338316" cy="1504950"/>
          </a:xfrm>
        </p:grpSpPr>
        <p:sp>
          <p:nvSpPr>
            <p:cNvPr id="4" name="TextBox 4"/>
            <p:cNvSpPr txBox="1"/>
            <p:nvPr/>
          </p:nvSpPr>
          <p:spPr>
            <a:xfrm>
              <a:off x="876300" y="1752600"/>
              <a:ext cx="10439400" cy="1314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9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78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请确认两件事</a:t>
              </a:r>
            </a:p>
          </p:txBody>
        </p:sp>
      </p:grpSp>
      <p:grpSp>
        <p:nvGrpSpPr>
          <p:cNvPr id="7" name="ending-subtitle"/>
          <p:cNvGrpSpPr/>
          <p:nvPr/>
        </p:nvGrpSpPr>
        <p:grpSpPr>
          <a:xfrm>
            <a:off x="865632" y="3167380"/>
            <a:ext cx="9029662" cy="410718"/>
            <a:chOff x="865632" y="3167380"/>
            <a:chExt cx="9029662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876300" y="3181350"/>
              <a:ext cx="104394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2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 份资料由医学部牵头，2027Q1 内补收；版本差异确认后再做组间比较</a:t>
              </a:r>
            </a:p>
          </p:txBody>
        </p:sp>
      </p:grpSp>
      <p:grpSp>
        <p:nvGrpSpPr>
          <p:cNvPr id="9" name="ending-meta"/>
          <p:cNvGrpSpPr/>
          <p:nvPr/>
        </p:nvGrpSpPr>
        <p:grpSpPr>
          <a:xfrm>
            <a:off x="868680" y="3746500"/>
            <a:ext cx="2811971" cy="293370"/>
            <a:chOff x="868680" y="3746500"/>
            <a:chExt cx="2811971" cy="293370"/>
          </a:xfrm>
        </p:grpSpPr>
        <p:sp>
          <p:nvSpPr>
            <p:cNvPr id="8" name="TextBox 8"/>
            <p:cNvSpPr txBox="1"/>
            <p:nvPr/>
          </p:nvSpPr>
          <p:spPr>
            <a:xfrm>
              <a:off x="876300" y="3752850"/>
              <a:ext cx="104394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187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产品中心-医学部｜2026年10月</a:t>
              </a:r>
            </a:p>
          </p:txBody>
        </p:sp>
      </p:grpSp>
    </p:spTree>
  </p:cSld>
  <p:clrMapOvr>
    <a:masterClrMapping/>
  </p:clrMapOvr>
  <p:transition ns3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decel="7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 decel="70000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"/>
                            </p:stCondLst>
                            <p:childTnLst>
                              <p:par>
                                <p:cTn id="13" presetID="10" presetClass="entr" presetSubtype="0" fill="hold" grpId="0" nodeType="withEffect" decel="70000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kangzhe_integrity">
  <a:themeElements>
    <a:clrScheme name="kangzhe_integrity">
      <a:dk1>
        <a:srgbClr val="404040"/>
      </a:dk1>
      <a:lt1>
        <a:srgbClr val="FBFCFD"/>
      </a:lt1>
      <a:dk2>
        <a:srgbClr val="1F497D"/>
      </a:dk2>
      <a:lt2>
        <a:srgbClr val="FFFFFF"/>
      </a:lt2>
      <a:accent1>
        <a:srgbClr val="FF9900"/>
      </a:accent1>
      <a:accent2>
        <a:srgbClr val="FFCC00"/>
      </a:accent2>
      <a:accent3>
        <a:srgbClr val="C00000"/>
      </a:accent3>
      <a:accent4>
        <a:srgbClr val="FF9900"/>
      </a:accent4>
      <a:accent5>
        <a:srgbClr val="64676B"/>
      </a:accent5>
      <a:accent6>
        <a:srgbClr val="CED3D8"/>
      </a:accent6>
      <a:hlink>
        <a:srgbClr val="FFCC00"/>
      </a:hlink>
      <a:folHlink>
        <a:srgbClr val="C00000"/>
      </a:folHlink>
    </a:clrScheme>
    <a:fontScheme name="kangzhe_integrit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gzhe_integ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kangzhe_integrity">
  <a:themeElements>
    <a:clrScheme name="kangzhe_integrity">
      <a:dk1>
        <a:srgbClr val="404040"/>
      </a:dk1>
      <a:lt1>
        <a:srgbClr val="FBFCFD"/>
      </a:lt1>
      <a:dk2>
        <a:srgbClr val="1F497D"/>
      </a:dk2>
      <a:lt2>
        <a:srgbClr val="FFFFFF"/>
      </a:lt2>
      <a:accent1>
        <a:srgbClr val="FF9900"/>
      </a:accent1>
      <a:accent2>
        <a:srgbClr val="FFCC00"/>
      </a:accent2>
      <a:accent3>
        <a:srgbClr val="C00000"/>
      </a:accent3>
      <a:accent4>
        <a:srgbClr val="FF9900"/>
      </a:accent4>
      <a:accent5>
        <a:srgbClr val="64676B"/>
      </a:accent5>
      <a:accent6>
        <a:srgbClr val="CED3D8"/>
      </a:accent6>
      <a:hlink>
        <a:srgbClr val="FFCC00"/>
      </a:hlink>
      <a:folHlink>
        <a:srgbClr val="C00000"/>
      </a:folHlink>
    </a:clrScheme>
    <a:fontScheme name="kangzhe_integrit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gzhe_integ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2026-10-24T03:57:16Z</dcterms:created>
  <dcterms:modified xsi:type="dcterms:W3CDTF">2026-10-24T03:57:16Z</dcterms:modified>
  <cp:category/>
  <cp:contentStatus/>
</cp:coreProperties>
</file>