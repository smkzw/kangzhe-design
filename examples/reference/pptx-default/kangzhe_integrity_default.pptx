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40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charts/_rels/chart40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1.xlsx"/>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581273336116"/>
          <c:y val="0.0280373831776"/>
          <c:w val="0.941872666388"/>
          <c:h val="0.8831775700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应收</c:v>
                </c:pt>
              </c:strCache>
            </c:strRef>
          </c:tx>
          <c:spPr>
            <a:solidFill>
              <a:srgbClr val="6E7B8C"/>
            </a:solidFill>
            <a:ln>
              <a:solidFill>
                <a:srgbClr val="6E7B8C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12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已收</c:v>
                </c:pt>
              </c:strCache>
            </c:strRef>
          </c:tx>
          <c:spPr>
            <a:solidFill>
              <a:srgbClr val="D46B08"/>
            </a:solidFill>
            <a:ln>
              <a:solidFill>
                <a:srgbClr val="D46B08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lang="zh-CN" sz="1200">
                  <a:solidFill>
                    <a:srgbClr val="404040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5"/>
          <c:min val="0"/>
        </c:scaling>
        <c:delete val="0"/>
        <c:axPos val="l"/>
        <c:majorGridlines>
          <c:spPr>
            <a:ln w="6350" cap="flat" cmpd="sng" algn="ctr">
              <a:solidFill>
                <a:srgbClr val="E7EBEE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zh-CN" sz="1200">
          <a:solidFill>
            <a:srgbClr val="404040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今天汇报研究资料包的完整性核对，应收 24 份、已收 20 份，需要会上定下补收和确认的安排。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分三部分：这次核对的范围，各组资料收齐了多少，以及补收、确认和复核的季度安排。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核对对象是成人受试者，评价时间窗是第 16 周。资料分 4 组：方案与修订、中心记录、实验室数据、安全性报告。方案有 V2.1 和 V2.3 两版，并排比下来有 2 处要确认：筛选窗口和终点评价时间点。这 2 项会影响后面的组间比较，所以确认之前先不比。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方案与修订、实验室数据已经收齐，缺口在两组：中心记录缺 3 份，安全性报告缺 1 份。缺的记录在数据里留空，不按零处理，也不插补，这样后面比较时缺口一直看得见。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关键节点是 2027 年一季度。缺的 4 份由医学部从今年四季度开始补收，一季度内补齐；两版方案的差异也在一季度内确认。数统的完整性复核和 PV 的安全性报告核对从一季度做到二季度，二季度由医学部形成审阅意见。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请确认两件事：缺的 4 份由医学部牵头在 2027 年一季度内补收，2 项版本差异确认后再做组间比较。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integrit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integrit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aa4f7119df6ff402.png"/><Relationship Id="rId3" Type="http://schemas.openxmlformats.org/officeDocument/2006/relationships/image" Target="../media/image_72d4f71d4224754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566c6ad9ed48562f.png"/><Relationship Id="rId3" Type="http://schemas.openxmlformats.org/officeDocument/2006/relationships/image" Target="../media/image_72d4f71d4224754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ce19777696202c35.png"/><Relationship Id="rId3" Type="http://schemas.openxmlformats.org/officeDocument/2006/relationships/image" Target="../media/image_72d4f71d4224754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ce19777696202c35.png"/><Relationship Id="rId3" Type="http://schemas.openxmlformats.org/officeDocument/2006/relationships/image" Target="../media/image_72d4f71d42247542.png"/><Relationship Id="rId4" Type="http://schemas.openxmlformats.org/officeDocument/2006/relationships/chart" Target="../charts/chart40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ce19777696202c35.png"/><Relationship Id="rId3" Type="http://schemas.openxmlformats.org/officeDocument/2006/relationships/image" Target="../media/image_72d4f71d4224754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33680aee0826cf66.png"/><Relationship Id="rId3" Type="http://schemas.openxmlformats.org/officeDocument/2006/relationships/image" Target="../media/image_72d4f71d42247542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381000"/>
            <a:ext cx="12192000" cy="6858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chemeClr val="lt1">
                  <a:alpha val="0"/>
                </a:scheme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6" name="cover-title"/>
          <p:cNvGrpSpPr/>
          <p:nvPr/>
        </p:nvGrpSpPr>
        <p:grpSpPr>
          <a:xfrm>
            <a:off x="857250" y="2277110"/>
            <a:ext cx="5126736" cy="819150"/>
            <a:chOff x="857250" y="2277110"/>
            <a:chExt cx="5126736" cy="819150"/>
          </a:xfrm>
        </p:grpSpPr>
        <p:sp>
          <p:nvSpPr>
            <p:cNvPr id="5" name="TextBox 5"/>
            <p:cNvSpPr txBox="1"/>
            <p:nvPr/>
          </p:nvSpPr>
          <p:spPr>
            <a:xfrm>
              <a:off x="876300" y="1562100"/>
              <a:ext cx="104394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b" anchorCtr="0">
              <a:noAutofit/>
            </a:bodyPr>
            <a:lstStyle/>
            <a:p>
              <a:pPr algn="l">
                <a:lnSpc>
                  <a:spcPts val="5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研究资料完整性核对</a:t>
              </a:r>
            </a:p>
          </p:txBody>
        </p:sp>
      </p:grpSp>
      <p:grpSp>
        <p:nvGrpSpPr>
          <p:cNvPr id="8" name="cover-subtitle"/>
          <p:cNvGrpSpPr/>
          <p:nvPr/>
        </p:nvGrpSpPr>
        <p:grpSpPr>
          <a:xfrm>
            <a:off x="865632" y="3053080"/>
            <a:ext cx="4374947" cy="410718"/>
            <a:chOff x="865632" y="3053080"/>
            <a:chExt cx="4374947" cy="410718"/>
          </a:xfrm>
        </p:grpSpPr>
        <p:sp>
          <p:nvSpPr>
            <p:cNvPr id="7" name="TextBox 7"/>
            <p:cNvSpPr txBox="1"/>
            <p:nvPr/>
          </p:nvSpPr>
          <p:spPr>
            <a:xfrm>
              <a:off x="876300" y="30670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合成示例｜应收 24 份，已收 20 份</a:t>
              </a:r>
            </a:p>
          </p:txBody>
        </p:sp>
      </p:grpSp>
      <p:grpSp>
        <p:nvGrpSpPr>
          <p:cNvPr id="10" name="cover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36385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85725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857250"/>
            <a:ext cx="12192000" cy="6858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chemeClr val="lt1">
                  <a:alpha val="0"/>
                </a:scheme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753600" y="431852"/>
            <a:ext cx="1905000" cy="393595"/>
          </a:xfrm>
          <a:prstGeom prst="rect">
            <a:avLst/>
          </a:prstGeom>
        </p:spPr>
      </p:pic>
      <p:grpSp>
        <p:nvGrpSpPr>
          <p:cNvPr id="6" name="toc-title"/>
          <p:cNvGrpSpPr/>
          <p:nvPr/>
        </p:nvGrpSpPr>
        <p:grpSpPr>
          <a:xfrm>
            <a:off x="629412" y="233680"/>
            <a:ext cx="1975104" cy="704088"/>
            <a:chOff x="629412" y="233680"/>
            <a:chExt cx="197510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647700" y="266700"/>
              <a:ext cx="8191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4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6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汇报章节</a:t>
              </a:r>
            </a:p>
          </p:txBody>
        </p:sp>
      </p:grpSp>
      <p:grpSp>
        <p:nvGrpSpPr>
          <p:cNvPr id="12" name="toc-card-1"/>
          <p:cNvGrpSpPr/>
          <p:nvPr/>
        </p:nvGrpSpPr>
        <p:grpSpPr>
          <a:xfrm>
            <a:off x="647700" y="1524000"/>
            <a:ext cx="3479768" cy="1295400"/>
            <a:chOff x="647700" y="1524000"/>
            <a:chExt cx="3479768" cy="1295400"/>
          </a:xfrm>
        </p:grpSpPr>
        <p:sp>
          <p:nvSpPr>
            <p:cNvPr id="7" name="Rectangle 7"/>
            <p:cNvSpPr/>
            <p:nvPr/>
          </p:nvSpPr>
          <p:spPr>
            <a:xfrm>
              <a:off x="647700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876300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763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40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63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对象、时间窗与资料组</a:t>
              </a:r>
            </a:p>
          </p:txBody>
        </p:sp>
      </p:grpSp>
      <p:grpSp>
        <p:nvGrpSpPr>
          <p:cNvPr id="18" name="toc-card-2"/>
          <p:cNvGrpSpPr/>
          <p:nvPr/>
        </p:nvGrpSpPr>
        <p:grpSpPr>
          <a:xfrm>
            <a:off x="4356068" y="1524000"/>
            <a:ext cx="3479768" cy="1295400"/>
            <a:chOff x="4356068" y="1524000"/>
            <a:chExt cx="3479768" cy="1295400"/>
          </a:xfrm>
        </p:grpSpPr>
        <p:sp>
          <p:nvSpPr>
            <p:cNvPr id="13" name="Rectangle 13"/>
            <p:cNvSpPr/>
            <p:nvPr/>
          </p:nvSpPr>
          <p:spPr>
            <a:xfrm>
              <a:off x="4356068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4" name="Freeform 14"/>
            <p:cNvSpPr/>
            <p:nvPr/>
          </p:nvSpPr>
          <p:spPr>
            <a:xfrm>
              <a:off x="4584668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47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324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847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应收与已收、缺口所在</a:t>
              </a:r>
            </a:p>
          </p:txBody>
        </p:sp>
      </p:grpSp>
      <p:grpSp>
        <p:nvGrpSpPr>
          <p:cNvPr id="24" name="toc-card-3"/>
          <p:cNvGrpSpPr/>
          <p:nvPr/>
        </p:nvGrpSpPr>
        <p:grpSpPr>
          <a:xfrm>
            <a:off x="8064532" y="1524000"/>
            <a:ext cx="3479768" cy="1295400"/>
            <a:chOff x="8064532" y="1524000"/>
            <a:chExt cx="3479768" cy="1295400"/>
          </a:xfrm>
        </p:grpSpPr>
        <p:sp>
          <p:nvSpPr>
            <p:cNvPr id="19" name="Rectangle 19"/>
            <p:cNvSpPr/>
            <p:nvPr/>
          </p:nvSpPr>
          <p:spPr>
            <a:xfrm>
              <a:off x="8064532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0" name="Freeform 20"/>
            <p:cNvSpPr/>
            <p:nvPr/>
          </p:nvSpPr>
          <p:spPr>
            <a:xfrm>
              <a:off x="8293132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931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408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931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补收、确认与复核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55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6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7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8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21" name="card-population"/>
          <p:cNvGrpSpPr/>
          <p:nvPr/>
        </p:nvGrpSpPr>
        <p:grpSpPr>
          <a:xfrm>
            <a:off x="533400" y="1628775"/>
            <a:ext cx="3555968" cy="2914650"/>
            <a:chOff x="533400" y="1628775"/>
            <a:chExt cx="3555968" cy="2914650"/>
          </a:xfrm>
        </p:grpSpPr>
        <p:sp>
          <p:nvSpPr>
            <p:cNvPr id="12" name="Rectangle 12"/>
            <p:cNvSpPr/>
            <p:nvPr/>
          </p:nvSpPr>
          <p:spPr>
            <a:xfrm>
              <a:off x="533400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18700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研究对象与时间窗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23145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8304" y="252412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研究对象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6780" y="28416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成人受试者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3813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8304" y="359092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评价时间窗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6780" y="3908425"/>
              <a:ext cx="7795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</a:p>
          </p:txBody>
        </p:sp>
      </p:grpSp>
      <p:grpSp>
        <p:nvGrpSpPr>
          <p:cNvPr id="35" name="card-documents"/>
          <p:cNvGrpSpPr/>
          <p:nvPr/>
        </p:nvGrpSpPr>
        <p:grpSpPr>
          <a:xfrm>
            <a:off x="4317968" y="1628775"/>
            <a:ext cx="3555968" cy="2914650"/>
            <a:chOff x="4317968" y="1628775"/>
            <a:chExt cx="3555968" cy="2914650"/>
          </a:xfrm>
        </p:grpSpPr>
        <p:sp>
          <p:nvSpPr>
            <p:cNvPr id="22" name="Rectangle 22"/>
            <p:cNvSpPr/>
            <p:nvPr/>
          </p:nvSpPr>
          <p:spPr>
            <a:xfrm>
              <a:off x="4317968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46568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537424" y="18700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纳入资料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30472" y="1933575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共 4 组</a:t>
              </a:r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4546568" y="2314575"/>
              <a:ext cx="3098864" cy="1981200"/>
              <a:chOff x="4546568" y="2314575"/>
              <a:chExt cx="3098864" cy="19812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546568" y="23145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4780216" y="26606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方案与修订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153150" y="23145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487763" y="2660650"/>
                <a:ext cx="8229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中心记录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46568" y="33813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780216" y="37274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实验室数据</a:t>
                </a: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6153150" y="33813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6386798" y="37274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安全性报告</a:t>
                </a:r>
              </a:p>
            </p:txBody>
          </p:sp>
        </p:grpSp>
      </p:grpSp>
      <p:grpSp>
        <p:nvGrpSpPr>
          <p:cNvPr id="47" name="card-versions"/>
          <p:cNvGrpSpPr/>
          <p:nvPr/>
        </p:nvGrpSpPr>
        <p:grpSpPr>
          <a:xfrm>
            <a:off x="8102632" y="1628775"/>
            <a:ext cx="3555968" cy="2914650"/>
            <a:chOff x="8102632" y="1628775"/>
            <a:chExt cx="3555968" cy="2914650"/>
          </a:xfrm>
        </p:grpSpPr>
        <p:sp>
          <p:nvSpPr>
            <p:cNvPr id="36" name="Rectangle 36"/>
            <p:cNvSpPr/>
            <p:nvPr/>
          </p:nvSpPr>
          <p:spPr>
            <a:xfrm>
              <a:off x="8102632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8331232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22088" y="18700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方案版本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31232" y="2314575"/>
              <a:ext cx="1104900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578821" y="26289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V2.1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9588532" y="2619375"/>
              <a:ext cx="584168" cy="304800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25100" y="2314575"/>
              <a:ext cx="1104900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572689" y="26289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V2.3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331232" y="33813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76012" y="3565525"/>
              <a:ext cx="1608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待确认差异：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2 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76012" y="38893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筛选窗口、终点评价时间点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4772025"/>
            <a:ext cx="11125200" cy="800100"/>
            <a:chOff x="533400" y="4772025"/>
            <a:chExt cx="11125200" cy="800100"/>
          </a:xfrm>
        </p:grpSpPr>
        <p:sp>
          <p:nvSpPr>
            <p:cNvPr id="48" name="Rectangle 48"/>
            <p:cNvSpPr/>
            <p:nvPr/>
          </p:nvSpPr>
          <p:spPr>
            <a:xfrm>
              <a:off x="533400" y="4772025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49" name="Rectangle 49"/>
            <p:cNvSpPr/>
            <p:nvPr/>
          </p:nvSpPr>
          <p:spPr>
            <a:xfrm>
              <a:off x="762000" y="4781550"/>
              <a:ext cx="333375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269486" y="50419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</a:t>
              </a:r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确认之后</a:t>
              </a:r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，再做组间比较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52" name="TextBox 52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45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6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7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8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639824" cy="469392"/>
            <a:chOff x="854583" y="241300"/>
            <a:chExt cx="1639824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sp>
        <p:nvSpPr>
          <p:cNvPr id="12" name="data-card-shell"/>
          <p:cNvSpPr/>
          <p:nvPr/>
        </p:nvSpPr>
        <p:spPr>
          <a:xfrm>
            <a:off x="533400" y="1028700"/>
            <a:ext cx="6356318" cy="5143500"/>
          </a:xfrm>
          <a:prstGeom prst="roundRect">
            <a:avLst>
              <a:gd name="adj" fmla="val 4444"/>
            </a:avLst>
          </a:prstGeom>
          <a:gradFill>
            <a:gsLst>
              <a:gs pos="0">
                <a:srgbClr val="FFFDFB">
                  <a:alpha val="62000"/>
                </a:srgbClr>
              </a:gs>
              <a:gs pos="48000">
                <a:srgbClr val="FFFBF2">
                  <a:alpha val="55000"/>
                </a:srgbClr>
              </a:gs>
              <a:gs pos="100000">
                <a:srgbClr val="FFF5E4">
                  <a:alpha val="50000"/>
                </a:srgbClr>
              </a:gs>
            </a:gsLst>
            <a:lin ang="2700000" scaled="1"/>
          </a:gradFill>
          <a:ln w="9525">
            <a:solidFill>
              <a:srgbClr val="BEB2A1">
                <a:alpha val="45000"/>
              </a:srgbClr>
            </a:solidFill>
          </a:ln>
          <a:effectLst>
            <a:outerShdw blurRad="152400" dist="57150" dir="5400000" algn="ctr" rotWithShape="0">
              <a:srgbClr val="48341A">
                <a:alpha val="9000"/>
              </a:srgbClr>
            </a:outerShdw>
          </a:effectLst>
        </p:spPr>
      </p:sp>
      <p:sp>
        <p:nvSpPr>
          <p:cNvPr id="13" name="data-card-glint"/>
          <p:cNvSpPr/>
          <p:nvPr/>
        </p:nvSpPr>
        <p:spPr>
          <a:xfrm>
            <a:off x="762000" y="1038225"/>
            <a:ext cx="1905000" cy="14288"/>
          </a:xfrm>
          <a:prstGeom prst="rect">
            <a:avLst/>
          </a:prstGeom>
          <a:gradFill>
            <a:gsLst>
              <a:gs pos="0">
                <a:schemeClr val="lt2">
                  <a:alpha val="0"/>
                </a:schemeClr>
              </a:gs>
              <a:gs pos="50000">
                <a:schemeClr val="lt2">
                  <a:alpha val="95000"/>
                </a:schemeClr>
              </a:gs>
              <a:gs pos="100000">
                <a:schemeClr val="l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21" name="data-card"/>
          <p:cNvGrpSpPr/>
          <p:nvPr/>
        </p:nvGrpSpPr>
        <p:grpSpPr>
          <a:xfrm>
            <a:off x="752856" y="1270000"/>
            <a:ext cx="5914358" cy="622046"/>
            <a:chOff x="752856" y="1270000"/>
            <a:chExt cx="5914358" cy="622046"/>
          </a:xfrm>
        </p:grpSpPr>
        <p:sp>
          <p:nvSpPr>
            <p:cNvPr id="14" name="TextBox 14"/>
            <p:cNvSpPr txBox="1"/>
            <p:nvPr/>
          </p:nvSpPr>
          <p:spPr>
            <a:xfrm>
              <a:off x="752856" y="127000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各资料组应收与已收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78038" y="133350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合成示例数据｜单位：份</a:t>
              </a:r>
            </a:p>
          </p:txBody>
        </p:sp>
        <p:grpSp>
          <p:nvGrpSpPr>
            <p:cNvPr id="20" name="completeness-legend"/>
            <p:cNvGrpSpPr/>
            <p:nvPr/>
          </p:nvGrpSpPr>
          <p:grpSpPr>
            <a:xfrm>
              <a:off x="762000" y="1657350"/>
              <a:ext cx="1205484" cy="234696"/>
              <a:chOff x="762000" y="1657350"/>
              <a:chExt cx="1205484" cy="23469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6200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6E7B8C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96545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应收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42875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D46B08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63220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已收</a:t>
                </a:r>
              </a:p>
            </p:txBody>
          </p:sp>
        </p:grpSp>
      </p:grpSp>
      <p:graphicFrame>
        <p:nvGraphicFramePr>
          <p:cNvPr id="22" name="completeness-bars"/>
          <p:cNvGraphicFramePr>
            <a:graphicFrameLocks noGrp="1"/>
          </p:cNvGraphicFramePr>
          <p:nvPr/>
        </p:nvGraphicFramePr>
        <p:xfrm>
          <a:off x="762000" y="1905000"/>
          <a:ext cx="5899118" cy="40767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pSp>
        <p:nvGrpSpPr>
          <p:cNvPr id="26" name="takeaway"/>
          <p:cNvGrpSpPr/>
          <p:nvPr/>
        </p:nvGrpSpPr>
        <p:grpSpPr>
          <a:xfrm>
            <a:off x="7118318" y="1028700"/>
            <a:ext cx="4540282" cy="1333500"/>
            <a:chOff x="7118318" y="1028700"/>
            <a:chExt cx="4540282" cy="1333500"/>
          </a:xfrm>
        </p:grpSpPr>
        <p:sp>
          <p:nvSpPr>
            <p:cNvPr id="23" name="Rectangle 23"/>
            <p:cNvSpPr/>
            <p:nvPr/>
          </p:nvSpPr>
          <p:spPr>
            <a:xfrm>
              <a:off x="7118318" y="1028700"/>
              <a:ext cx="4540282" cy="1333500"/>
            </a:xfrm>
            <a:prstGeom prst="roundRect">
              <a:avLst>
                <a:gd name="adj" fmla="val 171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4" name="Rectangle 24"/>
            <p:cNvSpPr/>
            <p:nvPr/>
          </p:nvSpPr>
          <p:spPr>
            <a:xfrm>
              <a:off x="7346918" y="10382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1993" y="1565275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缺口集中在中心记录与安全性报告</a:t>
              </a:r>
            </a:p>
          </p:txBody>
        </p:sp>
      </p:grpSp>
      <p:grpSp>
        <p:nvGrpSpPr>
          <p:cNvPr id="36" name="kpi-totals"/>
          <p:cNvGrpSpPr/>
          <p:nvPr/>
        </p:nvGrpSpPr>
        <p:grpSpPr>
          <a:xfrm>
            <a:off x="7118318" y="2590800"/>
            <a:ext cx="4540282" cy="1676400"/>
            <a:chOff x="7118318" y="2590800"/>
            <a:chExt cx="4540282" cy="1676400"/>
          </a:xfrm>
        </p:grpSpPr>
        <p:sp>
          <p:nvSpPr>
            <p:cNvPr id="27" name="Rectangle 27"/>
            <p:cNvSpPr/>
            <p:nvPr/>
          </p:nvSpPr>
          <p:spPr>
            <a:xfrm>
              <a:off x="7118318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8" name="TextBox 28"/>
            <p:cNvSpPr txBox="1"/>
            <p:nvPr/>
          </p:nvSpPr>
          <p:spPr>
            <a:xfrm>
              <a:off x="7520437" y="30988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56576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682609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1" name="TextBox 31"/>
            <p:cNvSpPr txBox="1"/>
            <p:nvPr/>
          </p:nvSpPr>
          <p:spPr>
            <a:xfrm>
              <a:off x="9084728" y="30988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20867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已收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246804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4" name="TextBox 34"/>
            <p:cNvSpPr txBox="1"/>
            <p:nvPr/>
          </p:nvSpPr>
          <p:spPr>
            <a:xfrm>
              <a:off x="10742215" y="3098800"/>
              <a:ext cx="42097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85062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缺口</a:t>
              </a:r>
            </a:p>
          </p:txBody>
        </p:sp>
      </p:grpSp>
      <p:grpSp>
        <p:nvGrpSpPr>
          <p:cNvPr id="41" name="gap-card"/>
          <p:cNvGrpSpPr/>
          <p:nvPr/>
        </p:nvGrpSpPr>
        <p:grpSpPr>
          <a:xfrm>
            <a:off x="7118318" y="4495800"/>
            <a:ext cx="4540282" cy="1676400"/>
            <a:chOff x="7118318" y="4495800"/>
            <a:chExt cx="4540282" cy="1676400"/>
          </a:xfrm>
        </p:grpSpPr>
        <p:sp>
          <p:nvSpPr>
            <p:cNvPr id="37" name="Rectangle 37"/>
            <p:cNvSpPr/>
            <p:nvPr/>
          </p:nvSpPr>
          <p:spPr>
            <a:xfrm>
              <a:off x="7118318" y="4495800"/>
              <a:ext cx="4540282" cy="1676400"/>
            </a:xfrm>
            <a:prstGeom prst="roundRect">
              <a:avLst>
                <a:gd name="adj" fmla="val 13636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7346918" y="45053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37774" y="47180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缺失处理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39298" y="5029200"/>
              <a:ext cx="2082165" cy="6934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不按零处理，也不插补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42" name="TextBox 42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62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3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4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5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sp>
        <p:nvSpPr>
          <p:cNvPr id="12" name="plan-card-shell"/>
          <p:cNvSpPr/>
          <p:nvPr/>
        </p:nvSpPr>
        <p:spPr>
          <a:xfrm>
            <a:off x="533400" y="1028700"/>
            <a:ext cx="11125200" cy="5143500"/>
          </a:xfrm>
          <a:prstGeom prst="roundRect">
            <a:avLst>
              <a:gd name="adj" fmla="val 4444"/>
            </a:avLst>
          </a:prstGeom>
          <a:gradFill>
            <a:gsLst>
              <a:gs pos="0">
                <a:srgbClr val="FFFDFB">
                  <a:alpha val="62000"/>
                </a:srgbClr>
              </a:gs>
              <a:gs pos="48000">
                <a:srgbClr val="FFFBF2">
                  <a:alpha val="55000"/>
                </a:srgbClr>
              </a:gs>
              <a:gs pos="100000">
                <a:srgbClr val="FFF5E4">
                  <a:alpha val="50000"/>
                </a:srgbClr>
              </a:gs>
            </a:gsLst>
            <a:lin ang="2700000" scaled="1"/>
          </a:gradFill>
          <a:ln w="9525">
            <a:solidFill>
              <a:srgbClr val="BEB2A1">
                <a:alpha val="45000"/>
              </a:srgbClr>
            </a:solidFill>
          </a:ln>
          <a:effectLst>
            <a:outerShdw blurRad="152400" dist="57150" dir="5400000" algn="ctr" rotWithShape="0">
              <a:srgbClr val="48341A">
                <a:alpha val="9000"/>
              </a:srgbClr>
            </a:outerShdw>
          </a:effectLst>
        </p:spPr>
      </p:sp>
      <p:sp>
        <p:nvSpPr>
          <p:cNvPr id="13" name="plan-card-glint"/>
          <p:cNvSpPr/>
          <p:nvPr/>
        </p:nvSpPr>
        <p:spPr>
          <a:xfrm>
            <a:off x="762000" y="1038225"/>
            <a:ext cx="3333750" cy="14288"/>
          </a:xfrm>
          <a:prstGeom prst="rect">
            <a:avLst/>
          </a:prstGeom>
          <a:gradFill>
            <a:gsLst>
              <a:gs pos="0">
                <a:schemeClr val="lt2">
                  <a:alpha val="0"/>
                </a:schemeClr>
              </a:gs>
              <a:gs pos="50000">
                <a:schemeClr val="lt2">
                  <a:alpha val="95000"/>
                </a:schemeClr>
              </a:gs>
              <a:gs pos="100000">
                <a:schemeClr val="l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6" name="plan-card"/>
          <p:cNvGrpSpPr/>
          <p:nvPr/>
        </p:nvGrpSpPr>
        <p:grpSpPr>
          <a:xfrm>
            <a:off x="752856" y="1270000"/>
            <a:ext cx="10683240" cy="352044"/>
            <a:chOff x="752856" y="1270000"/>
            <a:chExt cx="10683240" cy="352044"/>
          </a:xfrm>
        </p:grpSpPr>
        <p:sp>
          <p:nvSpPr>
            <p:cNvPr id="14" name="TextBox 14"/>
            <p:cNvSpPr txBox="1"/>
            <p:nvPr/>
          </p:nvSpPr>
          <p:spPr>
            <a:xfrm>
              <a:off x="752856" y="12700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季度安排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54640" y="1333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</a:t>
              </a:r>
            </a:p>
          </p:txBody>
        </p:sp>
      </p:grpSp>
      <p:grpSp>
        <p:nvGrpSpPr>
          <p:cNvPr id="49" name="check-plan-gantt"/>
          <p:cNvGrpSpPr/>
          <p:nvPr/>
        </p:nvGrpSpPr>
        <p:grpSpPr>
          <a:xfrm>
            <a:off x="754380" y="1676400"/>
            <a:ext cx="10675620" cy="3438525"/>
            <a:chOff x="754380" y="1676400"/>
            <a:chExt cx="10675620" cy="3438525"/>
          </a:xfrm>
        </p:grpSpPr>
        <p:grpSp>
          <p:nvGrpSpPr>
            <p:cNvPr id="20" name="Group 20"/>
            <p:cNvGrpSpPr/>
            <p:nvPr/>
          </p:nvGrpSpPr>
          <p:grpSpPr>
            <a:xfrm>
              <a:off x="4648581" y="1743075"/>
              <a:ext cx="5904738" cy="293370"/>
              <a:chOff x="4648581" y="1743075"/>
              <a:chExt cx="5904738" cy="29337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46485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2026Q4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012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2027Q1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539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2027Q2</a:t>
                </a:r>
              </a:p>
            </p:txBody>
          </p:sp>
        </p:grpSp>
        <p:grpSp>
          <p:nvGrpSpPr>
            <p:cNvPr id="48" name="check-plan-gantt-chartArea"/>
            <p:cNvGrpSpPr/>
            <p:nvPr/>
          </p:nvGrpSpPr>
          <p:grpSpPr>
            <a:xfrm>
              <a:off x="754380" y="1676400"/>
              <a:ext cx="10675620" cy="3438525"/>
              <a:chOff x="754380" y="1676400"/>
              <a:chExt cx="10675620" cy="3438525"/>
            </a:xfrm>
          </p:grpSpPr>
          <p:grpSp>
            <p:nvGrpSpPr>
              <p:cNvPr id="28" name="plan-grid"/>
              <p:cNvGrpSpPr/>
              <p:nvPr/>
            </p:nvGrpSpPr>
            <p:grpSpPr>
              <a:xfrm>
                <a:off x="762000" y="1676400"/>
                <a:ext cx="10668000" cy="3429000"/>
                <a:chOff x="762000" y="1676400"/>
                <a:chExt cx="10668000" cy="3429000"/>
              </a:xfrm>
            </p:grpSpPr>
            <p:sp>
              <p:nvSpPr>
                <p:cNvPr id="21" name="Line 21"/>
                <p:cNvSpPr/>
                <p:nvPr/>
              </p:nvSpPr>
              <p:spPr>
                <a:xfrm>
                  <a:off x="762000" y="20574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2" name="Line 22"/>
                <p:cNvSpPr/>
                <p:nvPr/>
              </p:nvSpPr>
              <p:spPr>
                <a:xfrm>
                  <a:off x="762000" y="26670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3" name="Line 23"/>
                <p:cNvSpPr/>
                <p:nvPr/>
              </p:nvSpPr>
              <p:spPr>
                <a:xfrm>
                  <a:off x="762000" y="32766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4" name="Line 24"/>
                <p:cNvSpPr/>
                <p:nvPr/>
              </p:nvSpPr>
              <p:spPr>
                <a:xfrm>
                  <a:off x="762000" y="38862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5" name="Line 25"/>
                <p:cNvSpPr/>
                <p:nvPr/>
              </p:nvSpPr>
              <p:spPr>
                <a:xfrm>
                  <a:off x="762000" y="44958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6" name="Line 26"/>
                <p:cNvSpPr/>
                <p:nvPr/>
              </p:nvSpPr>
              <p:spPr>
                <a:xfrm>
                  <a:off x="6324600" y="16764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7" name="Line 27"/>
                <p:cNvSpPr/>
                <p:nvPr/>
              </p:nvSpPr>
              <p:spPr>
                <a:xfrm>
                  <a:off x="8877300" y="16764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</p:grpSp>
          <p:sp>
            <p:nvSpPr>
              <p:cNvPr id="29" name="Line 29"/>
              <p:cNvSpPr/>
              <p:nvPr/>
            </p:nvSpPr>
            <p:spPr>
              <a:xfrm>
                <a:off x="762000" y="510540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19050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3771900" y="1676400"/>
                <a:ext cx="9525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0">
                    <a:moveTo>
                      <a:pt x="0" y="0"/>
                    </a:moveTo>
                    <a:lnTo>
                      <a:pt x="0" y="34290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grpSp>
            <p:nvGrpSpPr>
              <p:cNvPr id="36" name="Group 36"/>
              <p:cNvGrpSpPr/>
              <p:nvPr/>
            </p:nvGrpSpPr>
            <p:grpSpPr>
              <a:xfrm>
                <a:off x="754380" y="2127250"/>
                <a:ext cx="1428750" cy="2731770"/>
                <a:chOff x="754380" y="2127250"/>
                <a:chExt cx="1428750" cy="2731770"/>
              </a:xfrm>
            </p:grpSpPr>
            <p:sp>
              <p:nvSpPr>
                <p:cNvPr id="31" name="TextBox 31"/>
                <p:cNvSpPr txBox="1"/>
                <p:nvPr/>
              </p:nvSpPr>
              <p:spPr>
                <a:xfrm>
                  <a:off x="754380" y="21272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缺失资料补收</a:t>
                  </a:r>
                </a:p>
              </p:txBody>
            </p:sp>
            <p:sp>
              <p:nvSpPr>
                <p:cNvPr id="32" name="TextBox 32"/>
                <p:cNvSpPr txBox="1"/>
                <p:nvPr/>
              </p:nvSpPr>
              <p:spPr>
                <a:xfrm>
                  <a:off x="754380" y="27368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版本差异确认</a:t>
                  </a:r>
                </a:p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754380" y="3346450"/>
                  <a:ext cx="102489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完整性复核</a:t>
                  </a:r>
                </a:p>
              </p:txBody>
            </p:sp>
            <p:sp>
              <p:nvSpPr>
                <p:cNvPr id="34" name="TextBox 34"/>
                <p:cNvSpPr txBox="1"/>
                <p:nvPr/>
              </p:nvSpPr>
              <p:spPr>
                <a:xfrm>
                  <a:off x="754380" y="3956050"/>
                  <a:ext cx="142875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安全性报告核对</a:t>
                  </a:r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754380" y="45656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审阅意见形成</a:t>
                  </a:r>
                </a:p>
              </p:txBody>
            </p:sp>
          </p:grpSp>
          <p:grpSp>
            <p:nvGrpSpPr>
              <p:cNvPr id="42" name="Group 42"/>
              <p:cNvGrpSpPr/>
              <p:nvPr/>
            </p:nvGrpSpPr>
            <p:grpSpPr>
              <a:xfrm>
                <a:off x="755904" y="2381250"/>
                <a:ext cx="496824" cy="2673096"/>
                <a:chOff x="755904" y="2381250"/>
                <a:chExt cx="496824" cy="2673096"/>
              </a:xfrm>
            </p:grpSpPr>
            <p:sp>
              <p:nvSpPr>
                <p:cNvPr id="37" name="TextBox 37"/>
                <p:cNvSpPr txBox="1"/>
                <p:nvPr/>
              </p:nvSpPr>
              <p:spPr>
                <a:xfrm>
                  <a:off x="755904" y="23812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  <p:sp>
              <p:nvSpPr>
                <p:cNvPr id="38" name="TextBox 38"/>
                <p:cNvSpPr txBox="1"/>
                <p:nvPr/>
              </p:nvSpPr>
              <p:spPr>
                <a:xfrm>
                  <a:off x="755904" y="29908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755904" y="3600450"/>
                  <a:ext cx="335280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数统</a:t>
                  </a:r>
                </a:p>
              </p:txBody>
            </p:sp>
            <p:sp>
              <p:nvSpPr>
                <p:cNvPr id="40" name="TextBox 40"/>
                <p:cNvSpPr txBox="1"/>
                <p:nvPr/>
              </p:nvSpPr>
              <p:spPr>
                <a:xfrm>
                  <a:off x="755904" y="4210050"/>
                  <a:ext cx="199949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PV</a:t>
                  </a:r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755904" y="48196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</p:grpSp>
          <p:sp>
            <p:nvSpPr>
              <p:cNvPr id="43" name="Rectangle 43"/>
              <p:cNvSpPr/>
              <p:nvPr/>
            </p:nvSpPr>
            <p:spPr>
              <a:xfrm>
                <a:off x="3848100" y="22288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44" name="Rectangle 44"/>
              <p:cNvSpPr/>
              <p:nvPr/>
            </p:nvSpPr>
            <p:spPr>
              <a:xfrm>
                <a:off x="6400800" y="2838450"/>
                <a:ext cx="24003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45" name="Rectangle 45"/>
              <p:cNvSpPr/>
              <p:nvPr/>
            </p:nvSpPr>
            <p:spPr>
              <a:xfrm>
                <a:off x="6400800" y="34480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rgbClr val="587B3B"/>
              </a:solidFill>
              <a:ln>
                <a:noFill/>
              </a:ln>
            </p:spPr>
          </p:sp>
          <p:sp>
            <p:nvSpPr>
              <p:cNvPr id="46" name="Rectangle 46"/>
              <p:cNvSpPr/>
              <p:nvPr/>
            </p:nvSpPr>
            <p:spPr>
              <a:xfrm>
                <a:off x="6400800" y="40576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rgbClr val="A85F34"/>
              </a:solidFill>
              <a:ln>
                <a:noFill/>
              </a:ln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8953500" y="4667250"/>
                <a:ext cx="24003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</p:grpSp>
      </p:grpSp>
      <p:grpSp>
        <p:nvGrpSpPr>
          <p:cNvPr id="56" name="plan-legend"/>
          <p:cNvGrpSpPr/>
          <p:nvPr/>
        </p:nvGrpSpPr>
        <p:grpSpPr>
          <a:xfrm>
            <a:off x="762000" y="5314950"/>
            <a:ext cx="1965503" cy="234696"/>
            <a:chOff x="762000" y="5314950"/>
            <a:chExt cx="1965503" cy="234696"/>
          </a:xfrm>
        </p:grpSpPr>
        <p:sp>
          <p:nvSpPr>
            <p:cNvPr id="50" name="Rectangle 50"/>
            <p:cNvSpPr/>
            <p:nvPr/>
          </p:nvSpPr>
          <p:spPr>
            <a:xfrm>
              <a:off x="76200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65454" y="53149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医学部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61925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rgbClr val="587B3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822704" y="53149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数统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232410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rgbClr val="A85F34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2527554" y="5314950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PV</a:t>
              </a:r>
            </a:p>
          </p:txBody>
        </p:sp>
      </p:grpSp>
      <p:grpSp>
        <p:nvGrpSpPr>
          <p:cNvPr id="58" name="plan-takeaway"/>
          <p:cNvGrpSpPr/>
          <p:nvPr/>
        </p:nvGrpSpPr>
        <p:grpSpPr>
          <a:xfrm>
            <a:off x="754380" y="5727700"/>
            <a:ext cx="8472221" cy="293370"/>
            <a:chOff x="754380" y="5727700"/>
            <a:chExt cx="8472221" cy="293370"/>
          </a:xfrm>
        </p:grpSpPr>
        <p:sp>
          <p:nvSpPr>
            <p:cNvPr id="57" name="TextBox 57"/>
            <p:cNvSpPr txBox="1"/>
            <p:nvPr/>
          </p:nvSpPr>
          <p:spPr>
            <a:xfrm>
              <a:off x="754380" y="5727700"/>
              <a:ext cx="84722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补收与版本差异确认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在 2027Q1 内完成</a:t>
              </a: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，复核、安全性报告核对与审阅意见在 2027Q2 内完成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59" name="TextBox 59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5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8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ending-title"/>
          <p:cNvGrpSpPr/>
          <p:nvPr/>
        </p:nvGrpSpPr>
        <p:grpSpPr>
          <a:xfrm>
            <a:off x="857250" y="1691640"/>
            <a:ext cx="6338316" cy="1504950"/>
            <a:chOff x="857250" y="1691640"/>
            <a:chExt cx="6338316" cy="1504950"/>
          </a:xfrm>
        </p:grpSpPr>
        <p:sp>
          <p:nvSpPr>
            <p:cNvPr id="4" name="TextBox 4"/>
            <p:cNvSpPr txBox="1"/>
            <p:nvPr/>
          </p:nvSpPr>
          <p:spPr>
            <a:xfrm>
              <a:off x="876300" y="1752600"/>
              <a:ext cx="10439400" cy="1314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9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7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请确认两件事</a:t>
              </a:r>
            </a:p>
          </p:txBody>
        </p:sp>
      </p:grpSp>
      <p:grpSp>
        <p:nvGrpSpPr>
          <p:cNvPr id="7" name="ending-subtitle"/>
          <p:cNvGrpSpPr/>
          <p:nvPr/>
        </p:nvGrpSpPr>
        <p:grpSpPr>
          <a:xfrm>
            <a:off x="865632" y="3167380"/>
            <a:ext cx="9029662" cy="410718"/>
            <a:chOff x="865632" y="3167380"/>
            <a:chExt cx="9029662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76300" y="31813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 份资料由医学部牵头，2027Q1 内补收；版本差异确认后再做组间比较</a:t>
              </a:r>
            </a:p>
          </p:txBody>
        </p:sp>
      </p:grpSp>
      <p:grpSp>
        <p:nvGrpSpPr>
          <p:cNvPr id="9" name="ending-meta"/>
          <p:cNvGrpSpPr/>
          <p:nvPr/>
        </p:nvGrpSpPr>
        <p:grpSpPr>
          <a:xfrm>
            <a:off x="868680" y="3746500"/>
            <a:ext cx="2811971" cy="293370"/>
            <a:chOff x="868680" y="37465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76300" y="37528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2026-10-24T08:35:16Z</dcterms:created>
  <dcterms:modified xsi:type="dcterms:W3CDTF">2026-10-24T08:35:16Z</dcterms:modified>
  <cp:category/>
  <cp:contentStatus/>
</cp:coreProperties>
</file>