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angzhe_prob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angzhe_prob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a4f7119df6ff402.png"/>
  <Relationship Id="rId3" Type="http://schemas.openxmlformats.org/officeDocument/2006/relationships/image" Target="../media/image_72d4f71d42247542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19777696202c35.png"/>
  <Relationship Id="rId3" Type="http://schemas.openxmlformats.org/officeDocument/2006/relationships/image" Target="../media/image_72d4f71d42247542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19777696202c35.png"/>
  <Relationship Id="rId3" Type="http://schemas.openxmlformats.org/officeDocument/2006/relationships/image" Target="../media/image_72d4f71d42247542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19777696202c35.png"/>
  <Relationship Id="rId3" Type="http://schemas.openxmlformats.org/officeDocument/2006/relationships/image" Target="../media/image_72d4f71d42247542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19100"/>
            <a:ext cx="2286000" cy="476250"/>
          </a:xfrm>
          <a:prstGeom prst="rect">
            <a:avLst/>
          </a:prstGeom>
        </p:spPr>
      </p:pic>
      <p:grpSp>
        <p:nvGrpSpPr>
          <p:cNvPr id="5" name="hero-text-0"/>
          <p:cNvGrpSpPr/>
          <p:nvPr/>
        </p:nvGrpSpPr>
        <p:grpSpPr>
          <a:xfrm>
            <a:off x="857250" y="1534160"/>
            <a:ext cx="5126736" cy="819150"/>
            <a:chOff x="857250" y="1534160"/>
            <a:chExt cx="5126736" cy="819150"/>
          </a:xfrm>
        </p:grpSpPr>
        <p:sp>
          <p:nvSpPr>
            <p:cNvPr id="4" name="TextBox 4"/>
            <p:cNvSpPr txBox="1"/>
            <p:nvPr/>
          </p:nvSpPr>
          <p:spPr>
            <a:xfrm>
              <a:off x="857250" y="153416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证据组织与资料核对</a:t>
              </a:r>
            </a:p>
          </p:txBody>
        </p:sp>
      </p:grpSp>
      <p:grpSp>
        <p:nvGrpSpPr>
          <p:cNvPr id="7" name="hero-text-1"/>
          <p:cNvGrpSpPr/>
          <p:nvPr/>
        </p:nvGrpSpPr>
        <p:grpSpPr>
          <a:xfrm>
            <a:off x="865632" y="3053080"/>
            <a:ext cx="3738867" cy="410718"/>
            <a:chOff x="865632" y="3053080"/>
            <a:chExt cx="373886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865632" y="3053080"/>
              <a:ext cx="37388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合成示例 · 研究资料审阅流程</a:t>
              </a:r>
            </a:p>
          </p:txBody>
        </p:sp>
      </p:grpSp>
      <p:grpSp>
        <p:nvGrpSpPr>
          <p:cNvPr id="9" name="hero-text-2"/>
          <p:cNvGrpSpPr/>
          <p:nvPr/>
        </p:nvGrpSpPr>
        <p:grpSpPr>
          <a:xfrm>
            <a:off x="868680" y="3632200"/>
            <a:ext cx="2811971" cy="293370"/>
            <a:chOff x="868680" y="3632200"/>
            <a:chExt cx="2811971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868680" y="3632200"/>
              <a:ext cx="2811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676B"/>
                  </a:solidFill>
                  <a:latin typeface="+mn-lt"/>
                  <a:ea typeface="+mn-ea"/>
                  <a:cs typeface="+mn-cs"/>
                </a:rPr>
                <a:t>产品中心-医学部｜2026年10月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47625" y="85725"/>
            <a:ext cx="847725" cy="657225"/>
            <a:chOff x="47625" y="85725"/>
            <a:chExt cx="847725" cy="657225"/>
          </a:xfrm>
        </p:grpSpPr>
        <p:sp xmlns:p="http://schemas.openxmlformats.org/presentationml/2006/main" xmlns:a="http://schemas.openxmlformats.org/drawingml/2006/main">
          <p:nvSpPr>
            <p:cNvPr id="39" name="kz-facet-o"/>
            <p:cNvSpPr/>
            <p:nvPr/>
          </p:nvSpPr>
          <p:spPr>
            <a:xfrm>
              <a:off x="228600" y="85725"/>
              <a:ext cx="666750" cy="590550"/>
            </a:xfrm>
            <a:custGeom>
              <a:avLst/>
              <a:gdLst/>
              <a:ahLst/>
              <a:cxnLst/>
              <a:rect l="l" t="t" r="r" b="b"/>
              <a:pathLst>
                <a:path w="666750" h="590550">
                  <a:moveTo>
                    <a:pt x="295275" y="0"/>
                  </a:moveTo>
                  <a:lnTo>
                    <a:pt x="666750" y="0"/>
                  </a:lnTo>
                  <a:lnTo>
                    <a:pt x="38100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FF99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40" name="kz-facet-y"/>
            <p:cNvSpPr/>
            <p:nvPr/>
          </p:nvSpPr>
          <p:spPr>
            <a:xfrm>
              <a:off x="47625" y="400050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171450" y="0"/>
                  </a:moveTo>
                  <a:lnTo>
                    <a:pt x="381000" y="0"/>
                  </a:lnTo>
                  <a:lnTo>
                    <a:pt x="219075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CC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41" name="kz-facet-o-candy"/>
            <p:cNvSpPr/>
            <p:nvPr/>
          </p:nvSpPr>
          <p:spPr>
            <a:xfrm>
              <a:off x="239675" y="85725"/>
              <a:ext cx="644888" cy="590550"/>
            </a:xfrm>
            <a:custGeom>
              <a:avLst/>
              <a:gdLst/>
              <a:ahLst/>
              <a:cxnLst/>
              <a:rect l="l" t="t" r="r" b="b"/>
              <a:pathLst>
                <a:path w="644888" h="590550">
                  <a:moveTo>
                    <a:pt x="273125" y="22150"/>
                  </a:moveTo>
                  <a:lnTo>
                    <a:pt x="308965" y="0"/>
                  </a:lnTo>
                  <a:lnTo>
                    <a:pt x="630910" y="0"/>
                  </a:lnTo>
                  <a:lnTo>
                    <a:pt x="644888" y="22292"/>
                  </a:lnTo>
                  <a:lnTo>
                    <a:pt x="380712" y="568258"/>
                  </a:lnTo>
                  <a:lnTo>
                    <a:pt x="345160" y="590550"/>
                  </a:lnTo>
                  <a:lnTo>
                    <a:pt x="13690" y="590550"/>
                  </a:lnTo>
                  <a:lnTo>
                    <a:pt x="0" y="568400"/>
                  </a:lnTo>
                  <a:close/>
                </a:path>
              </a:pathLst>
            </a:custGeom>
            <a:gradFill rotWithShape="1">
              <a:gsLst>
                <a:gs pos="0">
                  <a:srgbClr val="FFC65A"/>
                </a:gs>
                <a:gs pos="47000">
                  <a:srgbClr val="FF9B12"/>
                </a:gs>
                <a:gs pos="100000">
                  <a:srgbClr val="EC7A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98213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42" name="kz-facet-y-candy"/>
            <p:cNvSpPr/>
            <p:nvPr/>
          </p:nvSpPr>
          <p:spPr>
            <a:xfrm>
              <a:off x="55292" y="400050"/>
              <a:ext cx="366012" cy="342900"/>
            </a:xfrm>
            <a:custGeom>
              <a:avLst/>
              <a:gdLst/>
              <a:ahLst/>
              <a:cxnLst/>
              <a:rect l="l" t="t" r="r" b="b"/>
              <a:pathLst>
                <a:path w="366012" h="342900">
                  <a:moveTo>
                    <a:pt x="156116" y="15335"/>
                  </a:moveTo>
                  <a:lnTo>
                    <a:pt x="180928" y="0"/>
                  </a:lnTo>
                  <a:lnTo>
                    <a:pt x="356188" y="0"/>
                  </a:lnTo>
                  <a:lnTo>
                    <a:pt x="366012" y="15503"/>
                  </a:lnTo>
                  <a:lnTo>
                    <a:pt x="218729" y="327397"/>
                  </a:lnTo>
                  <a:lnTo>
                    <a:pt x="194263" y="342900"/>
                  </a:lnTo>
                  <a:lnTo>
                    <a:pt x="9478" y="342900"/>
                  </a:lnTo>
                  <a:lnTo>
                    <a:pt x="0" y="327565"/>
                  </a:lnTo>
                  <a:close/>
                </a:path>
              </a:pathLst>
            </a:custGeom>
            <a:gradFill rotWithShape="1">
              <a:gsLst>
                <a:gs pos="0">
                  <a:srgbClr val="FFF07A"/>
                </a:gs>
                <a:gs pos="47000">
                  <a:srgbClr val="FFD21A"/>
                </a:gs>
                <a:gs pos="100000">
                  <a:srgbClr val="EFB6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8A500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title"/>
          <p:cNvGrpSpPr/>
          <p:nvPr/>
        </p:nvGrpSpPr>
        <p:grpSpPr>
          <a:xfrm>
            <a:off x="854583" y="241300"/>
            <a:ext cx="1316736" cy="469392"/>
            <a:chOff x="854583" y="241300"/>
            <a:chExt cx="1316736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854583" y="2413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研究范围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rgbClr val="FF9900"/>
            </a:solidFill>
          </a:ln>
        </p:spPr>
      </p:sp>
      <p:pic>
        <p:nvPicPr>
          <p:cNvPr id="1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grpSp>
        <p:nvGrpSpPr>
          <p:cNvPr id="18" name="card-1"/>
          <p:cNvGrpSpPr/>
          <p:nvPr/>
        </p:nvGrpSpPr>
        <p:grpSpPr>
          <a:xfrm>
            <a:off x="533400" y="1524000"/>
            <a:ext cx="3555682" cy="2247900"/>
            <a:chOff x="533400" y="1524000"/>
            <a:chExt cx="3555682" cy="2247900"/>
          </a:xfrm>
        </p:grpSpPr>
        <p:sp>
          <p:nvSpPr>
            <p:cNvPr id="12" name="Rectangle 12"/>
            <p:cNvSpPr/>
            <p:nvPr/>
          </p:nvSpPr>
          <p:spPr>
            <a:xfrm>
              <a:off x="533400" y="1524000"/>
              <a:ext cx="3555682" cy="2247900"/>
            </a:xfrm>
            <a:prstGeom prst="roundRect">
              <a:avLst>
                <a:gd name="adj" fmla="val 10169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533525"/>
              <a:ext cx="10668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9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752600"/>
              <a:ext cx="323850" cy="323850"/>
            </a:xfrm>
            <a:prstGeom prst="roundRect">
              <a:avLst>
                <a:gd name="adj" fmla="val 35294"/>
              </a:avLst>
            </a:prstGeom>
            <a:solidFill>
              <a:srgbClr val="FF9900">
                <a:alpha val="14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537" y="18192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2856" y="22225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研究人群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4380" y="2559050"/>
              <a:ext cx="2653665" cy="1017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85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成人受试者，筛选期 4 周</a:t>
              </a:r>
            </a:p>
            <a:p>
              <a:pPr algn="l" marL="161925" indent="-161925">
                <a:lnSpc>
                  <a:spcPts val="285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既往治疗失败或不耐受</a:t>
              </a:r>
            </a:p>
            <a:p>
              <a:pPr algn="l" marL="161925" indent="-161925">
                <a:lnSpc>
                  <a:spcPts val="285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同期参加其他干预研究者排除</a:t>
              </a:r>
            </a:p>
          </p:txBody>
        </p:sp>
      </p:grpSp>
      <p:grpSp>
        <p:nvGrpSpPr>
          <p:cNvPr id="25" name="card-2"/>
          <p:cNvGrpSpPr/>
          <p:nvPr/>
        </p:nvGrpSpPr>
        <p:grpSpPr>
          <a:xfrm>
            <a:off x="4318000" y="1524000"/>
            <a:ext cx="3555682" cy="2247900"/>
            <a:chOff x="4318000" y="1524000"/>
            <a:chExt cx="3555682" cy="2247900"/>
          </a:xfrm>
        </p:grpSpPr>
        <p:sp>
          <p:nvSpPr>
            <p:cNvPr id="19" name="Rectangle 19"/>
            <p:cNvSpPr/>
            <p:nvPr/>
          </p:nvSpPr>
          <p:spPr>
            <a:xfrm>
              <a:off x="4318000" y="1524000"/>
              <a:ext cx="3555682" cy="2247900"/>
            </a:xfrm>
            <a:prstGeom prst="roundRect">
              <a:avLst>
                <a:gd name="adj" fmla="val 10169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4546600" y="1533525"/>
              <a:ext cx="10668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9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46600" y="1752600"/>
              <a:ext cx="323850" cy="323850"/>
            </a:xfrm>
            <a:prstGeom prst="roundRect">
              <a:avLst>
                <a:gd name="adj" fmla="val 35294"/>
              </a:avLst>
            </a:prstGeom>
            <a:solidFill>
              <a:srgbClr val="FF9900">
                <a:alpha val="14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09137" y="18192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7456" y="22225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主要终点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38980" y="2559050"/>
              <a:ext cx="2463165" cy="1017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85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第 16 周较基线变化</a:t>
              </a:r>
            </a:p>
            <a:p>
              <a:pPr algn="l" marL="161925" indent="-161925">
                <a:lnSpc>
                  <a:spcPts val="285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缺失值不按零处理</a:t>
              </a:r>
            </a:p>
            <a:p>
              <a:pPr algn="l" marL="161925" indent="-161925">
                <a:lnSpc>
                  <a:spcPts val="285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分析人群与估计量分开说明</a:t>
              </a:r>
            </a:p>
          </p:txBody>
        </p:sp>
      </p:grpSp>
      <p:grpSp>
        <p:nvGrpSpPr>
          <p:cNvPr id="32" name="card-3"/>
          <p:cNvGrpSpPr/>
          <p:nvPr/>
        </p:nvGrpSpPr>
        <p:grpSpPr>
          <a:xfrm>
            <a:off x="8102600" y="1524000"/>
            <a:ext cx="3555682" cy="2247900"/>
            <a:chOff x="8102600" y="1524000"/>
            <a:chExt cx="3555682" cy="2247900"/>
          </a:xfrm>
        </p:grpSpPr>
        <p:sp>
          <p:nvSpPr>
            <p:cNvPr id="26" name="Rectangle 26"/>
            <p:cNvSpPr/>
            <p:nvPr/>
          </p:nvSpPr>
          <p:spPr>
            <a:xfrm>
              <a:off x="8102600" y="1524000"/>
              <a:ext cx="3555682" cy="2247900"/>
            </a:xfrm>
            <a:prstGeom prst="roundRect">
              <a:avLst>
                <a:gd name="adj" fmla="val 10169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8331200" y="1533525"/>
              <a:ext cx="10668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9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331200" y="1752600"/>
              <a:ext cx="323850" cy="323850"/>
            </a:xfrm>
            <a:prstGeom prst="roundRect">
              <a:avLst>
                <a:gd name="adj" fmla="val 35294"/>
              </a:avLst>
            </a:prstGeom>
            <a:solidFill>
              <a:srgbClr val="FF9900">
                <a:alpha val="14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93737" y="181927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2056" y="22225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安全性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3580" y="2559050"/>
              <a:ext cx="1891665" cy="1017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85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治疗期间不良事件</a:t>
              </a:r>
            </a:p>
            <a:p>
              <a:pPr algn="l" marL="161925" indent="-161925">
                <a:lnSpc>
                  <a:spcPts val="285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停药原因分开登记</a:t>
              </a:r>
            </a:p>
            <a:p>
              <a:pPr algn="l" marL="161925" indent="-161925">
                <a:lnSpc>
                  <a:spcPts val="285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严重事件单列时间线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4000500"/>
            <a:ext cx="11125200" cy="800100"/>
            <a:chOff x="533400" y="4000500"/>
            <a:chExt cx="11125200" cy="800100"/>
          </a:xfrm>
        </p:grpSpPr>
        <p:sp>
          <p:nvSpPr>
            <p:cNvPr id="33" name="Rectangle 33"/>
            <p:cNvSpPr/>
            <p:nvPr/>
          </p:nvSpPr>
          <p:spPr>
            <a:xfrm>
              <a:off x="533400" y="4000500"/>
              <a:ext cx="11125200" cy="800100"/>
            </a:xfrm>
            <a:prstGeom prst="roundRect">
              <a:avLst>
                <a:gd name="adj" fmla="val 28571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34" name="TextBox 34"/>
            <p:cNvSpPr txBox="1"/>
            <p:nvPr/>
          </p:nvSpPr>
          <p:spPr>
            <a:xfrm>
              <a:off x="3568587" y="4260850"/>
              <a:ext cx="5054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主要终点按第 16 周评价，缺失记录</a:t>
              </a:r>
              <a:r>
                <a:rPr lang="zh-CN" sz="1800" b="1" dirty="0">
                  <a:solidFill>
                    <a:srgbClr val="C00000"/>
                  </a:solidFill>
                  <a:latin typeface="+mn-lt"/>
                  <a:ea typeface="+mn-ea"/>
                  <a:cs typeface="+mn-cs"/>
                </a:rPr>
                <a:t>保留为空值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221742" y="6521450"/>
            <a:ext cx="11672316" cy="264033"/>
            <a:chOff x="221742" y="6521450"/>
            <a:chExt cx="11672316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221742" y="6521450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产品中心-医学部｜2026年10月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71434" y="6521450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 / 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 decel="7000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 decel="7000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 decel="70000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47625" y="85725"/>
            <a:ext cx="847725" cy="657225"/>
            <a:chOff x="47625" y="85725"/>
            <a:chExt cx="847725" cy="657225"/>
          </a:xfrm>
        </p:grpSpPr>
        <p:sp xmlns:p="http://schemas.openxmlformats.org/presentationml/2006/main" xmlns:a="http://schemas.openxmlformats.org/drawingml/2006/main">
          <p:nvSpPr>
            <p:cNvPr id="19" name="kz-facet-o"/>
            <p:cNvSpPr/>
            <p:nvPr/>
          </p:nvSpPr>
          <p:spPr>
            <a:xfrm>
              <a:off x="228600" y="85725"/>
              <a:ext cx="666750" cy="590550"/>
            </a:xfrm>
            <a:custGeom>
              <a:avLst/>
              <a:gdLst/>
              <a:ahLst/>
              <a:cxnLst/>
              <a:rect l="l" t="t" r="r" b="b"/>
              <a:pathLst>
                <a:path w="666750" h="590550">
                  <a:moveTo>
                    <a:pt x="295275" y="0"/>
                  </a:moveTo>
                  <a:lnTo>
                    <a:pt x="666750" y="0"/>
                  </a:lnTo>
                  <a:lnTo>
                    <a:pt x="38100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FF99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20" name="kz-facet-y"/>
            <p:cNvSpPr/>
            <p:nvPr/>
          </p:nvSpPr>
          <p:spPr>
            <a:xfrm>
              <a:off x="47625" y="400050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171450" y="0"/>
                  </a:moveTo>
                  <a:lnTo>
                    <a:pt x="381000" y="0"/>
                  </a:lnTo>
                  <a:lnTo>
                    <a:pt x="219075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CC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21" name="kz-facet-o-candy"/>
            <p:cNvSpPr/>
            <p:nvPr/>
          </p:nvSpPr>
          <p:spPr>
            <a:xfrm>
              <a:off x="239675" y="85725"/>
              <a:ext cx="644888" cy="590550"/>
            </a:xfrm>
            <a:custGeom>
              <a:avLst/>
              <a:gdLst/>
              <a:ahLst/>
              <a:cxnLst/>
              <a:rect l="l" t="t" r="r" b="b"/>
              <a:pathLst>
                <a:path w="644888" h="590550">
                  <a:moveTo>
                    <a:pt x="273125" y="22150"/>
                  </a:moveTo>
                  <a:lnTo>
                    <a:pt x="308965" y="0"/>
                  </a:lnTo>
                  <a:lnTo>
                    <a:pt x="630910" y="0"/>
                  </a:lnTo>
                  <a:lnTo>
                    <a:pt x="644888" y="22292"/>
                  </a:lnTo>
                  <a:lnTo>
                    <a:pt x="380712" y="568258"/>
                  </a:lnTo>
                  <a:lnTo>
                    <a:pt x="345160" y="590550"/>
                  </a:lnTo>
                  <a:lnTo>
                    <a:pt x="13690" y="590550"/>
                  </a:lnTo>
                  <a:lnTo>
                    <a:pt x="0" y="568400"/>
                  </a:lnTo>
                  <a:close/>
                </a:path>
              </a:pathLst>
            </a:custGeom>
            <a:gradFill rotWithShape="1">
              <a:gsLst>
                <a:gs pos="0">
                  <a:srgbClr val="FFC65A"/>
                </a:gs>
                <a:gs pos="47000">
                  <a:srgbClr val="FF9B12"/>
                </a:gs>
                <a:gs pos="100000">
                  <a:srgbClr val="EC7A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98213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22" name="kz-facet-y-candy"/>
            <p:cNvSpPr/>
            <p:nvPr/>
          </p:nvSpPr>
          <p:spPr>
            <a:xfrm>
              <a:off x="55292" y="400050"/>
              <a:ext cx="366012" cy="342900"/>
            </a:xfrm>
            <a:custGeom>
              <a:avLst/>
              <a:gdLst/>
              <a:ahLst/>
              <a:cxnLst/>
              <a:rect l="l" t="t" r="r" b="b"/>
              <a:pathLst>
                <a:path w="366012" h="342900">
                  <a:moveTo>
                    <a:pt x="156116" y="15335"/>
                  </a:moveTo>
                  <a:lnTo>
                    <a:pt x="180928" y="0"/>
                  </a:lnTo>
                  <a:lnTo>
                    <a:pt x="356188" y="0"/>
                  </a:lnTo>
                  <a:lnTo>
                    <a:pt x="366012" y="15503"/>
                  </a:lnTo>
                  <a:lnTo>
                    <a:pt x="218729" y="327397"/>
                  </a:lnTo>
                  <a:lnTo>
                    <a:pt x="194263" y="342900"/>
                  </a:lnTo>
                  <a:lnTo>
                    <a:pt x="9478" y="342900"/>
                  </a:lnTo>
                  <a:lnTo>
                    <a:pt x="0" y="327565"/>
                  </a:lnTo>
                  <a:close/>
                </a:path>
              </a:pathLst>
            </a:custGeom>
            <a:gradFill rotWithShape="1">
              <a:gsLst>
                <a:gs pos="0">
                  <a:srgbClr val="FFF07A"/>
                </a:gs>
                <a:gs pos="47000">
                  <a:srgbClr val="FFD21A"/>
                </a:gs>
                <a:gs pos="100000">
                  <a:srgbClr val="EFB6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8A500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title"/>
          <p:cNvGrpSpPr/>
          <p:nvPr/>
        </p:nvGrpSpPr>
        <p:grpSpPr>
          <a:xfrm>
            <a:off x="854583" y="241300"/>
            <a:ext cx="1962912" cy="469392"/>
            <a:chOff x="854583" y="241300"/>
            <a:chExt cx="1962912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854583" y="2413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证据组织过程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rgbClr val="FF9900"/>
            </a:solidFill>
          </a:ln>
        </p:spPr>
      </p:sp>
      <p:pic>
        <p:nvPicPr>
          <p:cNvPr id="1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grpSp>
        <p:nvGrpSpPr>
          <p:cNvPr id="15" name="!!kz-carrier"/>
          <p:cNvGrpSpPr/>
          <p:nvPr/>
        </p:nvGrpSpPr>
        <p:grpSpPr>
          <a:xfrm>
            <a:off x="762000" y="1428750"/>
            <a:ext cx="4953000" cy="2857500"/>
            <a:chOff x="762000" y="1428750"/>
            <a:chExt cx="4953000" cy="2857500"/>
          </a:xfrm>
        </p:grpSpPr>
        <p:sp>
          <p:nvSpPr>
            <p:cNvPr id="12" name="Rectangle 12"/>
            <p:cNvSpPr/>
            <p:nvPr/>
          </p:nvSpPr>
          <p:spPr>
            <a:xfrm>
              <a:off x="762000" y="1428750"/>
              <a:ext cx="4953000" cy="2857500"/>
            </a:xfrm>
            <a:prstGeom prst="roundRect">
              <a:avLst>
                <a:gd name="adj" fmla="val 9333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2703576" y="17208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界定范围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180" y="2184400"/>
              <a:ext cx="2463165" cy="1055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300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研究对象：成人受试者</a:t>
              </a:r>
            </a:p>
            <a:p>
              <a:pPr algn="l" marL="161925" indent="-161925">
                <a:lnSpc>
                  <a:spcPts val="300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评价时间窗：第 16 周</a:t>
              </a:r>
            </a:p>
            <a:p>
              <a:pPr algn="l" marL="161925" indent="-161925">
                <a:lnSpc>
                  <a:spcPts val="300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纳入资料：方案、中心记录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221742" y="6521450"/>
            <a:ext cx="11672316" cy="264033"/>
            <a:chOff x="221742" y="6521450"/>
            <a:chExt cx="11672316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221742" y="6521450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产品中心-医学部｜2026年10月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71434" y="6521450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3 / 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47625" y="85725"/>
            <a:ext cx="847725" cy="657225"/>
            <a:chOff x="47625" y="85725"/>
            <a:chExt cx="847725" cy="657225"/>
          </a:xfrm>
        </p:grpSpPr>
        <p:sp xmlns:p="http://schemas.openxmlformats.org/presentationml/2006/main" xmlns:a="http://schemas.openxmlformats.org/drawingml/2006/main">
          <p:nvSpPr>
            <p:cNvPr id="19" name="kz-facet-o"/>
            <p:cNvSpPr/>
            <p:nvPr/>
          </p:nvSpPr>
          <p:spPr>
            <a:xfrm>
              <a:off x="228600" y="85725"/>
              <a:ext cx="666750" cy="590550"/>
            </a:xfrm>
            <a:custGeom>
              <a:avLst/>
              <a:gdLst/>
              <a:ahLst/>
              <a:cxnLst/>
              <a:rect l="l" t="t" r="r" b="b"/>
              <a:pathLst>
                <a:path w="666750" h="590550">
                  <a:moveTo>
                    <a:pt x="295275" y="0"/>
                  </a:moveTo>
                  <a:lnTo>
                    <a:pt x="666750" y="0"/>
                  </a:lnTo>
                  <a:lnTo>
                    <a:pt x="38100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FF99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20" name="kz-facet-y"/>
            <p:cNvSpPr/>
            <p:nvPr/>
          </p:nvSpPr>
          <p:spPr>
            <a:xfrm>
              <a:off x="47625" y="400050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171450" y="0"/>
                  </a:moveTo>
                  <a:lnTo>
                    <a:pt x="381000" y="0"/>
                  </a:lnTo>
                  <a:lnTo>
                    <a:pt x="219075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CC00">
                <a:alpha val="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21" name="kz-facet-o-candy"/>
            <p:cNvSpPr/>
            <p:nvPr/>
          </p:nvSpPr>
          <p:spPr>
            <a:xfrm>
              <a:off x="239675" y="85725"/>
              <a:ext cx="644888" cy="590550"/>
            </a:xfrm>
            <a:custGeom>
              <a:avLst/>
              <a:gdLst/>
              <a:ahLst/>
              <a:cxnLst/>
              <a:rect l="l" t="t" r="r" b="b"/>
              <a:pathLst>
                <a:path w="644888" h="590550">
                  <a:moveTo>
                    <a:pt x="273125" y="22150"/>
                  </a:moveTo>
                  <a:lnTo>
                    <a:pt x="308965" y="0"/>
                  </a:lnTo>
                  <a:lnTo>
                    <a:pt x="630910" y="0"/>
                  </a:lnTo>
                  <a:lnTo>
                    <a:pt x="644888" y="22292"/>
                  </a:lnTo>
                  <a:lnTo>
                    <a:pt x="380712" y="568258"/>
                  </a:lnTo>
                  <a:lnTo>
                    <a:pt x="345160" y="590550"/>
                  </a:lnTo>
                  <a:lnTo>
                    <a:pt x="13690" y="590550"/>
                  </a:lnTo>
                  <a:lnTo>
                    <a:pt x="0" y="568400"/>
                  </a:lnTo>
                  <a:close/>
                </a:path>
              </a:pathLst>
            </a:custGeom>
            <a:gradFill rotWithShape="1">
              <a:gsLst>
                <a:gs pos="0">
                  <a:srgbClr val="FFC65A"/>
                </a:gs>
                <a:gs pos="47000">
                  <a:srgbClr val="FF9B12"/>
                </a:gs>
                <a:gs pos="100000">
                  <a:srgbClr val="EC7A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98213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 xmlns:p="http://schemas.openxmlformats.org/presentationml/2006/main" xmlns:a="http://schemas.openxmlformats.org/drawingml/2006/main">
          <p:nvSpPr>
            <p:cNvPr id="22" name="kz-facet-y-candy"/>
            <p:cNvSpPr/>
            <p:nvPr/>
          </p:nvSpPr>
          <p:spPr>
            <a:xfrm>
              <a:off x="55292" y="400050"/>
              <a:ext cx="366012" cy="342900"/>
            </a:xfrm>
            <a:custGeom>
              <a:avLst/>
              <a:gdLst/>
              <a:ahLst/>
              <a:cxnLst/>
              <a:rect l="l" t="t" r="r" b="b"/>
              <a:pathLst>
                <a:path w="366012" h="342900">
                  <a:moveTo>
                    <a:pt x="156116" y="15335"/>
                  </a:moveTo>
                  <a:lnTo>
                    <a:pt x="180928" y="0"/>
                  </a:lnTo>
                  <a:lnTo>
                    <a:pt x="356188" y="0"/>
                  </a:lnTo>
                  <a:lnTo>
                    <a:pt x="366012" y="15503"/>
                  </a:lnTo>
                  <a:lnTo>
                    <a:pt x="218729" y="327397"/>
                  </a:lnTo>
                  <a:lnTo>
                    <a:pt x="194263" y="342900"/>
                  </a:lnTo>
                  <a:lnTo>
                    <a:pt x="9478" y="342900"/>
                  </a:lnTo>
                  <a:lnTo>
                    <a:pt x="0" y="327565"/>
                  </a:lnTo>
                  <a:close/>
                </a:path>
              </a:pathLst>
            </a:custGeom>
            <a:gradFill rotWithShape="1">
              <a:gsLst>
                <a:gs pos="0">
                  <a:srgbClr val="FFF07A"/>
                </a:gs>
                <a:gs pos="47000">
                  <a:srgbClr val="FFD21A"/>
                </a:gs>
                <a:gs pos="100000">
                  <a:srgbClr val="EFB600"/>
                </a:gs>
              </a:gsLst>
              <a:lin ang="2700000" scaled="1"/>
            </a:gradFill>
            <a:ln>
              <a:noFill/>
            </a:ln>
            <a:effectLst>
              <a:outerShdw blurRad="27940" dist="10160" dir="2700000" algn="ctr" rotWithShape="0">
                <a:srgbClr val="D8A500">
                  <a:alpha val="14000"/>
                </a:srgbClr>
              </a:outerShdw>
              <a:softEdge rad="4445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title"/>
          <p:cNvGrpSpPr/>
          <p:nvPr/>
        </p:nvGrpSpPr>
        <p:grpSpPr>
          <a:xfrm>
            <a:off x="854583" y="241300"/>
            <a:ext cx="1962912" cy="469392"/>
            <a:chOff x="854583" y="241300"/>
            <a:chExt cx="1962912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854583" y="2413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证据组织过程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rgbClr val="FF9900"/>
            </a:solidFill>
          </a:ln>
        </p:spPr>
      </p:sp>
      <p:pic>
        <p:nvPicPr>
          <p:cNvPr id="1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grpSp>
        <p:nvGrpSpPr>
          <p:cNvPr id="15" name="!!kz-carrier"/>
          <p:cNvGrpSpPr/>
          <p:nvPr/>
        </p:nvGrpSpPr>
        <p:grpSpPr>
          <a:xfrm>
            <a:off x="762000" y="1143000"/>
            <a:ext cx="7239000" cy="4476750"/>
            <a:chOff x="762000" y="1143000"/>
            <a:chExt cx="7239000" cy="4476750"/>
          </a:xfrm>
        </p:grpSpPr>
        <p:sp>
          <p:nvSpPr>
            <p:cNvPr id="12" name="Rectangle 12"/>
            <p:cNvSpPr/>
            <p:nvPr/>
          </p:nvSpPr>
          <p:spPr>
            <a:xfrm>
              <a:off x="762000" y="1143000"/>
              <a:ext cx="7239000" cy="4476750"/>
            </a:xfrm>
            <a:prstGeom prst="roundRect">
              <a:avLst>
                <a:gd name="adj" fmla="val 5957"/>
              </a:avLst>
            </a:prstGeom>
            <a:gradFill>
              <a:gsLst>
                <a:gs pos="0">
                  <a:srgbClr val="FFFDFB">
                    <a:alpha val="62000"/>
                  </a:srgbClr>
                </a:gs>
                <a:gs pos="48000">
                  <a:srgbClr val="FFFBF2">
                    <a:alpha val="55000"/>
                  </a:srgbClr>
                </a:gs>
                <a:gs pos="100000">
                  <a:srgbClr val="FFF5E4">
                    <a:alpha val="50000"/>
                  </a:srgbClr>
                </a:gs>
              </a:gsLst>
              <a:lin ang="2700000" scaled="1"/>
            </a:gradFill>
            <a:ln w="9525">
              <a:solidFill>
                <a:srgbClr val="BEB2A1">
                  <a:alpha val="45000"/>
                </a:srgbClr>
              </a:solidFill>
            </a:ln>
            <a:effectLst>
              <a:outerShdw blurRad="152400" dist="57150" dir="5400000" algn="ctr" rotWithShape="0">
                <a:srgbClr val="48341A">
                  <a:alpha val="90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3846576" y="14351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整理证据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180" y="1898650"/>
              <a:ext cx="2787015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300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方案与修订：V2.1 / V2.3</a:t>
              </a:r>
            </a:p>
            <a:p>
              <a:pPr algn="l" marL="161925" indent="-161925">
                <a:lnSpc>
                  <a:spcPts val="300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中心记录：9 份完整，3 份缺失</a:t>
              </a:r>
            </a:p>
            <a:p>
              <a:pPr algn="l" marL="161925" indent="-161925">
                <a:lnSpc>
                  <a:spcPts val="300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实验室数据：按访视窗口归组</a:t>
              </a:r>
            </a:p>
            <a:p>
              <a:pPr algn="l" marL="161925" indent="-161925">
                <a:lnSpc>
                  <a:spcPts val="3000"/>
                </a:lnSpc>
                <a:buClr>
                  <a:srgbClr val="404040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缺失记录保留为空值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221742" y="6521450"/>
            <a:ext cx="11672316" cy="264033"/>
            <a:chOff x="221742" y="6521450"/>
            <a:chExt cx="11672316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221742" y="6521450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产品中心-医学部｜2026年10月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71434" y="6521450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4 / 4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kangzhe_probe">
  <a:themeElements>
    <a:clrScheme name="kangzhe_prob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gzhe_prob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gzhe_prob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2026-10-23T17:42:15Z</dcterms:created>
  <dcterms:modified xsi:type="dcterms:W3CDTF">2026-10-23T17:42:15Z</dcterms:modified>
  <cp:category/>
  <cp:contentStatus/>
</cp:coreProperties>
</file>