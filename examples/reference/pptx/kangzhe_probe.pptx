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angzhe_prob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angzhe_prob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a4f7119df6ff402.png"/>
  <Relationship Id="rId3" Type="http://schemas.openxmlformats.org/officeDocument/2006/relationships/image" Target="../media/image_72d4f71d42247542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pic>
        <p:nvPicPr>
          <p:cNvPr id="3" name="logo"/>
          <p:cNvPicPr>
            <a:picLocks noChangeAspect="1"/>
          </p:cNvPicPr>
          <p:nvPr/>
        </p:nvPicPr>
        <p:blipFill>
          <a:blip r:embed="rId3"/>
          <a:srcRect l="413" t="0" r="413" b="0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5" name="hero-text-0"/>
          <p:cNvGrpSpPr/>
          <p:nvPr/>
        </p:nvGrpSpPr>
        <p:grpSpPr>
          <a:xfrm>
            <a:off x="857250" y="1534160"/>
            <a:ext cx="5126736" cy="819150"/>
            <a:chOff x="857250" y="1534160"/>
            <a:chExt cx="5126736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857250" y="1534160"/>
              <a:ext cx="512673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证据组织与资料核对</a:t>
              </a:r>
            </a:p>
          </p:txBody>
        </p:sp>
      </p:grpSp>
      <p:grpSp>
        <p:nvGrpSpPr>
          <p:cNvPr id="7" name="hero-text-1"/>
          <p:cNvGrpSpPr/>
          <p:nvPr/>
        </p:nvGrpSpPr>
        <p:grpSpPr>
          <a:xfrm>
            <a:off x="865632" y="3053080"/>
            <a:ext cx="3738867" cy="410718"/>
            <a:chOff x="865632" y="3053080"/>
            <a:chExt cx="3738867" cy="410718"/>
          </a:xfrm>
        </p:grpSpPr>
        <p:sp>
          <p:nvSpPr>
            <p:cNvPr id="6" name="TextBox 6"/>
            <p:cNvSpPr txBox="1"/>
            <p:nvPr/>
          </p:nvSpPr>
          <p:spPr>
            <a:xfrm>
              <a:off x="865632" y="3053080"/>
              <a:ext cx="373886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合成示例 · 研究资料审阅流程</a:t>
              </a:r>
            </a:p>
          </p:txBody>
        </p:sp>
      </p:grpSp>
      <p:grpSp>
        <p:nvGrpSpPr>
          <p:cNvPr id="9" name="hero-text-2"/>
          <p:cNvGrpSpPr/>
          <p:nvPr/>
        </p:nvGrpSpPr>
        <p:grpSpPr>
          <a:xfrm>
            <a:off x="868680" y="3632200"/>
            <a:ext cx="2811971" cy="293370"/>
            <a:chOff x="868680" y="3632200"/>
            <a:chExt cx="2811971" cy="293370"/>
          </a:xfrm>
        </p:grpSpPr>
        <p:sp>
          <p:nvSpPr>
            <p:cNvPr id="8" name="TextBox 8"/>
            <p:cNvSpPr txBox="1"/>
            <p:nvPr/>
          </p:nvSpPr>
          <p:spPr>
            <a:xfrm>
              <a:off x="868680" y="3632200"/>
              <a:ext cx="28119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3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8" name="card-1"/>
          <p:cNvGrpSpPr/>
          <p:nvPr/>
        </p:nvGrpSpPr>
        <p:grpSpPr>
          <a:xfrm>
            <a:off x="533400" y="1524000"/>
            <a:ext cx="3555682" cy="2247900"/>
            <a:chOff x="533400" y="1524000"/>
            <a:chExt cx="3555682" cy="2247900"/>
          </a:xfrm>
        </p:grpSpPr>
        <p:sp>
          <p:nvSpPr>
            <p:cNvPr id="12" name="Rectangle 12"/>
            <p:cNvSpPr/>
            <p:nvPr/>
          </p:nvSpPr>
          <p:spPr>
            <a:xfrm>
              <a:off x="533400" y="152400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762000" y="153352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1752600"/>
              <a:ext cx="323850" cy="323850"/>
            </a:xfrm>
            <a:prstGeom prst="roundRect">
              <a:avLst>
                <a:gd name="adj" fmla="val 35294"/>
              </a:avLst>
            </a:prstGeom>
            <a:solidFill>
              <a:srgbClr val="FF9900">
                <a:alpha val="14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4537" y="18192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2856" y="22225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研究人群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4380" y="2559050"/>
              <a:ext cx="2653665" cy="1017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成人受试者，筛选期 4 周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既往治疗失败或不耐受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同期参加其他干预研究者排除</a:t>
              </a:r>
            </a:p>
          </p:txBody>
        </p:sp>
      </p:grpSp>
      <p:grpSp>
        <p:nvGrpSpPr>
          <p:cNvPr id="25" name="card-2"/>
          <p:cNvGrpSpPr/>
          <p:nvPr/>
        </p:nvGrpSpPr>
        <p:grpSpPr>
          <a:xfrm>
            <a:off x="4318000" y="1524000"/>
            <a:ext cx="3555682" cy="2247900"/>
            <a:chOff x="4318000" y="1524000"/>
            <a:chExt cx="3555682" cy="2247900"/>
          </a:xfrm>
        </p:grpSpPr>
        <p:sp>
          <p:nvSpPr>
            <p:cNvPr id="19" name="Rectangle 19"/>
            <p:cNvSpPr/>
            <p:nvPr/>
          </p:nvSpPr>
          <p:spPr>
            <a:xfrm>
              <a:off x="4318000" y="152400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0" name="Rectangle 20"/>
            <p:cNvSpPr/>
            <p:nvPr/>
          </p:nvSpPr>
          <p:spPr>
            <a:xfrm>
              <a:off x="4546600" y="153352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546600" y="1752600"/>
              <a:ext cx="323850" cy="323850"/>
            </a:xfrm>
            <a:prstGeom prst="roundRect">
              <a:avLst>
                <a:gd name="adj" fmla="val 35294"/>
              </a:avLst>
            </a:prstGeom>
            <a:solidFill>
              <a:srgbClr val="FF9900">
                <a:alpha val="14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09137" y="18192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7456" y="22225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主要终点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38980" y="2559050"/>
              <a:ext cx="2463165" cy="1017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第 16 周较基线变化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缺失值不按零处理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分析人群与估计量分开说明</a:t>
              </a:r>
            </a:p>
          </p:txBody>
        </p:sp>
      </p:grpSp>
      <p:grpSp>
        <p:nvGrpSpPr>
          <p:cNvPr id="32" name="card-3"/>
          <p:cNvGrpSpPr/>
          <p:nvPr/>
        </p:nvGrpSpPr>
        <p:grpSpPr>
          <a:xfrm>
            <a:off x="8102600" y="1524000"/>
            <a:ext cx="3555682" cy="2247900"/>
            <a:chOff x="8102600" y="1524000"/>
            <a:chExt cx="3555682" cy="2247900"/>
          </a:xfrm>
        </p:grpSpPr>
        <p:sp>
          <p:nvSpPr>
            <p:cNvPr id="26" name="Rectangle 26"/>
            <p:cNvSpPr/>
            <p:nvPr/>
          </p:nvSpPr>
          <p:spPr>
            <a:xfrm>
              <a:off x="8102600" y="152400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7" name="Rectangle 27"/>
            <p:cNvSpPr/>
            <p:nvPr/>
          </p:nvSpPr>
          <p:spPr>
            <a:xfrm>
              <a:off x="8331200" y="153352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331200" y="1752600"/>
              <a:ext cx="323850" cy="323850"/>
            </a:xfrm>
            <a:prstGeom prst="roundRect">
              <a:avLst>
                <a:gd name="adj" fmla="val 35294"/>
              </a:avLst>
            </a:prstGeom>
            <a:solidFill>
              <a:srgbClr val="FF9900">
                <a:alpha val="14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93737" y="18192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2056" y="22225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安全性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3580" y="2559050"/>
              <a:ext cx="1891665" cy="1017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治疗期间不良事件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停药原因分开登记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严重事件单列时间线</a:t>
              </a:r>
            </a:p>
          </p:txBody>
        </p:sp>
      </p:grpSp>
      <p:grpSp>
        <p:nvGrpSpPr>
          <p:cNvPr id="35" name="takeaway"/>
          <p:cNvGrpSpPr/>
          <p:nvPr/>
        </p:nvGrpSpPr>
        <p:grpSpPr>
          <a:xfrm>
            <a:off x="533400" y="4000500"/>
            <a:ext cx="11125200" cy="800100"/>
            <a:chOff x="533400" y="4000500"/>
            <a:chExt cx="11125200" cy="800100"/>
          </a:xfrm>
        </p:grpSpPr>
        <p:sp>
          <p:nvSpPr>
            <p:cNvPr id="33" name="Rectangle 33"/>
            <p:cNvSpPr/>
            <p:nvPr/>
          </p:nvSpPr>
          <p:spPr>
            <a:xfrm>
              <a:off x="533400" y="4000500"/>
              <a:ext cx="11125200" cy="800100"/>
            </a:xfrm>
            <a:prstGeom prst="roundRect">
              <a:avLst>
                <a:gd name="adj" fmla="val 28571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4" name="TextBox 34"/>
            <p:cNvSpPr txBox="1"/>
            <p:nvPr/>
          </p:nvSpPr>
          <p:spPr>
            <a:xfrm>
              <a:off x="3568587" y="4260850"/>
              <a:ext cx="50548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主要终点按第 16 周评价，缺失记录</a:t>
              </a:r>
              <a:r>
                <a:rPr lang="zh-CN" sz="180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保留为空值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36" name="TextBox 3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2 / 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1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962912" cy="469392"/>
            <a:chOff x="854583" y="241300"/>
            <a:chExt cx="1962912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96291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证据组织过程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5" name="!!kz-carrier"/>
          <p:cNvGrpSpPr/>
          <p:nvPr/>
        </p:nvGrpSpPr>
        <p:grpSpPr>
          <a:xfrm>
            <a:off x="762000" y="1428750"/>
            <a:ext cx="4953000" cy="2857500"/>
            <a:chOff x="762000" y="1428750"/>
            <a:chExt cx="4953000" cy="2857500"/>
          </a:xfrm>
        </p:grpSpPr>
        <p:sp>
          <p:nvSpPr>
            <p:cNvPr id="12" name="Rectangle 12"/>
            <p:cNvSpPr/>
            <p:nvPr/>
          </p:nvSpPr>
          <p:spPr>
            <a:xfrm>
              <a:off x="762000" y="1428750"/>
              <a:ext cx="4953000" cy="2857500"/>
            </a:xfrm>
            <a:prstGeom prst="roundRect">
              <a:avLst>
                <a:gd name="adj" fmla="val 933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TextBox 13"/>
            <p:cNvSpPr txBox="1"/>
            <p:nvPr/>
          </p:nvSpPr>
          <p:spPr>
            <a:xfrm>
              <a:off x="2703576" y="17208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界定范围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2184400"/>
              <a:ext cx="2463165" cy="1055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研究对象：成人受试者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评价时间窗：第 16 周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纳入资料：方案、中心记录</a:t>
              </a:r>
            </a:p>
          </p:txBody>
        </p:sp>
      </p:grpSp>
      <p:grpSp>
        <p:nvGrpSpPr>
          <p:cNvPr id="1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16" name="TextBox 1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3 / 4</a:t>
              </a:r>
            </a:p>
          </p:txBody>
        </p:sp>
      </p:grpSp>
    </p:spTree>
  </p:cSld>
  <p:clrMapOvr>
    <a:masterClrMapping/>
  </p:clrMapOvr>
  <p:transition p14:dur="400">
    <p:fade/>
  </p:transition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1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962912" cy="469392"/>
            <a:chOff x="854583" y="241300"/>
            <a:chExt cx="1962912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96291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证据组织过程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5" name="!!kz-carrier"/>
          <p:cNvGrpSpPr/>
          <p:nvPr/>
        </p:nvGrpSpPr>
        <p:grpSpPr>
          <a:xfrm>
            <a:off x="762000" y="1143000"/>
            <a:ext cx="7239000" cy="4476750"/>
            <a:chOff x="762000" y="1143000"/>
            <a:chExt cx="7239000" cy="4476750"/>
          </a:xfrm>
        </p:grpSpPr>
        <p:sp>
          <p:nvSpPr>
            <p:cNvPr id="12" name="Rectangle 12"/>
            <p:cNvSpPr/>
            <p:nvPr/>
          </p:nvSpPr>
          <p:spPr>
            <a:xfrm>
              <a:off x="762000" y="1143000"/>
              <a:ext cx="7239000" cy="4476750"/>
            </a:xfrm>
            <a:prstGeom prst="roundRect">
              <a:avLst>
                <a:gd name="adj" fmla="val 595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TextBox 13"/>
            <p:cNvSpPr txBox="1"/>
            <p:nvPr/>
          </p:nvSpPr>
          <p:spPr>
            <a:xfrm>
              <a:off x="3846576" y="143510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整理证据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1898650"/>
              <a:ext cx="2787015" cy="1436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方案与修订：V2.1 / V2.3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中心记录：9 份完整，3 份缺失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实验室数据：按访视窗口归组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缺失记录保留为空值</a:t>
              </a:r>
            </a:p>
          </p:txBody>
        </p:sp>
      </p:grpSp>
      <p:grpSp>
        <p:nvGrpSpPr>
          <p:cNvPr id="1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16" name="TextBox 1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4 / 4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kangzhe_probe">
  <a:themeElements>
    <a:clrScheme name="kangzhe_prob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gzhe_probe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prob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2026-10-23T16:12:44Z</dcterms:created>
  <dcterms:modified xsi:type="dcterms:W3CDTF">2026-10-23T16:12:44Z</dcterms:modified>
  <cp:category/>
  <cp:contentStatus/>
</cp:coreProperties>
</file>