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kangzhe_prob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kangzhe_probe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aa4f7119df6ff402.png"/>
  <Relationship Id="rId3" Type="http://schemas.openxmlformats.org/officeDocument/2006/relationships/image" Target="../media/image_72d4f71d42247542.png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ce19777696202c35.png"/>
  <Relationship Id="rId3" Type="http://schemas.openxmlformats.org/officeDocument/2006/relationships/image" Target="../media/image_72d4f71d42247542.png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ce19777696202c35.png"/>
  <Relationship Id="rId3" Type="http://schemas.openxmlformats.org/officeDocument/2006/relationships/image" Target="../media/image_72d4f71d42247542.png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ce19777696202c35.png"/>
  <Relationship Id="rId3" Type="http://schemas.openxmlformats.org/officeDocument/2006/relationships/image" Target="../media/image_72d4f71d42247542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-image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381000"/>
            <a:ext cx="12192000" cy="6858000"/>
          </a:xfrm>
          <a:prstGeom prst="rect">
            <a:avLst/>
          </a:prstGeom>
        </p:spPr>
      </p:pic>
      <p:sp>
        <p:nvSpPr>
          <p:cNvPr id="3" name="hero-image-fade"/>
          <p:cNvSpPr/>
          <p:nvPr/>
        </p:nvSpPr>
        <p:spPr>
          <a:xfrm>
            <a:off x="0" y="381000"/>
            <a:ext cx="12192000" cy="685800"/>
          </a:xfrm>
          <a:prstGeom prst="rect">
            <a:avLst/>
          </a:prstGeom>
          <a:gradFill>
            <a:gsLst>
              <a:gs pos="0">
                <a:srgbClr val="FBFCFD"/>
              </a:gs>
              <a:gs pos="100000">
                <a:srgbClr val="FBFCFD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pic>
        <p:nvPicPr>
          <p:cNvPr id="4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419100"/>
            <a:ext cx="2286000" cy="476250"/>
          </a:xfrm>
          <a:prstGeom prst="rect">
            <a:avLst/>
          </a:prstGeom>
        </p:spPr>
      </p:pic>
      <p:grpSp>
        <p:nvGrpSpPr>
          <p:cNvPr id="6" name="hero-cover-title"/>
          <p:cNvGrpSpPr/>
          <p:nvPr/>
        </p:nvGrpSpPr>
        <p:grpSpPr>
          <a:xfrm>
            <a:off x="857250" y="2277110"/>
            <a:ext cx="5126736" cy="819150"/>
            <a:chOff x="857250" y="2277110"/>
            <a:chExt cx="5126736" cy="819150"/>
          </a:xfrm>
        </p:grpSpPr>
        <p:sp>
          <p:nvSpPr>
            <p:cNvPr id="5" name="TextBox 5"/>
            <p:cNvSpPr txBox="1"/>
            <p:nvPr/>
          </p:nvSpPr>
          <p:spPr>
            <a:xfrm>
              <a:off x="857250" y="2277110"/>
              <a:ext cx="5126736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研究资料完整性核对</a:t>
              </a:r>
            </a:p>
          </p:txBody>
        </p:sp>
      </p:grpSp>
      <p:grpSp>
        <p:nvGrpSpPr>
          <p:cNvPr id="8" name="hero-hero-subtitle"/>
          <p:cNvGrpSpPr/>
          <p:nvPr/>
        </p:nvGrpSpPr>
        <p:grpSpPr>
          <a:xfrm>
            <a:off x="865632" y="3053080"/>
            <a:ext cx="4374947" cy="410718"/>
            <a:chOff x="865632" y="3053080"/>
            <a:chExt cx="4374947" cy="410718"/>
          </a:xfrm>
        </p:grpSpPr>
        <p:sp>
          <p:nvSpPr>
            <p:cNvPr id="7" name="TextBox 7"/>
            <p:cNvSpPr txBox="1"/>
            <p:nvPr/>
          </p:nvSpPr>
          <p:spPr>
            <a:xfrm>
              <a:off x="865632" y="3053080"/>
              <a:ext cx="4374947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合成示例｜应收 24 份，已收 20 份</a:t>
              </a:r>
            </a:p>
          </p:txBody>
        </p:sp>
      </p:grpSp>
      <p:grpSp>
        <p:nvGrpSpPr>
          <p:cNvPr id="10" name="hero-hero-meta"/>
          <p:cNvGrpSpPr/>
          <p:nvPr/>
        </p:nvGrpSpPr>
        <p:grpSpPr>
          <a:xfrm>
            <a:off x="868680" y="3632200"/>
            <a:ext cx="2811971" cy="293370"/>
            <a:chOff x="868680" y="3632200"/>
            <a:chExt cx="2811971" cy="293370"/>
          </a:xfrm>
        </p:grpSpPr>
        <p:sp>
          <p:nvSpPr>
            <p:cNvPr id="9" name="TextBox 9"/>
            <p:cNvSpPr txBox="1"/>
            <p:nvPr/>
          </p:nvSpPr>
          <p:spPr>
            <a:xfrm>
              <a:off x="868680" y="3632200"/>
              <a:ext cx="281197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64676B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withEffect" decel="70000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withEffect" decel="70000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47625" y="85725"/>
            <a:ext cx="847725" cy="657225"/>
            <a:chOff x="47625" y="85725"/>
            <a:chExt cx="847725" cy="657225"/>
          </a:xfrm>
        </p:grpSpPr>
        <p:sp xmlns:p="http://schemas.openxmlformats.org/presentationml/2006/main" xmlns:a="http://schemas.openxmlformats.org/drawingml/2006/main">
          <p:nvSpPr>
            <p:cNvPr id="37" name="kz-facet-o"/>
            <p:cNvSpPr/>
            <p:nvPr/>
          </p:nvSpPr>
          <p:spPr>
            <a:xfrm>
              <a:off x="228600" y="85725"/>
              <a:ext cx="666750" cy="590550"/>
            </a:xfrm>
            <a:custGeom>
              <a:avLst/>
              <a:gdLst/>
              <a:ahLst/>
              <a:cxnLst/>
              <a:rect l="l" t="t" r="r" b="b"/>
              <a:pathLst>
                <a:path w="666750" h="590550">
                  <a:moveTo>
                    <a:pt x="295275" y="0"/>
                  </a:moveTo>
                  <a:lnTo>
                    <a:pt x="666750" y="0"/>
                  </a:lnTo>
                  <a:lnTo>
                    <a:pt x="381000" y="590550"/>
                  </a:lnTo>
                  <a:lnTo>
                    <a:pt x="0" y="590550"/>
                  </a:lnTo>
                  <a:close/>
                </a:path>
              </a:pathLst>
            </a:custGeom>
            <a:solidFill>
              <a:srgbClr val="FF99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38" name="kz-facet-y"/>
            <p:cNvSpPr/>
            <p:nvPr/>
          </p:nvSpPr>
          <p:spPr>
            <a:xfrm>
              <a:off x="47625" y="400050"/>
              <a:ext cx="381000" cy="342900"/>
            </a:xfrm>
            <a:custGeom>
              <a:avLst/>
              <a:gdLst/>
              <a:ahLst/>
              <a:cxnLst/>
              <a:rect l="l" t="t" r="r" b="b"/>
              <a:pathLst>
                <a:path w="381000" h="342900">
                  <a:moveTo>
                    <a:pt x="171450" y="0"/>
                  </a:moveTo>
                  <a:lnTo>
                    <a:pt x="381000" y="0"/>
                  </a:lnTo>
                  <a:lnTo>
                    <a:pt x="219075" y="342900"/>
                  </a:lnTo>
                  <a:lnTo>
                    <a:pt x="0" y="342900"/>
                  </a:lnTo>
                  <a:close/>
                </a:path>
              </a:pathLst>
            </a:custGeom>
            <a:solidFill>
              <a:srgbClr val="FFCC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39" name="kz-facet-o-candy"/>
            <p:cNvSpPr/>
            <p:nvPr/>
          </p:nvSpPr>
          <p:spPr>
            <a:xfrm>
              <a:off x="239675" y="85725"/>
              <a:ext cx="644888" cy="590550"/>
            </a:xfrm>
            <a:custGeom>
              <a:avLst/>
              <a:gdLst/>
              <a:ahLst/>
              <a:cxnLst/>
              <a:rect l="l" t="t" r="r" b="b"/>
              <a:pathLst>
                <a:path w="644888" h="590550">
                  <a:moveTo>
                    <a:pt x="273125" y="22150"/>
                  </a:moveTo>
                  <a:lnTo>
                    <a:pt x="308965" y="0"/>
                  </a:lnTo>
                  <a:lnTo>
                    <a:pt x="630910" y="0"/>
                  </a:lnTo>
                  <a:lnTo>
                    <a:pt x="644888" y="22292"/>
                  </a:lnTo>
                  <a:lnTo>
                    <a:pt x="380712" y="568258"/>
                  </a:lnTo>
                  <a:lnTo>
                    <a:pt x="345160" y="590550"/>
                  </a:lnTo>
                  <a:lnTo>
                    <a:pt x="13690" y="590550"/>
                  </a:lnTo>
                  <a:lnTo>
                    <a:pt x="0" y="568400"/>
                  </a:lnTo>
                  <a:close/>
                </a:path>
              </a:pathLst>
            </a:custGeom>
            <a:gradFill rotWithShape="1">
              <a:gsLst>
                <a:gs pos="0">
                  <a:srgbClr val="FFC65A"/>
                </a:gs>
                <a:gs pos="47000">
                  <a:srgbClr val="FF9B12"/>
                </a:gs>
                <a:gs pos="100000">
                  <a:srgbClr val="EC7A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98213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40" name="kz-facet-y-candy"/>
            <p:cNvSpPr/>
            <p:nvPr/>
          </p:nvSpPr>
          <p:spPr>
            <a:xfrm>
              <a:off x="55292" y="400050"/>
              <a:ext cx="366012" cy="342900"/>
            </a:xfrm>
            <a:custGeom>
              <a:avLst/>
              <a:gdLst/>
              <a:ahLst/>
              <a:cxnLst/>
              <a:rect l="l" t="t" r="r" b="b"/>
              <a:pathLst>
                <a:path w="366012" h="342900">
                  <a:moveTo>
                    <a:pt x="156116" y="15335"/>
                  </a:moveTo>
                  <a:lnTo>
                    <a:pt x="180928" y="0"/>
                  </a:lnTo>
                  <a:lnTo>
                    <a:pt x="356188" y="0"/>
                  </a:lnTo>
                  <a:lnTo>
                    <a:pt x="366012" y="15503"/>
                  </a:lnTo>
                  <a:lnTo>
                    <a:pt x="218729" y="327397"/>
                  </a:lnTo>
                  <a:lnTo>
                    <a:pt x="194263" y="342900"/>
                  </a:lnTo>
                  <a:lnTo>
                    <a:pt x="9478" y="342900"/>
                  </a:lnTo>
                  <a:lnTo>
                    <a:pt x="0" y="327565"/>
                  </a:lnTo>
                  <a:close/>
                </a:path>
              </a:pathLst>
            </a:custGeom>
            <a:gradFill rotWithShape="1">
              <a:gsLst>
                <a:gs pos="0">
                  <a:srgbClr val="FFF07A"/>
                </a:gs>
                <a:gs pos="47000">
                  <a:srgbClr val="FFD21A"/>
                </a:gs>
                <a:gs pos="100000">
                  <a:srgbClr val="EFB6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8A500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9" name="title"/>
          <p:cNvGrpSpPr/>
          <p:nvPr/>
        </p:nvGrpSpPr>
        <p:grpSpPr>
          <a:xfrm>
            <a:off x="854583" y="241300"/>
            <a:ext cx="1316736" cy="469392"/>
            <a:chOff x="854583" y="241300"/>
            <a:chExt cx="1316736" cy="469392"/>
          </a:xfrm>
        </p:grpSpPr>
        <p:sp>
          <p:nvSpPr>
            <p:cNvPr id="8" name="TextBox 8"/>
            <p:cNvSpPr txBox="1"/>
            <p:nvPr/>
          </p:nvSpPr>
          <p:spPr>
            <a:xfrm>
              <a:off x="854583" y="241300"/>
              <a:ext cx="13167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研究范围</a:t>
              </a:r>
            </a:p>
          </p:txBody>
        </p:sp>
      </p:grpSp>
      <p:sp>
        <p:nvSpPr>
          <p:cNvPr id="10" name="Line 10"/>
          <p:cNvSpPr/>
          <p:nvPr/>
        </p:nvSpPr>
        <p:spPr>
          <a:xfrm>
            <a:off x="514350" y="762000"/>
            <a:ext cx="11458575" cy="9525"/>
          </a:xfrm>
          <a:custGeom>
            <a:avLst/>
            <a:gdLst/>
            <a:ahLst/>
            <a:cxnLst/>
            <a:rect l="l" t="t" r="r" b="b"/>
            <a:pathLst>
              <a:path w="11458575" h="9525">
                <a:moveTo>
                  <a:pt x="0" y="0"/>
                </a:moveTo>
                <a:lnTo>
                  <a:pt x="11458575" y="0"/>
                </a:lnTo>
              </a:path>
            </a:pathLst>
          </a:custGeom>
          <a:noFill/>
          <a:ln w="14288">
            <a:solidFill>
              <a:srgbClr val="FF9900"/>
            </a:solidFill>
          </a:ln>
        </p:spPr>
      </p:sp>
      <p:pic>
        <p:nvPicPr>
          <p:cNvPr id="11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0275" y="428625"/>
            <a:ext cx="1504950" cy="314325"/>
          </a:xfrm>
          <a:prstGeom prst="rect">
            <a:avLst/>
          </a:prstGeom>
        </p:spPr>
      </p:pic>
      <p:grpSp>
        <p:nvGrpSpPr>
          <p:cNvPr id="17" name="card-1"/>
          <p:cNvGrpSpPr/>
          <p:nvPr/>
        </p:nvGrpSpPr>
        <p:grpSpPr>
          <a:xfrm>
            <a:off x="533400" y="1962150"/>
            <a:ext cx="3555682" cy="2247900"/>
            <a:chOff x="533400" y="1962150"/>
            <a:chExt cx="3555682" cy="2247900"/>
          </a:xfrm>
        </p:grpSpPr>
        <p:sp>
          <p:nvSpPr>
            <p:cNvPr id="12" name="Rectangle 12"/>
            <p:cNvSpPr/>
            <p:nvPr/>
          </p:nvSpPr>
          <p:spPr>
            <a:xfrm>
              <a:off x="533400" y="1962150"/>
              <a:ext cx="3555682" cy="2247900"/>
            </a:xfrm>
            <a:prstGeom prst="roundRect">
              <a:avLst>
                <a:gd name="adj" fmla="val 10169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13" name="Rectangle 13"/>
            <p:cNvSpPr/>
            <p:nvPr/>
          </p:nvSpPr>
          <p:spPr>
            <a:xfrm>
              <a:off x="762000" y="1971675"/>
              <a:ext cx="1066800" cy="14288"/>
            </a:xfrm>
            <a:prstGeom prst="rect">
              <a:avLst/>
            </a:prstGeom>
            <a:gradFill>
              <a:gsLst>
                <a:gs pos="0">
                  <a:srgbClr val="FFFFFF">
                    <a:alpha val="0"/>
                  </a:srgbClr>
                </a:gs>
                <a:gs pos="50000">
                  <a:srgbClr val="FFFFFF">
                    <a:alpha val="9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52856" y="2203450"/>
              <a:ext cx="195681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研究对象与时间窗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47522" y="2611755"/>
              <a:ext cx="264193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成人受试者</a:t>
              </a:r>
              <a:r>
                <a:rPr lang="zh-CN" sz="1200" dirty="0">
                  <a:solidFill>
                    <a:srgbClr val="64676B"/>
                  </a:solidFill>
                  <a:latin typeface="+mn-lt"/>
                  <a:ea typeface="+mn-ea"/>
                  <a:cs typeface="+mn-cs"/>
                </a:rPr>
                <a:t xml:space="preserve"> 研究对象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47522" y="3178492"/>
              <a:ext cx="233731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第 16 周</a:t>
              </a:r>
              <a:r>
                <a:rPr lang="zh-CN" sz="1200" dirty="0">
                  <a:solidFill>
                    <a:srgbClr val="64676B"/>
                  </a:solidFill>
                  <a:latin typeface="+mn-lt"/>
                  <a:ea typeface="+mn-ea"/>
                  <a:cs typeface="+mn-cs"/>
                </a:rPr>
                <a:t xml:space="preserve"> 评价时间窗</a:t>
              </a:r>
            </a:p>
          </p:txBody>
        </p:sp>
      </p:grpSp>
      <p:grpSp>
        <p:nvGrpSpPr>
          <p:cNvPr id="24" name="card-2"/>
          <p:cNvGrpSpPr/>
          <p:nvPr/>
        </p:nvGrpSpPr>
        <p:grpSpPr>
          <a:xfrm>
            <a:off x="4317968" y="1962150"/>
            <a:ext cx="3555682" cy="2247900"/>
            <a:chOff x="4317968" y="1962150"/>
            <a:chExt cx="3555682" cy="2247900"/>
          </a:xfrm>
        </p:grpSpPr>
        <p:sp>
          <p:nvSpPr>
            <p:cNvPr id="18" name="Rectangle 18"/>
            <p:cNvSpPr/>
            <p:nvPr/>
          </p:nvSpPr>
          <p:spPr>
            <a:xfrm>
              <a:off x="4317968" y="1962150"/>
              <a:ext cx="3555682" cy="2247900"/>
            </a:xfrm>
            <a:prstGeom prst="roundRect">
              <a:avLst>
                <a:gd name="adj" fmla="val 10169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19" name="Rectangle 19"/>
            <p:cNvSpPr/>
            <p:nvPr/>
          </p:nvSpPr>
          <p:spPr>
            <a:xfrm>
              <a:off x="4546568" y="1971675"/>
              <a:ext cx="1066800" cy="14288"/>
            </a:xfrm>
            <a:prstGeom prst="rect">
              <a:avLst/>
            </a:prstGeom>
            <a:gradFill>
              <a:gsLst>
                <a:gs pos="0">
                  <a:srgbClr val="FFFFFF">
                    <a:alpha val="0"/>
                  </a:srgbClr>
                </a:gs>
                <a:gs pos="50000">
                  <a:srgbClr val="FFFFFF">
                    <a:alpha val="9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537424" y="220345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纳入资料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532090" y="2611755"/>
              <a:ext cx="144968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4 组</a:t>
              </a:r>
              <a:r>
                <a:rPr lang="zh-CN" sz="1200" dirty="0">
                  <a:solidFill>
                    <a:srgbClr val="64676B"/>
                  </a:solidFill>
                  <a:latin typeface="+mn-lt"/>
                  <a:ea typeface="+mn-ea"/>
                  <a:cs typeface="+mn-cs"/>
                </a:rPr>
                <a:t xml:space="preserve"> 纳入核对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38948" y="3106738"/>
              <a:ext cx="1129665" cy="655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方案与修订</a:t>
              </a:r>
            </a:p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实验室数据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088190" y="3106738"/>
              <a:ext cx="1129665" cy="655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中心记录</a:t>
              </a:r>
            </a:p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安全性报告</a:t>
              </a:r>
            </a:p>
          </p:txBody>
        </p:sp>
      </p:grpSp>
      <p:grpSp>
        <p:nvGrpSpPr>
          <p:cNvPr id="30" name="card-3"/>
          <p:cNvGrpSpPr/>
          <p:nvPr/>
        </p:nvGrpSpPr>
        <p:grpSpPr>
          <a:xfrm>
            <a:off x="8102632" y="1962150"/>
            <a:ext cx="3555682" cy="2247900"/>
            <a:chOff x="8102632" y="1962150"/>
            <a:chExt cx="3555682" cy="2247900"/>
          </a:xfrm>
        </p:grpSpPr>
        <p:sp>
          <p:nvSpPr>
            <p:cNvPr id="25" name="Rectangle 25"/>
            <p:cNvSpPr/>
            <p:nvPr/>
          </p:nvSpPr>
          <p:spPr>
            <a:xfrm>
              <a:off x="8102632" y="1962150"/>
              <a:ext cx="3555682" cy="2247900"/>
            </a:xfrm>
            <a:prstGeom prst="roundRect">
              <a:avLst>
                <a:gd name="adj" fmla="val 10169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26" name="Rectangle 26"/>
            <p:cNvSpPr/>
            <p:nvPr/>
          </p:nvSpPr>
          <p:spPr>
            <a:xfrm>
              <a:off x="8331232" y="1971675"/>
              <a:ext cx="1066800" cy="14288"/>
            </a:xfrm>
            <a:prstGeom prst="rect">
              <a:avLst/>
            </a:prstGeom>
            <a:gradFill>
              <a:gsLst>
                <a:gs pos="0">
                  <a:srgbClr val="FFFFFF">
                    <a:alpha val="0"/>
                  </a:srgbClr>
                </a:gs>
                <a:gs pos="50000">
                  <a:srgbClr val="FFFFFF">
                    <a:alpha val="9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322088" y="220345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方案版本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16754" y="2611755"/>
              <a:ext cx="1611229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C00000"/>
                  </a:solidFill>
                  <a:latin typeface="+mn-lt"/>
                  <a:ea typeface="+mn-ea"/>
                  <a:cs typeface="+mn-cs"/>
                </a:rPr>
                <a:t>2 项</a:t>
              </a:r>
              <a:r>
                <a:rPr lang="zh-CN" sz="1200" dirty="0">
                  <a:solidFill>
                    <a:srgbClr val="64676B"/>
                  </a:solidFill>
                  <a:latin typeface="+mn-lt"/>
                  <a:ea typeface="+mn-ea"/>
                  <a:cs typeface="+mn-cs"/>
                </a:rPr>
                <a:t xml:space="preserve"> 待确认差异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323612" y="3106738"/>
              <a:ext cx="2463165" cy="655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V2.1 与 V2.3 并排比较</a:t>
              </a:r>
            </a:p>
            <a:p>
              <a:pPr algn="l" marL="161925" indent="-161925">
                <a:lnSpc>
                  <a:spcPts val="28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筛选窗口、终点评价时间点</a:t>
              </a:r>
            </a:p>
          </p:txBody>
        </p:sp>
      </p:grpSp>
      <p:grpSp>
        <p:nvGrpSpPr>
          <p:cNvPr id="33" name="takeaway"/>
          <p:cNvGrpSpPr/>
          <p:nvPr/>
        </p:nvGrpSpPr>
        <p:grpSpPr>
          <a:xfrm>
            <a:off x="533400" y="4438650"/>
            <a:ext cx="11125200" cy="800100"/>
            <a:chOff x="533400" y="4438650"/>
            <a:chExt cx="11125200" cy="800100"/>
          </a:xfrm>
        </p:grpSpPr>
        <p:sp>
          <p:nvSpPr>
            <p:cNvPr id="31" name="Rectangle 31"/>
            <p:cNvSpPr/>
            <p:nvPr/>
          </p:nvSpPr>
          <p:spPr>
            <a:xfrm>
              <a:off x="533400" y="4438650"/>
              <a:ext cx="11125200" cy="800100"/>
            </a:xfrm>
            <a:prstGeom prst="roundRect">
              <a:avLst>
                <a:gd name="adj" fmla="val 28571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32" name="TextBox 32"/>
            <p:cNvSpPr txBox="1"/>
            <p:nvPr/>
          </p:nvSpPr>
          <p:spPr>
            <a:xfrm>
              <a:off x="4269486" y="4737100"/>
              <a:ext cx="365302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版本差异</a:t>
              </a:r>
              <a:r>
                <a:rPr lang="zh-CN" sz="1800" b="1" dirty="0">
                  <a:solidFill>
                    <a:srgbClr val="C00000"/>
                  </a:solidFill>
                  <a:latin typeface="+mn-lt"/>
                  <a:ea typeface="+mn-ea"/>
                  <a:cs typeface="+mn-cs"/>
                </a:rPr>
                <a:t>确认之后</a:t>
              </a:r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，再做组间比较</a:t>
              </a:r>
            </a:p>
          </p:txBody>
        </p:sp>
      </p:grpSp>
      <p:grpSp>
        <p:nvGrpSpPr>
          <p:cNvPr id="36" name="footer"/>
          <p:cNvGrpSpPr/>
          <p:nvPr/>
        </p:nvGrpSpPr>
        <p:grpSpPr>
          <a:xfrm>
            <a:off x="221742" y="6521450"/>
            <a:ext cx="11672316" cy="264033"/>
            <a:chOff x="221742" y="6521450"/>
            <a:chExt cx="11672316" cy="264033"/>
          </a:xfrm>
        </p:grpSpPr>
        <p:sp>
          <p:nvSpPr>
            <p:cNvPr id="34" name="TextBox 34"/>
            <p:cNvSpPr txBox="1"/>
            <p:nvPr/>
          </p:nvSpPr>
          <p:spPr>
            <a:xfrm>
              <a:off x="221742" y="6521450"/>
              <a:ext cx="25307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471434" y="6521450"/>
              <a:ext cx="4226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2 / 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withEffect" decel="70000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withEffect" decel="70000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1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withEffect" decel="70000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47625" y="85725"/>
            <a:ext cx="847725" cy="657225"/>
            <a:chOff x="47625" y="85725"/>
            <a:chExt cx="847725" cy="657225"/>
          </a:xfrm>
        </p:grpSpPr>
        <p:sp xmlns:p="http://schemas.openxmlformats.org/presentationml/2006/main" xmlns:a="http://schemas.openxmlformats.org/drawingml/2006/main">
          <p:nvSpPr>
            <p:cNvPr id="29" name="kz-facet-o"/>
            <p:cNvSpPr/>
            <p:nvPr/>
          </p:nvSpPr>
          <p:spPr>
            <a:xfrm>
              <a:off x="228600" y="85725"/>
              <a:ext cx="666750" cy="590550"/>
            </a:xfrm>
            <a:custGeom>
              <a:avLst/>
              <a:gdLst/>
              <a:ahLst/>
              <a:cxnLst/>
              <a:rect l="l" t="t" r="r" b="b"/>
              <a:pathLst>
                <a:path w="666750" h="590550">
                  <a:moveTo>
                    <a:pt x="295275" y="0"/>
                  </a:moveTo>
                  <a:lnTo>
                    <a:pt x="666750" y="0"/>
                  </a:lnTo>
                  <a:lnTo>
                    <a:pt x="381000" y="590550"/>
                  </a:lnTo>
                  <a:lnTo>
                    <a:pt x="0" y="590550"/>
                  </a:lnTo>
                  <a:close/>
                </a:path>
              </a:pathLst>
            </a:custGeom>
            <a:solidFill>
              <a:srgbClr val="FF99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30" name="kz-facet-y"/>
            <p:cNvSpPr/>
            <p:nvPr/>
          </p:nvSpPr>
          <p:spPr>
            <a:xfrm>
              <a:off x="47625" y="400050"/>
              <a:ext cx="381000" cy="342900"/>
            </a:xfrm>
            <a:custGeom>
              <a:avLst/>
              <a:gdLst/>
              <a:ahLst/>
              <a:cxnLst/>
              <a:rect l="l" t="t" r="r" b="b"/>
              <a:pathLst>
                <a:path w="381000" h="342900">
                  <a:moveTo>
                    <a:pt x="171450" y="0"/>
                  </a:moveTo>
                  <a:lnTo>
                    <a:pt x="381000" y="0"/>
                  </a:lnTo>
                  <a:lnTo>
                    <a:pt x="219075" y="342900"/>
                  </a:lnTo>
                  <a:lnTo>
                    <a:pt x="0" y="342900"/>
                  </a:lnTo>
                  <a:close/>
                </a:path>
              </a:pathLst>
            </a:custGeom>
            <a:solidFill>
              <a:srgbClr val="FFCC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31" name="kz-facet-o-candy"/>
            <p:cNvSpPr/>
            <p:nvPr/>
          </p:nvSpPr>
          <p:spPr>
            <a:xfrm>
              <a:off x="239675" y="85725"/>
              <a:ext cx="644888" cy="590550"/>
            </a:xfrm>
            <a:custGeom>
              <a:avLst/>
              <a:gdLst/>
              <a:ahLst/>
              <a:cxnLst/>
              <a:rect l="l" t="t" r="r" b="b"/>
              <a:pathLst>
                <a:path w="644888" h="590550">
                  <a:moveTo>
                    <a:pt x="273125" y="22150"/>
                  </a:moveTo>
                  <a:lnTo>
                    <a:pt x="308965" y="0"/>
                  </a:lnTo>
                  <a:lnTo>
                    <a:pt x="630910" y="0"/>
                  </a:lnTo>
                  <a:lnTo>
                    <a:pt x="644888" y="22292"/>
                  </a:lnTo>
                  <a:lnTo>
                    <a:pt x="380712" y="568258"/>
                  </a:lnTo>
                  <a:lnTo>
                    <a:pt x="345160" y="590550"/>
                  </a:lnTo>
                  <a:lnTo>
                    <a:pt x="13690" y="590550"/>
                  </a:lnTo>
                  <a:lnTo>
                    <a:pt x="0" y="568400"/>
                  </a:lnTo>
                  <a:close/>
                </a:path>
              </a:pathLst>
            </a:custGeom>
            <a:gradFill rotWithShape="1">
              <a:gsLst>
                <a:gs pos="0">
                  <a:srgbClr val="FFC65A"/>
                </a:gs>
                <a:gs pos="47000">
                  <a:srgbClr val="FF9B12"/>
                </a:gs>
                <a:gs pos="100000">
                  <a:srgbClr val="EC7A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98213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32" name="kz-facet-y-candy"/>
            <p:cNvSpPr/>
            <p:nvPr/>
          </p:nvSpPr>
          <p:spPr>
            <a:xfrm>
              <a:off x="55292" y="400050"/>
              <a:ext cx="366012" cy="342900"/>
            </a:xfrm>
            <a:custGeom>
              <a:avLst/>
              <a:gdLst/>
              <a:ahLst/>
              <a:cxnLst/>
              <a:rect l="l" t="t" r="r" b="b"/>
              <a:pathLst>
                <a:path w="366012" h="342900">
                  <a:moveTo>
                    <a:pt x="156116" y="15335"/>
                  </a:moveTo>
                  <a:lnTo>
                    <a:pt x="180928" y="0"/>
                  </a:lnTo>
                  <a:lnTo>
                    <a:pt x="356188" y="0"/>
                  </a:lnTo>
                  <a:lnTo>
                    <a:pt x="366012" y="15503"/>
                  </a:lnTo>
                  <a:lnTo>
                    <a:pt x="218729" y="327397"/>
                  </a:lnTo>
                  <a:lnTo>
                    <a:pt x="194263" y="342900"/>
                  </a:lnTo>
                  <a:lnTo>
                    <a:pt x="9478" y="342900"/>
                  </a:lnTo>
                  <a:lnTo>
                    <a:pt x="0" y="327565"/>
                  </a:lnTo>
                  <a:close/>
                </a:path>
              </a:pathLst>
            </a:custGeom>
            <a:gradFill rotWithShape="1">
              <a:gsLst>
                <a:gs pos="0">
                  <a:srgbClr val="FFF07A"/>
                </a:gs>
                <a:gs pos="47000">
                  <a:srgbClr val="FFD21A"/>
                </a:gs>
                <a:gs pos="100000">
                  <a:srgbClr val="EFB6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8A500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9" name="title"/>
          <p:cNvGrpSpPr/>
          <p:nvPr/>
        </p:nvGrpSpPr>
        <p:grpSpPr>
          <a:xfrm>
            <a:off x="854583" y="241300"/>
            <a:ext cx="1316736" cy="469392"/>
            <a:chOff x="854583" y="241300"/>
            <a:chExt cx="1316736" cy="469392"/>
          </a:xfrm>
        </p:grpSpPr>
        <p:sp>
          <p:nvSpPr>
            <p:cNvPr id="8" name="TextBox 8"/>
            <p:cNvSpPr txBox="1"/>
            <p:nvPr/>
          </p:nvSpPr>
          <p:spPr>
            <a:xfrm>
              <a:off x="854583" y="241300"/>
              <a:ext cx="13167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核对流程</a:t>
              </a:r>
            </a:p>
          </p:txBody>
        </p:sp>
      </p:grpSp>
      <p:sp>
        <p:nvSpPr>
          <p:cNvPr id="10" name="Line 10"/>
          <p:cNvSpPr/>
          <p:nvPr/>
        </p:nvSpPr>
        <p:spPr>
          <a:xfrm>
            <a:off x="514350" y="762000"/>
            <a:ext cx="11458575" cy="9525"/>
          </a:xfrm>
          <a:custGeom>
            <a:avLst/>
            <a:gdLst/>
            <a:ahLst/>
            <a:cxnLst/>
            <a:rect l="l" t="t" r="r" b="b"/>
            <a:pathLst>
              <a:path w="11458575" h="9525">
                <a:moveTo>
                  <a:pt x="0" y="0"/>
                </a:moveTo>
                <a:lnTo>
                  <a:pt x="11458575" y="0"/>
                </a:lnTo>
              </a:path>
            </a:pathLst>
          </a:custGeom>
          <a:noFill/>
          <a:ln w="14288">
            <a:solidFill>
              <a:srgbClr val="FF9900"/>
            </a:solidFill>
          </a:ln>
        </p:spPr>
      </p:sp>
      <p:pic>
        <p:nvPicPr>
          <p:cNvPr id="11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0275" y="428625"/>
            <a:ext cx="1504950" cy="314325"/>
          </a:xfrm>
          <a:prstGeom prst="rect">
            <a:avLst/>
          </a:prstGeom>
        </p:spPr>
      </p:pic>
      <p:grpSp>
        <p:nvGrpSpPr>
          <p:cNvPr id="16" name="!!kz-carrier"/>
          <p:cNvGrpSpPr/>
          <p:nvPr/>
        </p:nvGrpSpPr>
        <p:grpSpPr>
          <a:xfrm>
            <a:off x="3429000" y="2019300"/>
            <a:ext cx="5334000" cy="2476500"/>
            <a:chOff x="3429000" y="2019300"/>
            <a:chExt cx="5334000" cy="2476500"/>
          </a:xfrm>
        </p:grpSpPr>
        <p:sp>
          <p:nvSpPr>
            <p:cNvPr id="12" name="Rectangle 12"/>
            <p:cNvSpPr/>
            <p:nvPr/>
          </p:nvSpPr>
          <p:spPr>
            <a:xfrm>
              <a:off x="3429000" y="2019300"/>
              <a:ext cx="5334000" cy="2476500"/>
            </a:xfrm>
            <a:prstGeom prst="roundRect">
              <a:avLst>
                <a:gd name="adj" fmla="val 10769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13" name="TextBox 13"/>
            <p:cNvSpPr txBox="1"/>
            <p:nvPr/>
          </p:nvSpPr>
          <p:spPr>
            <a:xfrm>
              <a:off x="3800856" y="237490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界定范围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904" y="2781300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676B"/>
                  </a:solidFill>
                  <a:latin typeface="+mn-lt"/>
                  <a:ea typeface="+mn-ea"/>
                  <a:cs typeface="+mn-cs"/>
                </a:rPr>
                <a:t>先定对象、时间窗和纳入的资料。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802380" y="3105150"/>
              <a:ext cx="2082165" cy="10934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lnSpc>
                  <a:spcPts val="31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研究对象：成人受试者</a:t>
              </a:r>
            </a:p>
            <a:p>
              <a:pPr algn="l" marL="161925" indent="-161925">
                <a:lnSpc>
                  <a:spcPts val="31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评价时间窗：</a:t>
              </a:r>
              <a:r>
                <a:rPr lang="zh-CN" sz="15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第 16 周</a:t>
              </a:r>
            </a:p>
            <a:p>
              <a:pPr algn="l" marL="161925" indent="-161925">
                <a:lnSpc>
                  <a:spcPts val="31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纳入资料：4 组</a:t>
              </a:r>
            </a:p>
          </p:txBody>
        </p:sp>
      </p:grpSp>
      <p:grpSp>
        <p:nvGrpSpPr>
          <p:cNvPr id="25" name="steps"/>
          <p:cNvGrpSpPr/>
          <p:nvPr/>
        </p:nvGrpSpPr>
        <p:grpSpPr>
          <a:xfrm>
            <a:off x="533400" y="5600700"/>
            <a:ext cx="11125200" cy="457200"/>
            <a:chOff x="533400" y="5600700"/>
            <a:chExt cx="11125200" cy="457200"/>
          </a:xfrm>
        </p:grpSpPr>
        <p:sp>
          <p:nvSpPr>
            <p:cNvPr id="17" name="Rectangle 17"/>
            <p:cNvSpPr/>
            <p:nvPr/>
          </p:nvSpPr>
          <p:spPr>
            <a:xfrm>
              <a:off x="533400" y="5600700"/>
              <a:ext cx="2667000" cy="457200"/>
            </a:xfrm>
            <a:prstGeom prst="roundRect">
              <a:avLst>
                <a:gd name="adj" fmla="val 33333"/>
              </a:avLst>
            </a:prstGeom>
            <a:solidFill>
              <a:srgbClr val="FF9900">
                <a:alpha val="16000"/>
              </a:srgbClr>
            </a:solidFill>
            <a:ln w="9525">
              <a:solidFill>
                <a:srgbClr val="BEB2A1">
                  <a:alpha val="30000"/>
                </a:srgbClr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17804" y="5743575"/>
              <a:ext cx="8025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1 界定范围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352800" y="5600700"/>
              <a:ext cx="2667000" cy="457200"/>
            </a:xfrm>
            <a:prstGeom prst="roundRect">
              <a:avLst>
                <a:gd name="adj" fmla="val 33333"/>
              </a:avLst>
            </a:prstGeom>
            <a:solidFill>
              <a:srgbClr val="FFFFFF">
                <a:alpha val="60000"/>
              </a:srgbClr>
            </a:solidFill>
            <a:ln w="9525">
              <a:solidFill>
                <a:srgbClr val="BEB2A1">
                  <a:alpha val="30000"/>
                </a:srgbClr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537204" y="5743575"/>
              <a:ext cx="8025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2 清点资料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72200" y="5600700"/>
              <a:ext cx="2667000" cy="457200"/>
            </a:xfrm>
            <a:prstGeom prst="roundRect">
              <a:avLst>
                <a:gd name="adj" fmla="val 33333"/>
              </a:avLst>
            </a:prstGeom>
            <a:solidFill>
              <a:srgbClr val="FFFFFF">
                <a:alpha val="60000"/>
              </a:srgbClr>
            </a:solidFill>
            <a:ln w="9525">
              <a:solidFill>
                <a:srgbClr val="BEB2A1">
                  <a:alpha val="30000"/>
                </a:srgbClr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56604" y="5743575"/>
              <a:ext cx="8025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3 比较版本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991600" y="5600700"/>
              <a:ext cx="2667000" cy="457200"/>
            </a:xfrm>
            <a:prstGeom prst="roundRect">
              <a:avLst>
                <a:gd name="adj" fmla="val 33333"/>
              </a:avLst>
            </a:prstGeom>
            <a:solidFill>
              <a:srgbClr val="FFFFFF">
                <a:alpha val="60000"/>
              </a:srgbClr>
            </a:solidFill>
            <a:ln w="9525">
              <a:solidFill>
                <a:srgbClr val="BEB2A1">
                  <a:alpha val="30000"/>
                </a:srgbClr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176004" y="5743575"/>
              <a:ext cx="8025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4 排定计划</a:t>
              </a:r>
            </a:p>
          </p:txBody>
        </p:sp>
      </p:grpSp>
      <p:grpSp>
        <p:nvGrpSpPr>
          <p:cNvPr id="28" name="footer"/>
          <p:cNvGrpSpPr/>
          <p:nvPr/>
        </p:nvGrpSpPr>
        <p:grpSpPr>
          <a:xfrm>
            <a:off x="221742" y="6521450"/>
            <a:ext cx="11672316" cy="264033"/>
            <a:chOff x="221742" y="6521450"/>
            <a:chExt cx="11672316" cy="264033"/>
          </a:xfrm>
        </p:grpSpPr>
        <p:sp>
          <p:nvSpPr>
            <p:cNvPr id="26" name="TextBox 26"/>
            <p:cNvSpPr txBox="1"/>
            <p:nvPr/>
          </p:nvSpPr>
          <p:spPr>
            <a:xfrm>
              <a:off x="221742" y="6521450"/>
              <a:ext cx="25307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471434" y="6521450"/>
              <a:ext cx="4226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3 / 4</a:t>
              </a:r>
            </a:p>
          </p:txBody>
        </p:sp>
      </p:grpSp>
    </p:spTree>
  </p:cSld>
  <p:clrMapOvr>
    <a:masterClrMapping/>
  </p:clrMapOvr>
  <p:transition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 decel="70000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47625" y="85725"/>
            <a:ext cx="847725" cy="657225"/>
            <a:chOff x="47625" y="85725"/>
            <a:chExt cx="847725" cy="657225"/>
          </a:xfrm>
        </p:grpSpPr>
        <p:sp xmlns:p="http://schemas.openxmlformats.org/presentationml/2006/main" xmlns:a="http://schemas.openxmlformats.org/drawingml/2006/main">
          <p:nvSpPr>
            <p:cNvPr id="29" name="kz-facet-o"/>
            <p:cNvSpPr/>
            <p:nvPr/>
          </p:nvSpPr>
          <p:spPr>
            <a:xfrm>
              <a:off x="228600" y="85725"/>
              <a:ext cx="666750" cy="590550"/>
            </a:xfrm>
            <a:custGeom>
              <a:avLst/>
              <a:gdLst/>
              <a:ahLst/>
              <a:cxnLst/>
              <a:rect l="l" t="t" r="r" b="b"/>
              <a:pathLst>
                <a:path w="666750" h="590550">
                  <a:moveTo>
                    <a:pt x="295275" y="0"/>
                  </a:moveTo>
                  <a:lnTo>
                    <a:pt x="666750" y="0"/>
                  </a:lnTo>
                  <a:lnTo>
                    <a:pt x="381000" y="590550"/>
                  </a:lnTo>
                  <a:lnTo>
                    <a:pt x="0" y="590550"/>
                  </a:lnTo>
                  <a:close/>
                </a:path>
              </a:pathLst>
            </a:custGeom>
            <a:solidFill>
              <a:srgbClr val="FF99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30" name="kz-facet-y"/>
            <p:cNvSpPr/>
            <p:nvPr/>
          </p:nvSpPr>
          <p:spPr>
            <a:xfrm>
              <a:off x="47625" y="400050"/>
              <a:ext cx="381000" cy="342900"/>
            </a:xfrm>
            <a:custGeom>
              <a:avLst/>
              <a:gdLst/>
              <a:ahLst/>
              <a:cxnLst/>
              <a:rect l="l" t="t" r="r" b="b"/>
              <a:pathLst>
                <a:path w="381000" h="342900">
                  <a:moveTo>
                    <a:pt x="171450" y="0"/>
                  </a:moveTo>
                  <a:lnTo>
                    <a:pt x="381000" y="0"/>
                  </a:lnTo>
                  <a:lnTo>
                    <a:pt x="219075" y="342900"/>
                  </a:lnTo>
                  <a:lnTo>
                    <a:pt x="0" y="342900"/>
                  </a:lnTo>
                  <a:close/>
                </a:path>
              </a:pathLst>
            </a:custGeom>
            <a:solidFill>
              <a:srgbClr val="FFCC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31" name="kz-facet-o-candy"/>
            <p:cNvSpPr/>
            <p:nvPr/>
          </p:nvSpPr>
          <p:spPr>
            <a:xfrm>
              <a:off x="239675" y="85725"/>
              <a:ext cx="644888" cy="590550"/>
            </a:xfrm>
            <a:custGeom>
              <a:avLst/>
              <a:gdLst/>
              <a:ahLst/>
              <a:cxnLst/>
              <a:rect l="l" t="t" r="r" b="b"/>
              <a:pathLst>
                <a:path w="644888" h="590550">
                  <a:moveTo>
                    <a:pt x="273125" y="22150"/>
                  </a:moveTo>
                  <a:lnTo>
                    <a:pt x="308965" y="0"/>
                  </a:lnTo>
                  <a:lnTo>
                    <a:pt x="630910" y="0"/>
                  </a:lnTo>
                  <a:lnTo>
                    <a:pt x="644888" y="22292"/>
                  </a:lnTo>
                  <a:lnTo>
                    <a:pt x="380712" y="568258"/>
                  </a:lnTo>
                  <a:lnTo>
                    <a:pt x="345160" y="590550"/>
                  </a:lnTo>
                  <a:lnTo>
                    <a:pt x="13690" y="590550"/>
                  </a:lnTo>
                  <a:lnTo>
                    <a:pt x="0" y="568400"/>
                  </a:lnTo>
                  <a:close/>
                </a:path>
              </a:pathLst>
            </a:custGeom>
            <a:gradFill rotWithShape="1">
              <a:gsLst>
                <a:gs pos="0">
                  <a:srgbClr val="FFC65A"/>
                </a:gs>
                <a:gs pos="47000">
                  <a:srgbClr val="FF9B12"/>
                </a:gs>
                <a:gs pos="100000">
                  <a:srgbClr val="EC7A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98213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32" name="kz-facet-y-candy"/>
            <p:cNvSpPr/>
            <p:nvPr/>
          </p:nvSpPr>
          <p:spPr>
            <a:xfrm>
              <a:off x="55292" y="400050"/>
              <a:ext cx="366012" cy="342900"/>
            </a:xfrm>
            <a:custGeom>
              <a:avLst/>
              <a:gdLst/>
              <a:ahLst/>
              <a:cxnLst/>
              <a:rect l="l" t="t" r="r" b="b"/>
              <a:pathLst>
                <a:path w="366012" h="342900">
                  <a:moveTo>
                    <a:pt x="156116" y="15335"/>
                  </a:moveTo>
                  <a:lnTo>
                    <a:pt x="180928" y="0"/>
                  </a:lnTo>
                  <a:lnTo>
                    <a:pt x="356188" y="0"/>
                  </a:lnTo>
                  <a:lnTo>
                    <a:pt x="366012" y="15503"/>
                  </a:lnTo>
                  <a:lnTo>
                    <a:pt x="218729" y="327397"/>
                  </a:lnTo>
                  <a:lnTo>
                    <a:pt x="194263" y="342900"/>
                  </a:lnTo>
                  <a:lnTo>
                    <a:pt x="9478" y="342900"/>
                  </a:lnTo>
                  <a:lnTo>
                    <a:pt x="0" y="327565"/>
                  </a:lnTo>
                  <a:close/>
                </a:path>
              </a:pathLst>
            </a:custGeom>
            <a:gradFill rotWithShape="1">
              <a:gsLst>
                <a:gs pos="0">
                  <a:srgbClr val="FFF07A"/>
                </a:gs>
                <a:gs pos="47000">
                  <a:srgbClr val="FFD21A"/>
                </a:gs>
                <a:gs pos="100000">
                  <a:srgbClr val="EFB6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8A500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9" name="title"/>
          <p:cNvGrpSpPr/>
          <p:nvPr/>
        </p:nvGrpSpPr>
        <p:grpSpPr>
          <a:xfrm>
            <a:off x="854583" y="241300"/>
            <a:ext cx="1316736" cy="469392"/>
            <a:chOff x="854583" y="241300"/>
            <a:chExt cx="1316736" cy="469392"/>
          </a:xfrm>
        </p:grpSpPr>
        <p:sp>
          <p:nvSpPr>
            <p:cNvPr id="8" name="TextBox 8"/>
            <p:cNvSpPr txBox="1"/>
            <p:nvPr/>
          </p:nvSpPr>
          <p:spPr>
            <a:xfrm>
              <a:off x="854583" y="241300"/>
              <a:ext cx="13167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核对流程</a:t>
              </a:r>
            </a:p>
          </p:txBody>
        </p:sp>
      </p:grpSp>
      <p:sp>
        <p:nvSpPr>
          <p:cNvPr id="10" name="Line 10"/>
          <p:cNvSpPr/>
          <p:nvPr/>
        </p:nvSpPr>
        <p:spPr>
          <a:xfrm>
            <a:off x="514350" y="762000"/>
            <a:ext cx="11458575" cy="9525"/>
          </a:xfrm>
          <a:custGeom>
            <a:avLst/>
            <a:gdLst/>
            <a:ahLst/>
            <a:cxnLst/>
            <a:rect l="l" t="t" r="r" b="b"/>
            <a:pathLst>
              <a:path w="11458575" h="9525">
                <a:moveTo>
                  <a:pt x="0" y="0"/>
                </a:moveTo>
                <a:lnTo>
                  <a:pt x="11458575" y="0"/>
                </a:lnTo>
              </a:path>
            </a:pathLst>
          </a:custGeom>
          <a:noFill/>
          <a:ln w="14288">
            <a:solidFill>
              <a:srgbClr val="FF9900"/>
            </a:solidFill>
          </a:ln>
        </p:spPr>
      </p:sp>
      <p:pic>
        <p:nvPicPr>
          <p:cNvPr id="11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0275" y="428625"/>
            <a:ext cx="1504950" cy="314325"/>
          </a:xfrm>
          <a:prstGeom prst="rect">
            <a:avLst/>
          </a:prstGeom>
        </p:spPr>
      </p:pic>
      <p:grpSp>
        <p:nvGrpSpPr>
          <p:cNvPr id="16" name="!!kz-carrier"/>
          <p:cNvGrpSpPr/>
          <p:nvPr/>
        </p:nvGrpSpPr>
        <p:grpSpPr>
          <a:xfrm>
            <a:off x="914400" y="1828800"/>
            <a:ext cx="10363200" cy="2857500"/>
            <a:chOff x="914400" y="1828800"/>
            <a:chExt cx="10363200" cy="2857500"/>
          </a:xfrm>
        </p:grpSpPr>
        <p:sp>
          <p:nvSpPr>
            <p:cNvPr id="12" name="Rectangle 12"/>
            <p:cNvSpPr/>
            <p:nvPr/>
          </p:nvSpPr>
          <p:spPr>
            <a:xfrm>
              <a:off x="914400" y="1828800"/>
              <a:ext cx="10363200" cy="2857500"/>
            </a:xfrm>
            <a:prstGeom prst="roundRect">
              <a:avLst>
                <a:gd name="adj" fmla="val 9333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13" name="TextBox 13"/>
            <p:cNvSpPr txBox="1"/>
            <p:nvPr/>
          </p:nvSpPr>
          <p:spPr>
            <a:xfrm>
              <a:off x="1286256" y="218440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清点资料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289304" y="2590800"/>
              <a:ext cx="29199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676B"/>
                  </a:solidFill>
                  <a:latin typeface="+mn-lt"/>
                  <a:ea typeface="+mn-ea"/>
                  <a:cs typeface="+mn-cs"/>
                </a:rPr>
                <a:t>逐组登记应收与已收，缺失照原样保留。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287780" y="2914650"/>
              <a:ext cx="3282315" cy="10934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lnSpc>
                  <a:spcPts val="31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应收 24 份，已收 20 份，</a:t>
              </a:r>
              <a:r>
                <a:rPr lang="zh-CN" sz="1500" b="1" dirty="0">
                  <a:solidFill>
                    <a:srgbClr val="C00000"/>
                  </a:solidFill>
                  <a:latin typeface="+mn-lt"/>
                  <a:ea typeface="+mn-ea"/>
                  <a:cs typeface="+mn-cs"/>
                </a:rPr>
                <a:t>缺 4 份</a:t>
              </a:r>
            </a:p>
            <a:p>
              <a:pPr algn="l" marL="161925" indent="-161925">
                <a:lnSpc>
                  <a:spcPts val="31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中心记录缺 3 份，安全性报告缺 1 份</a:t>
              </a:r>
            </a:p>
            <a:p>
              <a:pPr algn="l" marL="161925" indent="-161925">
                <a:lnSpc>
                  <a:spcPts val="3150"/>
                </a:lnSpc>
                <a:buClr>
                  <a:srgbClr val="404040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缺失记录保留为空值，</a:t>
              </a:r>
              <a:r>
                <a:rPr lang="zh-CN" sz="15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不按零处理</a:t>
              </a:r>
            </a:p>
          </p:txBody>
        </p:sp>
      </p:grpSp>
      <p:grpSp>
        <p:nvGrpSpPr>
          <p:cNvPr id="25" name="steps"/>
          <p:cNvGrpSpPr/>
          <p:nvPr/>
        </p:nvGrpSpPr>
        <p:grpSpPr>
          <a:xfrm>
            <a:off x="533400" y="5600700"/>
            <a:ext cx="11125200" cy="457200"/>
            <a:chOff x="533400" y="5600700"/>
            <a:chExt cx="11125200" cy="457200"/>
          </a:xfrm>
        </p:grpSpPr>
        <p:sp>
          <p:nvSpPr>
            <p:cNvPr id="17" name="Rectangle 17"/>
            <p:cNvSpPr/>
            <p:nvPr/>
          </p:nvSpPr>
          <p:spPr>
            <a:xfrm>
              <a:off x="533400" y="5600700"/>
              <a:ext cx="2667000" cy="457200"/>
            </a:xfrm>
            <a:prstGeom prst="roundRect">
              <a:avLst>
                <a:gd name="adj" fmla="val 33333"/>
              </a:avLst>
            </a:prstGeom>
            <a:solidFill>
              <a:srgbClr val="FFFFFF">
                <a:alpha val="60000"/>
              </a:srgbClr>
            </a:solidFill>
            <a:ln w="9525">
              <a:solidFill>
                <a:srgbClr val="BEB2A1">
                  <a:alpha val="30000"/>
                </a:srgbClr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17804" y="5743575"/>
              <a:ext cx="8025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1 界定范围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352800" y="5600700"/>
              <a:ext cx="2667000" cy="457200"/>
            </a:xfrm>
            <a:prstGeom prst="roundRect">
              <a:avLst>
                <a:gd name="adj" fmla="val 33333"/>
              </a:avLst>
            </a:prstGeom>
            <a:solidFill>
              <a:srgbClr val="FF9900">
                <a:alpha val="16000"/>
              </a:srgbClr>
            </a:solidFill>
            <a:ln w="9525">
              <a:solidFill>
                <a:srgbClr val="BEB2A1">
                  <a:alpha val="30000"/>
                </a:srgbClr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537204" y="5743575"/>
              <a:ext cx="8025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2 清点资料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72200" y="5600700"/>
              <a:ext cx="2667000" cy="457200"/>
            </a:xfrm>
            <a:prstGeom prst="roundRect">
              <a:avLst>
                <a:gd name="adj" fmla="val 33333"/>
              </a:avLst>
            </a:prstGeom>
            <a:solidFill>
              <a:srgbClr val="FFFFFF">
                <a:alpha val="60000"/>
              </a:srgbClr>
            </a:solidFill>
            <a:ln w="9525">
              <a:solidFill>
                <a:srgbClr val="BEB2A1">
                  <a:alpha val="30000"/>
                </a:srgbClr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56604" y="5743575"/>
              <a:ext cx="8025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3 比较版本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991600" y="5600700"/>
              <a:ext cx="2667000" cy="457200"/>
            </a:xfrm>
            <a:prstGeom prst="roundRect">
              <a:avLst>
                <a:gd name="adj" fmla="val 33333"/>
              </a:avLst>
            </a:prstGeom>
            <a:solidFill>
              <a:srgbClr val="FFFFFF">
                <a:alpha val="60000"/>
              </a:srgbClr>
            </a:solidFill>
            <a:ln w="9525">
              <a:solidFill>
                <a:srgbClr val="BEB2A1">
                  <a:alpha val="30000"/>
                </a:srgbClr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176004" y="5743575"/>
              <a:ext cx="8025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404040"/>
                  </a:solidFill>
                  <a:latin typeface="+mn-lt"/>
                  <a:ea typeface="+mn-ea"/>
                  <a:cs typeface="+mn-cs"/>
                </a:rPr>
                <a:t>4 排定计划</a:t>
              </a:r>
            </a:p>
          </p:txBody>
        </p:sp>
      </p:grpSp>
      <p:grpSp>
        <p:nvGrpSpPr>
          <p:cNvPr id="28" name="footer"/>
          <p:cNvGrpSpPr/>
          <p:nvPr/>
        </p:nvGrpSpPr>
        <p:grpSpPr>
          <a:xfrm>
            <a:off x="221742" y="6521450"/>
            <a:ext cx="11672316" cy="264033"/>
            <a:chOff x="221742" y="6521450"/>
            <a:chExt cx="11672316" cy="264033"/>
          </a:xfrm>
        </p:grpSpPr>
        <p:sp>
          <p:nvSpPr>
            <p:cNvPr id="26" name="TextBox 26"/>
            <p:cNvSpPr txBox="1"/>
            <p:nvPr/>
          </p:nvSpPr>
          <p:spPr>
            <a:xfrm>
              <a:off x="221742" y="6521450"/>
              <a:ext cx="25307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471434" y="6521450"/>
              <a:ext cx="4226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4 / 4</a:t>
              </a:r>
            </a:p>
          </p:txBody>
        </p:sp>
      </p:grp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kangzhe_probe">
  <a:themeElements>
    <a:clrScheme name="kangzhe_prob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gzhe_probe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gzhe_prob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2026-10-24T04:20:08Z</dcterms:created>
  <dcterms:modified xsi:type="dcterms:W3CDTF">2026-10-24T04:20:08Z</dcterms:modified>
  <cp:category/>
  <cp:contentStatus/>
</cp:coreProperties>
</file>