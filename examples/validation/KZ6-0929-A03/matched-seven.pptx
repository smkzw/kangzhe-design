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svg" ContentType="image/svg+xml"/>
  <Default Extension="xlsx" ContentType="application/vnd.openxmlformats-officedocument.spreadsheetml.sheet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charts/chart501.xml" ContentType="application/vnd.openxmlformats-officedocument.drawingml.chart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notesMasterIdLst>
    <p:notesMasterId r:id="rId14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2000" cy="6858000" type="screen16x9"/>
  <p:notesSz cx="6858000" cy="9144000"/>
  <p:defaultTextStyle>
    <a:defPPr>
      <a:defRPr lang="zh-CN"/>
    </a:defPPr>
    <a:lvl1pPr marL="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  <Relationship Id="rId14" Type="http://schemas.openxmlformats.org/officeDocument/2006/relationships/notesMaster" Target="notesMasters/notesMaster1.xml"/>
</Relationships>
</file>

<file path=ppt/charts/_rels/chart501.xml.rels><?xml version="1.0" encoding="UTF-8" standalone="yes"?>
<Relationships xmlns="http://schemas.openxmlformats.org/package/2006/relationships">
<Relationship Id="rId1" Type="http://schemas.openxmlformats.org/officeDocument/2006/relationships/package" Target="../embeddings/Microsoft_Excel_Sheet501.xlsx"/>
</Relationships>
</file>

<file path=ppt/charts/chart50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chart>
    <c:autoTitleDeleted val="1"/>
    <c:plotArea>
      <c:layout/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合成值</c:v>
                </c:pt>
              </c:strCache>
            </c:strRef>
          </c:tx>
          <c:spPr>
            <a:solidFill>
              <a:schemeClr val="accent1">
                <a:alpha val="14000"/>
              </a:schemeClr>
            </a:solidFill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准备</c:v>
                </c:pt>
                <c:pt idx="1">
                  <c:v>启动</c:v>
                </c:pt>
                <c:pt idx="2">
                  <c:v>执行</c:v>
                </c:pt>
                <c:pt idx="3">
                  <c:v>核查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</c:v>
                </c:pt>
                <c:pt idx="2">
                  <c:v>5</c:v>
                </c:pt>
                <c:pt idx="3">
                  <c:v>7</c:v>
                </c:pt>
              </c:numCache>
            </c:numRef>
          </c:val>
        </c:ser>
        <c:axId val="2068027336"/>
        <c:axId val="2113994440"/>
      </c:area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合成值</c:v>
                </c:pt>
              </c:strCache>
            </c:strRef>
          </c:tx>
          <c:spPr>
            <a:solidFill>
              <a:srgbClr val="ED7D31"/>
            </a:solidFill>
            <a:ln>
              <a:solidFill>
                <a:srgbClr val="ED7D31"/>
              </a:solidFill>
            </a:ln>
          </c:spPr>
          <c:marker>
            <c:symbol val="circle"/>
            <c:size val="8"/>
            <c:spPr>
              <a:solidFill>
                <a:srgbClr val="ED7D31"/>
              </a:solidFill>
              <a:ln>
                <a:solidFill>
                  <a:srgbClr val="ED7D31"/>
                </a:solidFill>
              </a:ln>
            </c:spPr>
          </c:marker>
          <c:cat>
            <c:strRef>
              <c:f>Sheet1!$A$2:$A$5</c:f>
              <c:strCache>
                <c:ptCount val="4"/>
                <c:pt idx="0">
                  <c:v>准备</c:v>
                </c:pt>
                <c:pt idx="1">
                  <c:v>启动</c:v>
                </c:pt>
                <c:pt idx="2">
                  <c:v>执行</c:v>
                </c:pt>
                <c:pt idx="3">
                  <c:v>核查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</c:v>
                </c:pt>
                <c:pt idx="2">
                  <c:v>5</c:v>
                </c:pt>
                <c:pt idx="3">
                  <c:v>7</c:v>
                </c:pt>
              </c:numCache>
            </c:numRef>
          </c:val>
          <c:smooth val="0"/>
        </c:ser>
        <c:marker val="1"/>
        <c:smooth val="0"/>
        <c:axId val="2068027336"/>
        <c:axId val="2113994440"/>
      </c:lineChart>
      <c:catAx>
        <c:axId val="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 w="9525" cap="flat" cmpd="sng" algn="ctr">
            <a:solidFill>
              <a:srgbClr val="0F1115"/>
            </a:solidFill>
            <a:round/>
          </a:ln>
        </c:spPr>
        <c:txPr>
          <a:bodyPr/>
          <a:lstStyle/>
          <a:p>
            <a:pPr>
              <a:defRPr lang="zh-CN" sz="1200">
                <a:solidFill>
                  <a:srgbClr val="64676B"/>
                </a:solidFill>
                <a:latin typeface="Arial"/>
                <a:ea typeface="Microsoft YaHei"/>
                <a:cs typeface="Arial"/>
              </a:defRPr>
            </a:pPr>
            <a:endParaRPr lang="zh-CN"/>
          </a:p>
        </c:txPr>
        <c:crossAx val="2113994440"/>
        <c:crosses val="autoZero"/>
        <c:auto val="1"/>
        <c:lblAlgn val="ctr"/>
        <c:lblOffset val="100"/>
        <c:noMultiLvlLbl val="0"/>
      </c:catAx>
      <c:valAx>
        <c:axId val="2113994440"/>
        <c:scaling>
          <c:orientation val="minMax"/>
          <c:max val="8"/>
          <c:min val="0"/>
        </c:scaling>
        <c:delete val="0"/>
        <c:axPos val="l"/>
        <c:majorGridlines>
          <c:spPr>
            <a:ln w="6350" cap="flat" cmpd="sng" algn="ctr">
              <a:solidFill>
                <a:srgbClr val="0F1115"/>
              </a:solidFill>
              <a:round/>
            </a:ln>
          </c:spPr>
        </c:majorGridlines>
        <c:majorTickMark val="none"/>
        <c:minorTickMark val="none"/>
        <c:tickLblPos val="nextTo"/>
        <c:spPr>
          <a:ln w="9525" cap="flat" cmpd="sng" algn="ctr">
            <a:solidFill>
              <a:srgbClr val="0F1115"/>
            </a:solidFill>
            <a:round/>
          </a:ln>
        </c:spPr>
        <c:txPr>
          <a:bodyPr/>
          <a:lstStyle/>
          <a:p>
            <a:pPr>
              <a:defRPr lang="zh-CN" sz="1200">
                <a:solidFill>
                  <a:srgbClr val="64676B"/>
                </a:solidFill>
                <a:latin typeface="Arial"/>
                <a:ea typeface="Microsoft YaHei"/>
                <a:cs typeface="Arial"/>
              </a:defRPr>
            </a:pPr>
            <a:endParaRPr lang="zh-CN"/>
          </a:p>
        </c:txPr>
        <c:crossAx val="2068027336"/>
        <c:crosses val="autoZero"/>
        <c:crossBetween val="between"/>
        <c:majorUnit val="2"/>
      </c:valAx>
      <c:spPr>
        <a:noFill/>
        <a:ln>
          <a:noFill/>
        </a:ln>
      </c:spPr>
    </c:plotArea>
    <c:plotVisOnly val="1"/>
    <c:dispBlanksAs val="gap"/>
  </c:chart>
  <c:spPr>
    <a:noFill/>
    <a:ln>
      <a:noFill/>
    </a:ln>
  </c:spPr>
  <c:txPr>
    <a:bodyPr/>
    <a:lstStyle/>
    <a:p>
      <a:pPr>
        <a:defRPr lang="zh-CN" sz="1200">
          <a:solidFill>
            <a:srgbClr val="64676B"/>
          </a:solidFill>
          <a:latin typeface="Arial"/>
          <a:ea typeface="Microsoft YaHei"/>
          <a:cs typeface="Arial"/>
        </a:defRPr>
      </a:pPr>
      <a:endParaRPr lang="zh-CN"/>
    </a:p>
  </c:txPr>
  <c:externalData r:id="rId1">
    <c:autoUpdate val="0"/>
  </c:externalData>
</c:chartSpace>
</file>

<file path=ppt/notesMasters/_rels/notesMaster1.xml.rels><?xml version="1.0" encoding="UTF-8" standalone="yes"?>
<Relationships xmlns="http://schemas.openxmlformats.org/package/2006/relationships">
  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zh-CN"/>
    </a:lvl1pPr>
  </p:notesStyle>
</p:notesMaster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本页为合成版式与流程示例，不对应真实研究或临床结论。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本页为合成版式与流程示例，不对应真实研究或临床结论。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本页为合成版式与流程示例，不对应真实研究或临床结论。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三张卡片使用一致的15pt正文，长度差异通过自然换行承载。本页仅为合成版式示例。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折线与浅面积是同一组数值的两种编码；启动节点缺失，不能按零或相邻值推算。所有值仅为合成演示，单位份。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所有季度起止与HTML半开区间一致，条形为可编辑原生形状。此页为合成计划。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本页为合成版式与流程示例，不对应真实研究或临床结论。</a:t>
            </a:r>
          </a:p>
        </p:txBody>
      </p:sp>
    </p:spTree>
  </p:cSld>
  <p:clrMapOvr>
    <a:masterClrMapping/>
  </p:clrMapOvr>
</p:note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matched-pptx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matched-pptx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2400" kern="1200" lang="zh-C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5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4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3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2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1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05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95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85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 lang="zh-C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15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4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3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2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1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05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95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85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800" kern="1200" lang="zh-C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aa4f7119df6ff402.png"/>
  <Relationship Id="rId3" Type="http://schemas.openxmlformats.org/officeDocument/2006/relationships/image" Target="../media/image_8d16d3ae8353dd31.svg"/>
  <Relationship Id="rId4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566c6ad9ed48562f.png"/>
  <Relationship Id="rId3" Type="http://schemas.openxmlformats.org/officeDocument/2006/relationships/image" Target="../media/image_8d16d3ae8353dd31.svg"/>
  <Relationship Id="rId4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380560cab7c93741.png"/>
  <Relationship Id="rId3" Type="http://schemas.openxmlformats.org/officeDocument/2006/relationships/image" Target="../media/image_8d16d3ae8353dd31.svg"/>
  <Relationship Id="rId4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4fbf1155d89da95c.png"/>
  <Relationship Id="rId3" Type="http://schemas.openxmlformats.org/officeDocument/2006/relationships/image" Target="../media/image_8d16d3ae8353dd31.svg"/>
  <Relationship Id="rId4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4fbf1155d89da95c.png"/>
  <Relationship Id="rId3" Type="http://schemas.openxmlformats.org/officeDocument/2006/relationships/image" Target="../media/image_8d16d3ae8353dd31.svg"/>
  <Relationship Id="rId4" Type="http://schemas.openxmlformats.org/officeDocument/2006/relationships/chart" Target="../charts/chart501.xml"/>
  <Relationship Id="rId5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4fbf1155d89da95c.png"/>
  <Relationship Id="rId3" Type="http://schemas.openxmlformats.org/officeDocument/2006/relationships/image" Target="../media/image_8d16d3ae8353dd31.svg"/>
  <Relationship Id="rId4" Type="http://schemas.openxmlformats.org/officeDocument/2006/relationships/notesSlide" Target="../notesSlides/notesSlide6.xml"/>
</Relationships>
</file>

<file path=ppt/slides/_rels/slide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33680aee0826cf66.png"/>
  <Relationship Id="rId3" Type="http://schemas.openxmlformats.org/officeDocument/2006/relationships/image" Target="../media/image_8d16d3ae8353dd31.svg"/>
  <Relationship Id="rId4" Type="http://schemas.openxmlformats.org/officeDocument/2006/relationships/notesSlide" Target="../notesSlides/notesSlide7.xml"/>
</Relationships>
</file>

<file path=ppt/slides/slide1.xml><?xml version="1.0" encoding="utf-8"?>
<p:sld xmlns:a="http://schemas.openxmlformats.org/drawingml/2006/main" xmlns:ns2="http://schemas.openxmlformats.org/officeDocument/2006/relationships" xmlns:ns3="http://schemas.microsoft.com/office/powerpoint/2010/main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ero-image"/>
          <p:cNvPicPr>
            <a:picLocks noChangeAspect="1"/>
          </p:cNvPicPr>
          <p:nvPr/>
        </p:nvPicPr>
        <p:blipFill>
          <a:blip ns2:embed="rId2"/>
          <a:stretch>
            <a:fillRect/>
          </a:stretch>
        </p:blipFill>
        <p:spPr>
          <a:xfrm>
            <a:off x="3239" y="381000"/>
            <a:ext cx="12185522" cy="6858000"/>
          </a:xfrm>
          <a:prstGeom prst="rect">
            <a:avLst/>
          </a:prstGeom>
        </p:spPr>
      </p:pic>
      <p:pic>
        <p:nvPicPr>
          <p:cNvPr id="3" name="logo"/>
          <p:cNvPicPr>
            <a:picLocks noChangeAspect="1"/>
          </p:cNvPicPr>
          <p:nvPr/>
        </p:nvPicPr>
        <p:blipFill>
          <a:blip ns2:embed="rId3"/>
          <a:stretch>
            <a:fillRect/>
          </a:stretch>
        </p:blipFill>
        <p:spPr>
          <a:xfrm>
            <a:off x="533400" y="419100"/>
            <a:ext cx="2286000" cy="476250"/>
          </a:xfrm>
          <a:prstGeom prst="rect">
            <a:avLst/>
          </a:prstGeom>
        </p:spPr>
      </p:pic>
      <p:grpSp>
        <p:nvGrpSpPr>
          <p:cNvPr id="5" name="hero-text-0"/>
          <p:cNvGrpSpPr/>
          <p:nvPr/>
        </p:nvGrpSpPr>
        <p:grpSpPr>
          <a:xfrm>
            <a:off x="857250" y="1588770"/>
            <a:ext cx="3238500" cy="1485900"/>
            <a:chOff x="857250" y="1588770"/>
            <a:chExt cx="3238500" cy="1485900"/>
          </a:xfrm>
        </p:grpSpPr>
        <p:sp>
          <p:nvSpPr>
            <p:cNvPr id="4" name="TextBox 4"/>
            <p:cNvSpPr txBox="1"/>
            <p:nvPr/>
          </p:nvSpPr>
          <p:spPr>
            <a:xfrm>
              <a:off x="876300" y="1562100"/>
              <a:ext cx="10439400" cy="14097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Autofit/>
            </a:bodyPr>
            <a:lstStyle/>
            <a:p>
              <a:pPr algn="l">
                <a:lnSpc>
                  <a:spcPts val="52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sz="4200" b="1" dirty="0">
                  <a:solidFill>
                    <a:srgbClr val="0F1115"/>
                  </a:solidFill>
                  <a:latin typeface="+mn-lt"/>
                  <a:ea typeface="+mn-ea"/>
                  <a:cs typeface="+mn-cs"/>
                </a:rPr>
                <a:t>合成研究流程</a:t>
              </a:r>
              <a:br/>
              <a:r>
                <a:rPr lang="zh-CN" sz="4200" b="1" dirty="0">
                  <a:solidFill>
                    <a:srgbClr val="0F1115"/>
                  </a:solidFill>
                  <a:latin typeface="+mn-lt"/>
                  <a:ea typeface="+mn-ea"/>
                  <a:cs typeface="+mn-cs"/>
                </a:rPr>
                <a:t>汇报示例</a:t>
              </a:r>
            </a:p>
          </p:txBody>
        </p:sp>
      </p:grpSp>
      <p:grpSp>
        <p:nvGrpSpPr>
          <p:cNvPr id="7" name="hero-text-1"/>
          <p:cNvGrpSpPr/>
          <p:nvPr/>
        </p:nvGrpSpPr>
        <p:grpSpPr>
          <a:xfrm>
            <a:off x="865632" y="3080385"/>
            <a:ext cx="2848356" cy="410718"/>
            <a:chOff x="865632" y="3080385"/>
            <a:chExt cx="2848356" cy="410718"/>
          </a:xfrm>
        </p:grpSpPr>
        <p:sp>
          <p:nvSpPr>
            <p:cNvPr id="6" name="TextBox 6"/>
            <p:cNvSpPr txBox="1"/>
            <p:nvPr/>
          </p:nvSpPr>
          <p:spPr>
            <a:xfrm>
              <a:off x="876300" y="3067050"/>
              <a:ext cx="10439400" cy="400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Autofit/>
            </a:bodyPr>
            <a:lstStyle/>
            <a:p>
              <a:pPr algn="l">
                <a:lnSpc>
                  <a:spcPts val="262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结构、数据与季度安排</a:t>
              </a:r>
            </a:p>
          </p:txBody>
        </p:sp>
      </p:grpSp>
      <p:grpSp>
        <p:nvGrpSpPr>
          <p:cNvPr id="9" name="hero-text-2"/>
          <p:cNvGrpSpPr/>
          <p:nvPr/>
        </p:nvGrpSpPr>
        <p:grpSpPr>
          <a:xfrm>
            <a:off x="868680" y="3648075"/>
            <a:ext cx="2700909" cy="293370"/>
            <a:chOff x="868680" y="3648075"/>
            <a:chExt cx="2700909" cy="293370"/>
          </a:xfrm>
        </p:grpSpPr>
        <p:sp>
          <p:nvSpPr>
            <p:cNvPr id="8" name="TextBox 8"/>
            <p:cNvSpPr txBox="1"/>
            <p:nvPr/>
          </p:nvSpPr>
          <p:spPr>
            <a:xfrm>
              <a:off x="876300" y="3638550"/>
              <a:ext cx="10439400" cy="2667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Autofit/>
            </a:bodyPr>
            <a:lstStyle/>
            <a:p>
              <a:pPr algn="l">
                <a:lnSpc>
                  <a:spcPts val="187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产品中心-医学部｜2026年9月</a:t>
              </a:r>
            </a:p>
          </p:txBody>
        </p:sp>
      </p:grpSp>
    </p:spTree>
  </p:cSld>
  <p:clrMapOvr>
    <a:masterClrMapping/>
  </p:clrMapOvr>
  <p:transition ns3:dur="400">
    <p:fade/>
  </p:transition>
</p:sld>
</file>

<file path=ppt/slides/slide2.xml><?xml version="1.0" encoding="utf-8"?>
<p:sld xmlns:a="http://schemas.openxmlformats.org/drawingml/2006/main" xmlns:ns2="http://schemas.openxmlformats.org/officeDocument/2006/relationships" xmlns:ns3="http://schemas.microsoft.com/office/powerpoint/2010/main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ero-image"/>
          <p:cNvPicPr>
            <a:picLocks noChangeAspect="1"/>
          </p:cNvPicPr>
          <p:nvPr/>
        </p:nvPicPr>
        <p:blipFill>
          <a:blip ns2:embed="rId2"/>
          <a:stretch>
            <a:fillRect/>
          </a:stretch>
        </p:blipFill>
        <p:spPr>
          <a:xfrm>
            <a:off x="3239" y="857250"/>
            <a:ext cx="12185522" cy="6858000"/>
          </a:xfrm>
          <a:prstGeom prst="rect">
            <a:avLst/>
          </a:prstGeom>
        </p:spPr>
      </p:pic>
      <p:pic>
        <p:nvPicPr>
          <p:cNvPr id="3" name="logo"/>
          <p:cNvPicPr>
            <a:picLocks noChangeAspect="1"/>
          </p:cNvPicPr>
          <p:nvPr/>
        </p:nvPicPr>
        <p:blipFill>
          <a:blip ns2:embed="rId3"/>
          <a:stretch>
            <a:fillRect/>
          </a:stretch>
        </p:blipFill>
        <p:spPr>
          <a:xfrm>
            <a:off x="9753600" y="431852"/>
            <a:ext cx="1905000" cy="393595"/>
          </a:xfrm>
          <a:prstGeom prst="rect">
            <a:avLst/>
          </a:prstGeom>
        </p:spPr>
      </p:pic>
      <p:sp>
        <p:nvSpPr>
          <p:cNvPr id="4" name="card-0"/>
          <p:cNvSpPr/>
          <p:nvPr/>
        </p:nvSpPr>
        <p:spPr>
          <a:xfrm>
            <a:off x="647700" y="1524000"/>
            <a:ext cx="3479800" cy="1295400"/>
          </a:xfrm>
          <a:prstGeom prst="roundRect">
            <a:avLst>
              <a:gd name="adj" fmla="val 17647"/>
            </a:avLst>
          </a:prstGeom>
          <a:solidFill>
            <a:schemeClr val="lt2">
              <a:alpha val="86000"/>
            </a:schemeClr>
          </a:solidFill>
          <a:ln w="9525">
            <a:solidFill>
              <a:srgbClr val="B5B4B1">
                <a:alpha val="32000"/>
              </a:srgbClr>
            </a:solidFill>
          </a:ln>
          <a:effectLst>
            <a:outerShdw blurRad="152400" dist="57150" dir="5400000" algn="ctr" rotWithShape="0">
              <a:srgbClr val="0F1115">
                <a:alpha val="7500"/>
              </a:srgbClr>
            </a:outerShdw>
          </a:effectLst>
        </p:spPr>
      </p:sp>
      <p:sp>
        <p:nvSpPr>
          <p:cNvPr id="5" name="Freeform 5"/>
          <p:cNvSpPr/>
          <p:nvPr/>
        </p:nvSpPr>
        <p:spPr>
          <a:xfrm>
            <a:off x="876300" y="1543050"/>
            <a:ext cx="869950" cy="9525"/>
          </a:xfrm>
          <a:custGeom>
            <a:avLst/>
            <a:gdLst/>
            <a:ahLst/>
            <a:cxnLst/>
            <a:rect l="l" t="t" r="r" b="b"/>
            <a:pathLst>
              <a:path w="869950" h="9525">
                <a:moveTo>
                  <a:pt x="0" y="0"/>
                </a:moveTo>
                <a:lnTo>
                  <a:pt x="869950" y="0"/>
                </a:lnTo>
              </a:path>
            </a:pathLst>
          </a:custGeom>
          <a:solidFill>
            <a:srgbClr val="000000"/>
          </a:solidFill>
          <a:ln w="14288">
            <a:solidFill>
              <a:srgbClr val="FFFFFF">
                <a:alpha val="90000"/>
              </a:srgbClr>
            </a:solidFill>
          </a:ln>
        </p:spPr>
      </p:sp>
      <p:sp>
        <p:nvSpPr>
          <p:cNvPr id="6" name="card-1"/>
          <p:cNvSpPr/>
          <p:nvPr/>
        </p:nvSpPr>
        <p:spPr>
          <a:xfrm>
            <a:off x="4356100" y="1524000"/>
            <a:ext cx="3479800" cy="1295400"/>
          </a:xfrm>
          <a:prstGeom prst="roundRect">
            <a:avLst>
              <a:gd name="adj" fmla="val 17647"/>
            </a:avLst>
          </a:prstGeom>
          <a:solidFill>
            <a:schemeClr val="lt2">
              <a:alpha val="86000"/>
            </a:schemeClr>
          </a:solidFill>
          <a:ln w="9525">
            <a:solidFill>
              <a:srgbClr val="B5B4B1">
                <a:alpha val="32000"/>
              </a:srgbClr>
            </a:solidFill>
          </a:ln>
          <a:effectLst>
            <a:outerShdw blurRad="152400" dist="57150" dir="5400000" algn="ctr" rotWithShape="0">
              <a:srgbClr val="0F1115">
                <a:alpha val="7500"/>
              </a:srgbClr>
            </a:outerShdw>
          </a:effectLst>
        </p:spPr>
      </p:sp>
      <p:sp>
        <p:nvSpPr>
          <p:cNvPr id="7" name="Freeform 7"/>
          <p:cNvSpPr/>
          <p:nvPr/>
        </p:nvSpPr>
        <p:spPr>
          <a:xfrm>
            <a:off x="4584700" y="1543050"/>
            <a:ext cx="869950" cy="9525"/>
          </a:xfrm>
          <a:custGeom>
            <a:avLst/>
            <a:gdLst/>
            <a:ahLst/>
            <a:cxnLst/>
            <a:rect l="l" t="t" r="r" b="b"/>
            <a:pathLst>
              <a:path w="869950" h="9525">
                <a:moveTo>
                  <a:pt x="0" y="0"/>
                </a:moveTo>
                <a:lnTo>
                  <a:pt x="869950" y="0"/>
                </a:lnTo>
              </a:path>
            </a:pathLst>
          </a:custGeom>
          <a:solidFill>
            <a:srgbClr val="000000"/>
          </a:solidFill>
          <a:ln w="14288">
            <a:solidFill>
              <a:srgbClr val="FFFFFF">
                <a:alpha val="90000"/>
              </a:srgbClr>
            </a:solidFill>
          </a:ln>
        </p:spPr>
      </p:sp>
      <p:sp>
        <p:nvSpPr>
          <p:cNvPr id="8" name="card-2"/>
          <p:cNvSpPr/>
          <p:nvPr/>
        </p:nvSpPr>
        <p:spPr>
          <a:xfrm>
            <a:off x="8064500" y="1524000"/>
            <a:ext cx="3479800" cy="1295400"/>
          </a:xfrm>
          <a:prstGeom prst="roundRect">
            <a:avLst>
              <a:gd name="adj" fmla="val 17647"/>
            </a:avLst>
          </a:prstGeom>
          <a:solidFill>
            <a:schemeClr val="lt2">
              <a:alpha val="86000"/>
            </a:schemeClr>
          </a:solidFill>
          <a:ln w="9525">
            <a:solidFill>
              <a:srgbClr val="B5B4B1">
                <a:alpha val="32000"/>
              </a:srgbClr>
            </a:solidFill>
          </a:ln>
          <a:effectLst>
            <a:outerShdw blurRad="152400" dist="57150" dir="5400000" algn="ctr" rotWithShape="0">
              <a:srgbClr val="0F1115">
                <a:alpha val="7500"/>
              </a:srgbClr>
            </a:outerShdw>
          </a:effectLst>
        </p:spPr>
      </p:sp>
      <p:sp>
        <p:nvSpPr>
          <p:cNvPr id="9" name="Freeform 9"/>
          <p:cNvSpPr/>
          <p:nvPr/>
        </p:nvSpPr>
        <p:spPr>
          <a:xfrm>
            <a:off x="8293100" y="1543050"/>
            <a:ext cx="869950" cy="9525"/>
          </a:xfrm>
          <a:custGeom>
            <a:avLst/>
            <a:gdLst/>
            <a:ahLst/>
            <a:cxnLst/>
            <a:rect l="l" t="t" r="r" b="b"/>
            <a:pathLst>
              <a:path w="869950" h="9525">
                <a:moveTo>
                  <a:pt x="0" y="0"/>
                </a:moveTo>
                <a:lnTo>
                  <a:pt x="869950" y="0"/>
                </a:lnTo>
              </a:path>
            </a:pathLst>
          </a:custGeom>
          <a:solidFill>
            <a:srgbClr val="000000"/>
          </a:solidFill>
          <a:ln w="14288">
            <a:solidFill>
              <a:srgbClr val="FFFFFF">
                <a:alpha val="90000"/>
              </a:srgbClr>
            </a:solidFill>
          </a:ln>
        </p:spPr>
      </p:sp>
      <p:grpSp>
        <p:nvGrpSpPr>
          <p:cNvPr id="11" name="hero-text-0"/>
          <p:cNvGrpSpPr/>
          <p:nvPr/>
        </p:nvGrpSpPr>
        <p:grpSpPr>
          <a:xfrm>
            <a:off x="629412" y="289560"/>
            <a:ext cx="1975104" cy="704088"/>
            <a:chOff x="629412" y="289560"/>
            <a:chExt cx="1975104" cy="704088"/>
          </a:xfrm>
        </p:grpSpPr>
        <p:sp>
          <p:nvSpPr>
            <p:cNvPr id="10" name="TextBox 10"/>
            <p:cNvSpPr txBox="1"/>
            <p:nvPr/>
          </p:nvSpPr>
          <p:spPr>
            <a:xfrm>
              <a:off x="647700" y="266700"/>
              <a:ext cx="8191500" cy="6477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Autofit/>
            </a:bodyPr>
            <a:lstStyle/>
            <a:p>
              <a:pPr algn="l">
                <a:lnSpc>
                  <a:spcPts val="4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sz="3600" b="1" dirty="0">
                  <a:solidFill>
                    <a:srgbClr val="0F1115"/>
                  </a:solidFill>
                  <a:latin typeface="+mn-lt"/>
                  <a:ea typeface="+mn-ea"/>
                  <a:cs typeface="+mn-cs"/>
                </a:rPr>
                <a:t>汇报章节</a:t>
              </a:r>
            </a:p>
          </p:txBody>
        </p:sp>
      </p:grpSp>
      <p:grpSp>
        <p:nvGrpSpPr>
          <p:cNvPr id="13" name="hero-text-1"/>
          <p:cNvGrpSpPr/>
          <p:nvPr/>
        </p:nvGrpSpPr>
        <p:grpSpPr>
          <a:xfrm>
            <a:off x="861060" y="1657350"/>
            <a:ext cx="496938" cy="586740"/>
            <a:chOff x="861060" y="1657350"/>
            <a:chExt cx="496938" cy="586740"/>
          </a:xfrm>
        </p:grpSpPr>
        <p:sp>
          <p:nvSpPr>
            <p:cNvPr id="12" name="TextBox 12"/>
            <p:cNvSpPr txBox="1"/>
            <p:nvPr/>
          </p:nvSpPr>
          <p:spPr>
            <a:xfrm>
              <a:off x="876300" y="1638300"/>
              <a:ext cx="571500" cy="5524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Autofit/>
            </a:bodyPr>
            <a:lstStyle/>
            <a:p>
              <a:pPr algn="l">
                <a:lnSpc>
                  <a:spcPts val="37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</p:grpSp>
      <p:grpSp>
        <p:nvGrpSpPr>
          <p:cNvPr id="15" name="hero-text-2"/>
          <p:cNvGrpSpPr/>
          <p:nvPr/>
        </p:nvGrpSpPr>
        <p:grpSpPr>
          <a:xfrm>
            <a:off x="1511808" y="1710690"/>
            <a:ext cx="1316736" cy="469392"/>
            <a:chOff x="1511808" y="1710690"/>
            <a:chExt cx="1316736" cy="469392"/>
          </a:xfrm>
        </p:grpSpPr>
        <p:sp>
          <p:nvSpPr>
            <p:cNvPr id="14" name="TextBox 14"/>
            <p:cNvSpPr txBox="1"/>
            <p:nvPr/>
          </p:nvSpPr>
          <p:spPr>
            <a:xfrm>
              <a:off x="1524000" y="1695450"/>
              <a:ext cx="23749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Autofit/>
            </a:bodyPr>
            <a:lstStyle/>
            <a:p>
              <a:pPr algn="l">
                <a:lnSpc>
                  <a:spcPts val="3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sz="2400" b="1" dirty="0">
                  <a:solidFill>
                    <a:srgbClr val="0F1115"/>
                  </a:solidFill>
                  <a:latin typeface="+mn-lt"/>
                  <a:ea typeface="+mn-ea"/>
                  <a:cs typeface="+mn-cs"/>
                </a:rPr>
                <a:t>入排信息</a:t>
              </a:r>
            </a:p>
          </p:txBody>
        </p:sp>
      </p:grpSp>
      <p:grpSp>
        <p:nvGrpSpPr>
          <p:cNvPr id="17" name="hero-text-3"/>
          <p:cNvGrpSpPr/>
          <p:nvPr/>
        </p:nvGrpSpPr>
        <p:grpSpPr>
          <a:xfrm>
            <a:off x="868680" y="2314575"/>
            <a:ext cx="1428750" cy="293370"/>
            <a:chOff x="868680" y="2314575"/>
            <a:chExt cx="1428750" cy="293370"/>
          </a:xfrm>
        </p:grpSpPr>
        <p:sp>
          <p:nvSpPr>
            <p:cNvPr id="16" name="TextBox 16"/>
            <p:cNvSpPr txBox="1"/>
            <p:nvPr/>
          </p:nvSpPr>
          <p:spPr>
            <a:xfrm>
              <a:off x="876300" y="2305050"/>
              <a:ext cx="3022600" cy="2381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Autofit/>
            </a:bodyPr>
            <a:lstStyle/>
            <a:p>
              <a:pPr algn="l">
                <a:lnSpc>
                  <a:spcPts val="187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条目与使用边界</a:t>
              </a:r>
            </a:p>
          </p:txBody>
        </p:sp>
      </p:grpSp>
      <p:grpSp>
        <p:nvGrpSpPr>
          <p:cNvPr id="19" name="hero-text-4"/>
          <p:cNvGrpSpPr/>
          <p:nvPr/>
        </p:nvGrpSpPr>
        <p:grpSpPr>
          <a:xfrm>
            <a:off x="4569460" y="1657350"/>
            <a:ext cx="496938" cy="586740"/>
            <a:chOff x="4569460" y="1657350"/>
            <a:chExt cx="496938" cy="586740"/>
          </a:xfrm>
        </p:grpSpPr>
        <p:sp>
          <p:nvSpPr>
            <p:cNvPr id="18" name="TextBox 18"/>
            <p:cNvSpPr txBox="1"/>
            <p:nvPr/>
          </p:nvSpPr>
          <p:spPr>
            <a:xfrm>
              <a:off x="4584700" y="1638300"/>
              <a:ext cx="571500" cy="5524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Autofit/>
            </a:bodyPr>
            <a:lstStyle/>
            <a:p>
              <a:pPr algn="l">
                <a:lnSpc>
                  <a:spcPts val="37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</p:grpSp>
      <p:grpSp>
        <p:nvGrpSpPr>
          <p:cNvPr id="21" name="hero-text-5"/>
          <p:cNvGrpSpPr/>
          <p:nvPr/>
        </p:nvGrpSpPr>
        <p:grpSpPr>
          <a:xfrm>
            <a:off x="5220208" y="1710690"/>
            <a:ext cx="1316736" cy="469392"/>
            <a:chOff x="5220208" y="1710690"/>
            <a:chExt cx="1316736" cy="469392"/>
          </a:xfrm>
        </p:grpSpPr>
        <p:sp>
          <p:nvSpPr>
            <p:cNvPr id="20" name="TextBox 20"/>
            <p:cNvSpPr txBox="1"/>
            <p:nvPr/>
          </p:nvSpPr>
          <p:spPr>
            <a:xfrm>
              <a:off x="5232400" y="1695450"/>
              <a:ext cx="23749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Autofit/>
            </a:bodyPr>
            <a:lstStyle/>
            <a:p>
              <a:pPr algn="l">
                <a:lnSpc>
                  <a:spcPts val="3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sz="2400" b="1" dirty="0">
                  <a:solidFill>
                    <a:srgbClr val="0F1115"/>
                  </a:solidFill>
                  <a:latin typeface="+mn-lt"/>
                  <a:ea typeface="+mn-ea"/>
                  <a:cs typeface="+mn-cs"/>
                </a:rPr>
                <a:t>流程节点</a:t>
              </a:r>
            </a:p>
          </p:txBody>
        </p:sp>
      </p:grpSp>
      <p:grpSp>
        <p:nvGrpSpPr>
          <p:cNvPr id="23" name="hero-text-6"/>
          <p:cNvGrpSpPr/>
          <p:nvPr/>
        </p:nvGrpSpPr>
        <p:grpSpPr>
          <a:xfrm>
            <a:off x="4577080" y="2314575"/>
            <a:ext cx="1226820" cy="293370"/>
            <a:chOff x="4577080" y="2314575"/>
            <a:chExt cx="1226820" cy="293370"/>
          </a:xfrm>
        </p:grpSpPr>
        <p:sp>
          <p:nvSpPr>
            <p:cNvPr id="22" name="TextBox 22"/>
            <p:cNvSpPr txBox="1"/>
            <p:nvPr/>
          </p:nvSpPr>
          <p:spPr>
            <a:xfrm>
              <a:off x="4584700" y="2305050"/>
              <a:ext cx="3022600" cy="2381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Autofit/>
            </a:bodyPr>
            <a:lstStyle/>
            <a:p>
              <a:pPr algn="l">
                <a:lnSpc>
                  <a:spcPts val="187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保留缺失观察</a:t>
              </a:r>
            </a:p>
          </p:txBody>
        </p:sp>
      </p:grpSp>
      <p:grpSp>
        <p:nvGrpSpPr>
          <p:cNvPr id="25" name="hero-text-7"/>
          <p:cNvGrpSpPr/>
          <p:nvPr/>
        </p:nvGrpSpPr>
        <p:grpSpPr>
          <a:xfrm>
            <a:off x="8277860" y="1657350"/>
            <a:ext cx="496938" cy="586740"/>
            <a:chOff x="8277860" y="1657350"/>
            <a:chExt cx="496938" cy="586740"/>
          </a:xfrm>
        </p:grpSpPr>
        <p:sp>
          <p:nvSpPr>
            <p:cNvPr id="24" name="TextBox 24"/>
            <p:cNvSpPr txBox="1"/>
            <p:nvPr/>
          </p:nvSpPr>
          <p:spPr>
            <a:xfrm>
              <a:off x="8293100" y="1638300"/>
              <a:ext cx="571500" cy="5524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Autofit/>
            </a:bodyPr>
            <a:lstStyle/>
            <a:p>
              <a:pPr algn="l">
                <a:lnSpc>
                  <a:spcPts val="37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</p:grpSp>
      <p:grpSp>
        <p:nvGrpSpPr>
          <p:cNvPr id="27" name="hero-text-8"/>
          <p:cNvGrpSpPr/>
          <p:nvPr/>
        </p:nvGrpSpPr>
        <p:grpSpPr>
          <a:xfrm>
            <a:off x="8928608" y="1710690"/>
            <a:ext cx="1316736" cy="469392"/>
            <a:chOff x="8928608" y="1710690"/>
            <a:chExt cx="1316736" cy="469392"/>
          </a:xfrm>
        </p:grpSpPr>
        <p:sp>
          <p:nvSpPr>
            <p:cNvPr id="26" name="TextBox 26"/>
            <p:cNvSpPr txBox="1"/>
            <p:nvPr/>
          </p:nvSpPr>
          <p:spPr>
            <a:xfrm>
              <a:off x="8940800" y="1695450"/>
              <a:ext cx="23749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Autofit/>
            </a:bodyPr>
            <a:lstStyle/>
            <a:p>
              <a:pPr algn="l">
                <a:lnSpc>
                  <a:spcPts val="3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sz="2400" b="1" dirty="0">
                  <a:solidFill>
                    <a:srgbClr val="0F1115"/>
                  </a:solidFill>
                  <a:latin typeface="+mn-lt"/>
                  <a:ea typeface="+mn-ea"/>
                  <a:cs typeface="+mn-cs"/>
                </a:rPr>
                <a:t>季度计划</a:t>
              </a:r>
            </a:p>
          </p:txBody>
        </p:sp>
      </p:grpSp>
      <p:grpSp>
        <p:nvGrpSpPr>
          <p:cNvPr id="29" name="hero-text-9"/>
          <p:cNvGrpSpPr/>
          <p:nvPr/>
        </p:nvGrpSpPr>
        <p:grpSpPr>
          <a:xfrm>
            <a:off x="8285480" y="2314575"/>
            <a:ext cx="1428750" cy="293370"/>
            <a:chOff x="8285480" y="2314575"/>
            <a:chExt cx="1428750" cy="293370"/>
          </a:xfrm>
        </p:grpSpPr>
        <p:sp>
          <p:nvSpPr>
            <p:cNvPr id="28" name="TextBox 28"/>
            <p:cNvSpPr txBox="1"/>
            <p:nvPr/>
          </p:nvSpPr>
          <p:spPr>
            <a:xfrm>
              <a:off x="8293100" y="2305050"/>
              <a:ext cx="3022600" cy="2381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Autofit/>
            </a:bodyPr>
            <a:lstStyle/>
            <a:p>
              <a:pPr algn="l">
                <a:lnSpc>
                  <a:spcPts val="187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任务与起止时间</a:t>
              </a:r>
            </a:p>
          </p:txBody>
        </p:sp>
      </p:grpSp>
    </p:spTree>
  </p:cSld>
  <p:clrMapOvr>
    <a:masterClrMapping/>
  </p:clrMapOvr>
  <p:transition ns3:dur="400">
    <p:fade/>
  </p:transition>
</p:sld>
</file>

<file path=ppt/slides/slide3.xml><?xml version="1.0" encoding="utf-8"?>
<p:sld xmlns:a="http://schemas.openxmlformats.org/drawingml/2006/main" xmlns:ns2="http://schemas.openxmlformats.org/officeDocument/2006/relationships" xmlns:ns3="http://schemas.microsoft.com/office/powerpoint/2010/main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ero-image"/>
          <p:cNvPicPr>
            <a:picLocks noChangeAspect="1"/>
          </p:cNvPicPr>
          <p:nvPr/>
        </p:nvPicPr>
        <p:blipFill>
          <a:blip ns2:embed="rId2"/>
          <a:stretch>
            <a:fillRect/>
          </a:stretch>
        </p:blipFill>
        <p:spPr>
          <a:xfrm>
            <a:off x="3239" y="1143000"/>
            <a:ext cx="12185522" cy="6858000"/>
          </a:xfrm>
          <a:prstGeom prst="rect">
            <a:avLst/>
          </a:prstGeom>
        </p:spPr>
      </p:pic>
      <p:pic>
        <p:nvPicPr>
          <p:cNvPr id="3" name="logo"/>
          <p:cNvPicPr>
            <a:picLocks noChangeAspect="1"/>
          </p:cNvPicPr>
          <p:nvPr/>
        </p:nvPicPr>
        <p:blipFill>
          <a:blip ns2:embed="rId3"/>
          <a:stretch>
            <a:fillRect/>
          </a:stretch>
        </p:blipFill>
        <p:spPr>
          <a:xfrm>
            <a:off x="9753600" y="431852"/>
            <a:ext cx="1905000" cy="393595"/>
          </a:xfrm>
          <a:prstGeom prst="rect">
            <a:avLst/>
          </a:prstGeom>
        </p:spPr>
      </p:pic>
      <p:grpSp>
        <p:nvGrpSpPr>
          <p:cNvPr id="5" name="hero-text-0"/>
          <p:cNvGrpSpPr/>
          <p:nvPr/>
        </p:nvGrpSpPr>
        <p:grpSpPr>
          <a:xfrm>
            <a:off x="857250" y="1082040"/>
            <a:ext cx="1344183" cy="1619250"/>
            <a:chOff x="857250" y="1082040"/>
            <a:chExt cx="1344183" cy="1619250"/>
          </a:xfrm>
        </p:grpSpPr>
        <p:sp>
          <p:nvSpPr>
            <p:cNvPr id="4" name="TextBox 4"/>
            <p:cNvSpPr txBox="1"/>
            <p:nvPr/>
          </p:nvSpPr>
          <p:spPr>
            <a:xfrm>
              <a:off x="876300" y="1028700"/>
              <a:ext cx="3810000" cy="14097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Autofit/>
            </a:bodyPr>
            <a:lstStyle/>
            <a:p>
              <a:pPr algn="l">
                <a:lnSpc>
                  <a:spcPts val="10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sz="8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</p:grpSp>
      <p:grpSp>
        <p:nvGrpSpPr>
          <p:cNvPr id="7" name="hero-text-1"/>
          <p:cNvGrpSpPr/>
          <p:nvPr/>
        </p:nvGrpSpPr>
        <p:grpSpPr>
          <a:xfrm>
            <a:off x="857250" y="2619375"/>
            <a:ext cx="2461260" cy="876300"/>
            <a:chOff x="857250" y="2619375"/>
            <a:chExt cx="2461260" cy="876300"/>
          </a:xfrm>
        </p:grpSpPr>
        <p:sp>
          <p:nvSpPr>
            <p:cNvPr id="6" name="TextBox 6"/>
            <p:cNvSpPr txBox="1"/>
            <p:nvPr/>
          </p:nvSpPr>
          <p:spPr>
            <a:xfrm>
              <a:off x="876300" y="2590800"/>
              <a:ext cx="10439400" cy="7905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Autofit/>
            </a:bodyPr>
            <a:lstStyle/>
            <a:p>
              <a:pPr algn="l">
                <a:lnSpc>
                  <a:spcPts val="562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sz="4500" b="1" dirty="0">
                  <a:solidFill>
                    <a:srgbClr val="0F1115"/>
                  </a:solidFill>
                  <a:latin typeface="+mn-lt"/>
                  <a:ea typeface="+mn-ea"/>
                  <a:cs typeface="+mn-cs"/>
                </a:rPr>
                <a:t>入排信息</a:t>
              </a:r>
            </a:p>
          </p:txBody>
        </p:sp>
      </p:grpSp>
    </p:spTree>
  </p:cSld>
  <p:clrMapOvr>
    <a:masterClrMapping/>
  </p:clrMapOvr>
  <p:transition ns3:dur="400">
    <p:fade/>
  </p:transition>
</p:sld>
</file>

<file path=ppt/slides/slide4.xml><?xml version="1.0" encoding="utf-8"?>
<p:sld xmlns:a="http://schemas.openxmlformats.org/drawingml/2006/main" xmlns:ns2="http://schemas.openxmlformats.org/officeDocument/2006/relationships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01-background"/>
          <p:cNvPicPr>
            <a:picLocks noChangeAspect="1"/>
          </p:cNvPicPr>
          <p:nvPr/>
        </p:nvPicPr>
        <p:blipFill>
          <a:blip ns2:embed="rId2"/>
          <a:srcRect l="12530" t="0" r="12529" b="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4" name="p01-page-title"/>
          <p:cNvGrpSpPr/>
          <p:nvPr/>
        </p:nvGrpSpPr>
        <p:grpSpPr>
          <a:xfrm>
            <a:off x="854583" y="293370"/>
            <a:ext cx="1316736" cy="469392"/>
            <a:chOff x="854583" y="293370"/>
            <a:chExt cx="1316736" cy="469392"/>
          </a:xfrm>
        </p:grpSpPr>
        <p:sp>
          <p:nvSpPr>
            <p:cNvPr id="3" name="TextBox 3"/>
            <p:cNvSpPr txBox="1"/>
            <p:nvPr/>
          </p:nvSpPr>
          <p:spPr>
            <a:xfrm>
              <a:off x="854583" y="293370"/>
              <a:ext cx="131673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34383C"/>
                  </a:solidFill>
                  <a:latin typeface="+mn-lt"/>
                  <a:ea typeface="+mn-ea"/>
                  <a:cs typeface="+mn-cs"/>
                </a:rPr>
                <a:t>入排信息</a:t>
              </a:r>
            </a:p>
          </p:txBody>
        </p:sp>
      </p:grpSp>
      <p:pic>
        <p:nvPicPr>
          <p:cNvPr id="5" name="p01-official-logo"/>
          <p:cNvPicPr>
            <a:picLocks noChangeAspect="1"/>
          </p:cNvPicPr>
          <p:nvPr/>
        </p:nvPicPr>
        <p:blipFill>
          <a:blip ns2:embed="rId3"/>
          <a:stretch>
            <a:fillRect/>
          </a:stretch>
        </p:blipFill>
        <p:spPr>
          <a:xfrm>
            <a:off x="9820275" y="428625"/>
            <a:ext cx="1504950" cy="314325"/>
          </a:xfrm>
          <a:prstGeom prst="rect">
            <a:avLst/>
          </a:prstGeom>
        </p:spPr>
      </p:pic>
      <p:sp>
        <p:nvSpPr>
          <p:cNvPr id="6" name="Line 6"/>
          <p:cNvSpPr/>
          <p:nvPr/>
        </p:nvSpPr>
        <p:spPr>
          <a:xfrm>
            <a:off x="514350" y="762000"/>
            <a:ext cx="11458575" cy="9525"/>
          </a:xfrm>
          <a:custGeom>
            <a:avLst/>
            <a:gdLst/>
            <a:ahLst/>
            <a:cxnLst/>
            <a:rect l="l" t="t" r="r" b="b"/>
            <a:pathLst>
              <a:path w="11458575" h="9525">
                <a:moveTo>
                  <a:pt x="0" y="0"/>
                </a:moveTo>
                <a:lnTo>
                  <a:pt x="11458575" y="0"/>
                </a:lnTo>
              </a:path>
            </a:pathLst>
          </a:custGeom>
          <a:noFill/>
          <a:ln w="14288">
            <a:solidFill>
              <a:schemeClr val="accent1"/>
            </a:solidFill>
          </a:ln>
        </p:spPr>
      </p:sp>
      <p:grpSp>
        <p:nvGrpSpPr>
          <p:cNvPr id="11" name="p01-card-include"/>
          <p:cNvGrpSpPr/>
          <p:nvPr/>
        </p:nvGrpSpPr>
        <p:grpSpPr>
          <a:xfrm>
            <a:off x="533400" y="1981200"/>
            <a:ext cx="3505200" cy="3238500"/>
            <a:chOff x="533400" y="1981200"/>
            <a:chExt cx="3505200" cy="3238500"/>
          </a:xfrm>
        </p:grpSpPr>
        <p:sp>
          <p:nvSpPr>
            <p:cNvPr id="7" name="p01-card-include-frame"/>
            <p:cNvSpPr/>
            <p:nvPr/>
          </p:nvSpPr>
          <p:spPr>
            <a:xfrm>
              <a:off x="533400" y="1981200"/>
              <a:ext cx="3505200" cy="3238500"/>
            </a:xfrm>
            <a:prstGeom prst="roundRect">
              <a:avLst>
                <a:gd name="adj" fmla="val 7059"/>
              </a:avLst>
            </a:prstGeom>
            <a:solidFill>
              <a:schemeClr val="lt2">
                <a:alpha val="78000"/>
              </a:schemeClr>
            </a:solidFill>
            <a:ln w="11430">
              <a:solidFill>
                <a:srgbClr val="D9E0E4"/>
              </a:solidFill>
            </a:ln>
            <a:effectLst>
              <a:outerShdw blurRad="114300" dist="38100" dir="5400000" algn="ctr" rotWithShape="0">
                <a:srgbClr val="000000">
                  <a:alpha val="4500"/>
                </a:srgbClr>
              </a:outerShdw>
            </a:effectLst>
          </p:spPr>
        </p:sp>
        <p:sp>
          <p:nvSpPr>
            <p:cNvPr id="8" name="Line 8"/>
            <p:cNvSpPr/>
            <p:nvPr/>
          </p:nvSpPr>
          <p:spPr>
            <a:xfrm>
              <a:off x="762000" y="1990725"/>
              <a:ext cx="914400" cy="9525"/>
            </a:xfrm>
            <a:custGeom>
              <a:avLst/>
              <a:gdLst/>
              <a:ahLst/>
              <a:cxnLst/>
              <a:rect l="l" t="t" r="r" b="b"/>
              <a:pathLst>
                <a:path w="914400" h="9525">
                  <a:moveTo>
                    <a:pt x="0" y="0"/>
                  </a:moveTo>
                  <a:lnTo>
                    <a:pt x="914400" y="0"/>
                  </a:lnTo>
                </a:path>
              </a:pathLst>
            </a:custGeom>
            <a:noFill/>
            <a:ln w="19050">
              <a:solidFill>
                <a:srgbClr val="FFFFFF">
                  <a:alpha val="95000"/>
                </a:srgbClr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52856" y="285369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34383C"/>
                  </a:solidFill>
                  <a:latin typeface="+mn-lt"/>
                  <a:ea typeface="+mn-ea"/>
                  <a:cs typeface="+mn-cs"/>
                </a:rPr>
                <a:t>纳入示例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54380" y="3743325"/>
              <a:ext cx="284191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合成条目 A，仅用于版式测试。</a:t>
              </a:r>
            </a:p>
          </p:txBody>
        </p:sp>
      </p:grpSp>
      <p:grpSp>
        <p:nvGrpSpPr>
          <p:cNvPr id="16" name="p01-card-exclude"/>
          <p:cNvGrpSpPr/>
          <p:nvPr/>
        </p:nvGrpSpPr>
        <p:grpSpPr>
          <a:xfrm>
            <a:off x="4343400" y="1981200"/>
            <a:ext cx="3505200" cy="3238500"/>
            <a:chOff x="4343400" y="1981200"/>
            <a:chExt cx="3505200" cy="3238500"/>
          </a:xfrm>
        </p:grpSpPr>
        <p:sp>
          <p:nvSpPr>
            <p:cNvPr id="12" name="p01-card-exclude-frame"/>
            <p:cNvSpPr/>
            <p:nvPr/>
          </p:nvSpPr>
          <p:spPr>
            <a:xfrm>
              <a:off x="4343400" y="1981200"/>
              <a:ext cx="3505200" cy="3238500"/>
            </a:xfrm>
            <a:prstGeom prst="roundRect">
              <a:avLst>
                <a:gd name="adj" fmla="val 7059"/>
              </a:avLst>
            </a:prstGeom>
            <a:solidFill>
              <a:schemeClr val="lt2">
                <a:alpha val="78000"/>
              </a:schemeClr>
            </a:solidFill>
            <a:ln w="11430">
              <a:solidFill>
                <a:srgbClr val="D9E0E4"/>
              </a:solidFill>
            </a:ln>
            <a:effectLst>
              <a:outerShdw blurRad="114300" dist="38100" dir="5400000" algn="ctr" rotWithShape="0">
                <a:srgbClr val="000000">
                  <a:alpha val="4500"/>
                </a:srgbClr>
              </a:outerShdw>
            </a:effectLst>
          </p:spPr>
        </p:sp>
        <p:sp>
          <p:nvSpPr>
            <p:cNvPr id="13" name="Line 13"/>
            <p:cNvSpPr/>
            <p:nvPr/>
          </p:nvSpPr>
          <p:spPr>
            <a:xfrm>
              <a:off x="4572000" y="1990725"/>
              <a:ext cx="914400" cy="9525"/>
            </a:xfrm>
            <a:custGeom>
              <a:avLst/>
              <a:gdLst/>
              <a:ahLst/>
              <a:cxnLst/>
              <a:rect l="l" t="t" r="r" b="b"/>
              <a:pathLst>
                <a:path w="914400" h="9525">
                  <a:moveTo>
                    <a:pt x="0" y="0"/>
                  </a:moveTo>
                  <a:lnTo>
                    <a:pt x="914400" y="0"/>
                  </a:lnTo>
                </a:path>
              </a:pathLst>
            </a:custGeom>
            <a:noFill/>
            <a:ln w="19050">
              <a:solidFill>
                <a:srgbClr val="FFFFFF">
                  <a:alpha val="95000"/>
                </a:srgbClr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4562856" y="285369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34383C"/>
                  </a:solidFill>
                  <a:latin typeface="+mn-lt"/>
                  <a:ea typeface="+mn-ea"/>
                  <a:cs typeface="+mn-cs"/>
                </a:rPr>
                <a:t>排除示例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564380" y="3609975"/>
              <a:ext cx="211074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合成条目 B，用于检验</a:t>
              </a:r>
              <a:br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标准字号下的多行阅读。</a:t>
              </a:r>
            </a:p>
          </p:txBody>
        </p:sp>
      </p:grpSp>
      <p:grpSp>
        <p:nvGrpSpPr>
          <p:cNvPr id="21" name="p01-card-boundary"/>
          <p:cNvGrpSpPr/>
          <p:nvPr/>
        </p:nvGrpSpPr>
        <p:grpSpPr>
          <a:xfrm>
            <a:off x="8153400" y="1981200"/>
            <a:ext cx="3505200" cy="3238500"/>
            <a:chOff x="8153400" y="1981200"/>
            <a:chExt cx="3505200" cy="3238500"/>
          </a:xfrm>
        </p:grpSpPr>
        <p:sp>
          <p:nvSpPr>
            <p:cNvPr id="17" name="p01-card-boundary-frame"/>
            <p:cNvSpPr/>
            <p:nvPr/>
          </p:nvSpPr>
          <p:spPr>
            <a:xfrm>
              <a:off x="8153400" y="1981200"/>
              <a:ext cx="3505200" cy="3238500"/>
            </a:xfrm>
            <a:prstGeom prst="roundRect">
              <a:avLst>
                <a:gd name="adj" fmla="val 7059"/>
              </a:avLst>
            </a:prstGeom>
            <a:solidFill>
              <a:schemeClr val="lt2">
                <a:alpha val="78000"/>
              </a:schemeClr>
            </a:solidFill>
            <a:ln w="11430">
              <a:solidFill>
                <a:srgbClr val="D9E0E4"/>
              </a:solidFill>
            </a:ln>
            <a:effectLst>
              <a:outerShdw blurRad="114300" dist="38100" dir="5400000" algn="ctr" rotWithShape="0">
                <a:srgbClr val="000000">
                  <a:alpha val="4500"/>
                </a:srgbClr>
              </a:outerShdw>
            </a:effectLst>
          </p:spPr>
        </p:sp>
        <p:sp>
          <p:nvSpPr>
            <p:cNvPr id="18" name="Line 18"/>
            <p:cNvSpPr/>
            <p:nvPr/>
          </p:nvSpPr>
          <p:spPr>
            <a:xfrm>
              <a:off x="8382000" y="1990725"/>
              <a:ext cx="914400" cy="9525"/>
            </a:xfrm>
            <a:custGeom>
              <a:avLst/>
              <a:gdLst/>
              <a:ahLst/>
              <a:cxnLst/>
              <a:rect l="l" t="t" r="r" b="b"/>
              <a:pathLst>
                <a:path w="914400" h="9525">
                  <a:moveTo>
                    <a:pt x="0" y="0"/>
                  </a:moveTo>
                  <a:lnTo>
                    <a:pt x="914400" y="0"/>
                  </a:lnTo>
                </a:path>
              </a:pathLst>
            </a:custGeom>
            <a:noFill/>
            <a:ln w="19050">
              <a:solidFill>
                <a:srgbClr val="FFFFFF">
                  <a:alpha val="95000"/>
                </a:srgbClr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372856" y="285369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34383C"/>
                  </a:solidFill>
                  <a:latin typeface="+mn-lt"/>
                  <a:ea typeface="+mn-ea"/>
                  <a:cs typeface="+mn-cs"/>
                </a:rPr>
                <a:t>演示边界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374380" y="3343275"/>
              <a:ext cx="2682240" cy="10934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本页不列真实疾病、</a:t>
              </a:r>
              <a:br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患者特征或实验室阈值；</a:t>
              </a:r>
              <a:br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示例不构成方案标准，</a:t>
              </a:r>
              <a:br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也不代表真实试验或临床结论。</a:t>
              </a:r>
            </a:p>
          </p:txBody>
        </p:sp>
      </p:grpSp>
      <p:grpSp>
        <p:nvGrpSpPr>
          <p:cNvPr id="24" name="p01-footer"/>
          <p:cNvGrpSpPr/>
          <p:nvPr/>
        </p:nvGrpSpPr>
        <p:grpSpPr>
          <a:xfrm>
            <a:off x="221742" y="6521768"/>
            <a:ext cx="11672316" cy="264033"/>
            <a:chOff x="221742" y="6521768"/>
            <a:chExt cx="11672316" cy="264033"/>
          </a:xfrm>
        </p:grpSpPr>
        <p:sp>
          <p:nvSpPr>
            <p:cNvPr id="22" name="TextBox 22"/>
            <p:cNvSpPr txBox="1"/>
            <p:nvPr/>
          </p:nvSpPr>
          <p:spPr>
            <a:xfrm>
              <a:off x="228600" y="6496050"/>
              <a:ext cx="8572500" cy="2476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Autofit/>
            </a:bodyPr>
            <a:lstStyle/>
            <a:p>
              <a:pPr algn="l">
                <a:lnSpc>
                  <a:spcPts val="189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sz="1350" dirty="0">
                  <a:solidFill>
                    <a:srgbClr val="808080"/>
                  </a:solidFill>
                  <a:latin typeface="+mn-lt"/>
                  <a:ea typeface="+mn-ea"/>
                  <a:cs typeface="+mn-cs"/>
                </a:rPr>
                <a:t>产品中心-医学部｜2026年9月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1526718" y="6521768"/>
              <a:ext cx="36734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4 / 7</a:t>
              </a:r>
            </a:p>
          </p:txBody>
        </p:sp>
      </p:grpSp>
      <p:grpSp>
        <p:nvGrpSpPr>
          <p:cNvPr id="28" name="04_body_cards-yellow-group"/>
          <p:cNvGrpSpPr/>
          <p:nvPr/>
        </p:nvGrpSpPr>
        <p:grpSpPr>
          <a:xfrm>
            <a:off x="47625" y="400050"/>
            <a:ext cx="381000" cy="342900"/>
            <a:chOff x="47625" y="400050"/>
            <a:chExt cx="381000" cy="342900"/>
          </a:xfrm>
        </p:grpSpPr>
        <p:sp>
          <p:nvSpPr>
            <p:cNvPr id="25" name="04_body_cards-yellow-face"/>
            <p:cNvSpPr/>
            <p:nvPr/>
          </p:nvSpPr>
          <p:spPr>
            <a:xfrm>
              <a:off x="47625" y="400050"/>
              <a:ext cx="381000" cy="342900"/>
            </a:xfrm>
            <a:custGeom>
              <a:avLst/>
              <a:gdLst/>
              <a:ahLst/>
              <a:cxnLst/>
              <a:rect l="l" t="t" r="r" b="b"/>
              <a:pathLst>
                <a:path w="381000" h="342900">
                  <a:moveTo>
                    <a:pt x="171450" y="0"/>
                  </a:moveTo>
                  <a:lnTo>
                    <a:pt x="381000" y="0"/>
                  </a:lnTo>
                  <a:lnTo>
                    <a:pt x="219075" y="342900"/>
                  </a:lnTo>
                  <a:lnTo>
                    <a:pt x="0" y="342900"/>
                  </a:lnTo>
                  <a:close/>
                </a:path>
              </a:pathLst>
            </a:custGeom>
            <a:gradFill>
              <a:gsLst>
                <a:gs pos="0">
                  <a:srgbClr val="FFF6C4">
                    <a:alpha val="92000"/>
                  </a:srgbClr>
                </a:gs>
                <a:gs pos="50000">
                  <a:schemeClr val="accent2">
                    <a:alpha val="86000"/>
                  </a:schemeClr>
                </a:gs>
                <a:gs pos="100000">
                  <a:srgbClr val="DCAE18">
                    <a:alpha val="94000"/>
                  </a:srgbClr>
                </a:gs>
              </a:gsLst>
              <a:lin ang="2700000" scaled="1"/>
            </a:gradFill>
            <a:ln>
              <a:noFill/>
            </a:ln>
            <a:effectLst>
              <a:outerShdw blurRad="38100" dist="21299" dir="3806096" algn="tl" rotWithShape="0">
                <a:srgbClr val="67553D">
                  <a:alpha val="9000"/>
                </a:srgbClr>
              </a:outerShdw>
            </a:effectLst>
          </p:spPr>
        </p:sp>
        <p:sp>
          <p:nvSpPr>
            <p:cNvPr id="26" name="04_body_cards-yellow-depth"/>
            <p:cNvSpPr/>
            <p:nvPr/>
          </p:nvSpPr>
          <p:spPr>
            <a:xfrm>
              <a:off x="247650" y="400050"/>
              <a:ext cx="180975" cy="342900"/>
            </a:xfrm>
            <a:custGeom>
              <a:avLst/>
              <a:gdLst/>
              <a:ahLst/>
              <a:cxnLst/>
              <a:rect l="l" t="t" r="r" b="b"/>
              <a:pathLst>
                <a:path w="180975" h="342900">
                  <a:moveTo>
                    <a:pt x="180975" y="0"/>
                  </a:moveTo>
                  <a:lnTo>
                    <a:pt x="19050" y="342900"/>
                  </a:lnTo>
                  <a:lnTo>
                    <a:pt x="0" y="323850"/>
                  </a:lnTo>
                  <a:lnTo>
                    <a:pt x="161925" y="19050"/>
                  </a:lnTo>
                  <a:close/>
                </a:path>
              </a:pathLst>
            </a:custGeom>
            <a:solidFill>
              <a:srgbClr val="A56D10">
                <a:alpha val="20000"/>
              </a:srgbClr>
            </a:solidFill>
            <a:ln>
              <a:noFill/>
            </a:ln>
          </p:spPr>
        </p:sp>
        <p:sp>
          <p:nvSpPr>
            <p:cNvPr id="27" name="04_body_cards-yellow-glint"/>
            <p:cNvSpPr/>
            <p:nvPr/>
          </p:nvSpPr>
          <p:spPr>
            <a:xfrm>
              <a:off x="228600" y="409575"/>
              <a:ext cx="171450" cy="57150"/>
            </a:xfrm>
            <a:custGeom>
              <a:avLst/>
              <a:gdLst/>
              <a:ahLst/>
              <a:cxnLst/>
              <a:rect l="l" t="t" r="r" b="b"/>
              <a:pathLst>
                <a:path w="171450" h="57150">
                  <a:moveTo>
                    <a:pt x="0" y="0"/>
                  </a:moveTo>
                  <a:lnTo>
                    <a:pt x="171450" y="0"/>
                  </a:lnTo>
                  <a:lnTo>
                    <a:pt x="142875" y="57150"/>
                  </a:lnTo>
                </a:path>
              </a:pathLst>
            </a:custGeom>
            <a:noFill/>
            <a:ln w="9525">
              <a:solidFill>
                <a:srgbClr val="FFFFFF">
                  <a:alpha val="78000"/>
                </a:srgbClr>
              </a:solidFill>
            </a:ln>
          </p:spPr>
        </p:sp>
      </p:grpSp>
      <p:grpSp>
        <p:nvGrpSpPr>
          <p:cNvPr id="32" name="04_body_cards-orange-group"/>
          <p:cNvGrpSpPr/>
          <p:nvPr/>
        </p:nvGrpSpPr>
        <p:grpSpPr>
          <a:xfrm>
            <a:off x="228600" y="85725"/>
            <a:ext cx="666750" cy="590550"/>
            <a:chOff x="228600" y="85725"/>
            <a:chExt cx="666750" cy="590550"/>
          </a:xfrm>
        </p:grpSpPr>
        <p:sp>
          <p:nvSpPr>
            <p:cNvPr id="29" name="04_body_cards-orange-face"/>
            <p:cNvSpPr/>
            <p:nvPr/>
          </p:nvSpPr>
          <p:spPr>
            <a:xfrm>
              <a:off x="228600" y="85725"/>
              <a:ext cx="666750" cy="590550"/>
            </a:xfrm>
            <a:custGeom>
              <a:avLst/>
              <a:gdLst/>
              <a:ahLst/>
              <a:cxnLst/>
              <a:rect l="l" t="t" r="r" b="b"/>
              <a:pathLst>
                <a:path w="666750" h="590550">
                  <a:moveTo>
                    <a:pt x="295275" y="0"/>
                  </a:moveTo>
                  <a:lnTo>
                    <a:pt x="666750" y="0"/>
                  </a:lnTo>
                  <a:lnTo>
                    <a:pt x="381000" y="590550"/>
                  </a:lnTo>
                  <a:lnTo>
                    <a:pt x="0" y="590550"/>
                  </a:lnTo>
                  <a:close/>
                </a:path>
              </a:pathLst>
            </a:custGeom>
            <a:gradFill>
              <a:gsLst>
                <a:gs pos="0">
                  <a:srgbClr val="FFE199">
                    <a:alpha val="92000"/>
                  </a:srgbClr>
                </a:gs>
                <a:gs pos="50000">
                  <a:schemeClr val="accent1">
                    <a:alpha val="86000"/>
                  </a:schemeClr>
                </a:gs>
                <a:gs pos="100000">
                  <a:srgbClr val="D98219">
                    <a:alpha val="94000"/>
                  </a:srgbClr>
                </a:gs>
              </a:gsLst>
              <a:lin ang="2700000" scaled="1"/>
            </a:gradFill>
            <a:ln>
              <a:noFill/>
            </a:ln>
            <a:effectLst>
              <a:outerShdw blurRad="38100" dist="21299" dir="3806096" algn="tl" rotWithShape="0">
                <a:srgbClr val="67553D">
                  <a:alpha val="9000"/>
                </a:srgbClr>
              </a:outerShdw>
            </a:effectLst>
          </p:spPr>
        </p:sp>
        <p:sp>
          <p:nvSpPr>
            <p:cNvPr id="30" name="04_body_cards-orange-depth"/>
            <p:cNvSpPr/>
            <p:nvPr/>
          </p:nvSpPr>
          <p:spPr>
            <a:xfrm>
              <a:off x="590550" y="85725"/>
              <a:ext cx="304800" cy="590550"/>
            </a:xfrm>
            <a:custGeom>
              <a:avLst/>
              <a:gdLst/>
              <a:ahLst/>
              <a:cxnLst/>
              <a:rect l="l" t="t" r="r" b="b"/>
              <a:pathLst>
                <a:path w="304800" h="590550">
                  <a:moveTo>
                    <a:pt x="304800" y="0"/>
                  </a:moveTo>
                  <a:lnTo>
                    <a:pt x="19050" y="590550"/>
                  </a:lnTo>
                  <a:lnTo>
                    <a:pt x="0" y="571500"/>
                  </a:lnTo>
                  <a:lnTo>
                    <a:pt x="285750" y="19050"/>
                  </a:lnTo>
                  <a:close/>
                </a:path>
              </a:pathLst>
            </a:custGeom>
            <a:solidFill>
              <a:srgbClr val="A56D10">
                <a:alpha val="20000"/>
              </a:srgbClr>
            </a:solidFill>
            <a:ln>
              <a:noFill/>
            </a:ln>
          </p:spPr>
        </p:sp>
        <p:sp>
          <p:nvSpPr>
            <p:cNvPr id="31" name="04_body_cards-orange-glint"/>
            <p:cNvSpPr/>
            <p:nvPr/>
          </p:nvSpPr>
          <p:spPr>
            <a:xfrm>
              <a:off x="533400" y="95250"/>
              <a:ext cx="333375" cy="57150"/>
            </a:xfrm>
            <a:custGeom>
              <a:avLst/>
              <a:gdLst/>
              <a:ahLst/>
              <a:cxnLst/>
              <a:rect l="l" t="t" r="r" b="b"/>
              <a:pathLst>
                <a:path w="333375" h="57150">
                  <a:moveTo>
                    <a:pt x="0" y="0"/>
                  </a:moveTo>
                  <a:lnTo>
                    <a:pt x="333375" y="0"/>
                  </a:lnTo>
                  <a:lnTo>
                    <a:pt x="304800" y="57150"/>
                  </a:lnTo>
                </a:path>
              </a:pathLst>
            </a:custGeom>
            <a:noFill/>
            <a:ln w="9525">
              <a:solidFill>
                <a:srgbClr val="FFFFFF">
                  <a:alpha val="78000"/>
                </a:srgbClr>
              </a:solidFill>
            </a:ln>
          </p:spPr>
        </p:sp>
      </p:grpSp>
    </p:spTree>
  </p:cSld>
  <p:clrMapOvr>
    <a:masterClrMapping/>
  </p:clrMapOvr>
  <p:transition ns3:dur="400">
    <p:fade/>
  </p:transition>
</p:sld>
</file>

<file path=ppt/slides/slide5.xml><?xml version="1.0" encoding="utf-8"?>
<p:sld xmlns:a="http://schemas.openxmlformats.org/drawingml/2006/main" xmlns:ns2="http://schemas.openxmlformats.org/officeDocument/2006/relationships" xmlns:ns3="http://schemas.openxmlformats.org/drawingml/2006/chart" xmlns:ns4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-body"/>
          <p:cNvPicPr>
            <a:picLocks noChangeAspect="1"/>
          </p:cNvPicPr>
          <p:nvPr/>
        </p:nvPicPr>
        <p:blipFill>
          <a:blip ns2:embed="rId2"/>
          <a:srcRect l="12530" t="0" r="12529" b="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Line 3"/>
          <p:cNvSpPr/>
          <p:nvPr/>
        </p:nvSpPr>
        <p:spPr>
          <a:xfrm>
            <a:off x="514350" y="762000"/>
            <a:ext cx="11458575" cy="9525"/>
          </a:xfrm>
          <a:custGeom>
            <a:avLst/>
            <a:gdLst/>
            <a:ahLst/>
            <a:cxnLst/>
            <a:rect l="l" t="t" r="r" b="b"/>
            <a:pathLst>
              <a:path w="11458575" h="9525">
                <a:moveTo>
                  <a:pt x="0" y="0"/>
                </a:moveTo>
                <a:lnTo>
                  <a:pt x="11458575" y="0"/>
                </a:lnTo>
              </a:path>
            </a:pathLst>
          </a:custGeom>
          <a:noFill/>
          <a:ln w="14288">
            <a:solidFill>
              <a:schemeClr val="accent1"/>
            </a:solidFill>
          </a:ln>
        </p:spPr>
      </p:sp>
      <p:pic>
        <p:nvPicPr>
          <p:cNvPr id="4" name="logo-body"/>
          <p:cNvPicPr>
            <a:picLocks noChangeAspect="1"/>
          </p:cNvPicPr>
          <p:nvPr/>
        </p:nvPicPr>
        <p:blipFill>
          <a:blip ns2:embed="rId3"/>
          <a:stretch>
            <a:fillRect/>
          </a:stretch>
        </p:blipFill>
        <p:spPr>
          <a:xfrm>
            <a:off x="9820275" y="428625"/>
            <a:ext cx="1504950" cy="314325"/>
          </a:xfrm>
          <a:prstGeom prst="rect">
            <a:avLst/>
          </a:prstGeom>
        </p:spPr>
      </p:pic>
      <p:sp>
        <p:nvSpPr>
          <p:cNvPr id="5" name="footer-scrim"/>
          <p:cNvSpPr/>
          <p:nvPr/>
        </p:nvSpPr>
        <p:spPr>
          <a:xfrm>
            <a:off x="0" y="6438900"/>
            <a:ext cx="12192000" cy="419100"/>
          </a:xfrm>
          <a:prstGeom prst="rect">
            <a:avLst/>
          </a:prstGeom>
          <a:solidFill>
            <a:schemeClr val="lt2">
              <a:alpha val="82000"/>
            </a:schemeClr>
          </a:solidFill>
          <a:ln>
            <a:noFill/>
          </a:ln>
        </p:spPr>
      </p:sp>
      <p:grpSp>
        <p:nvGrpSpPr>
          <p:cNvPr id="7" name="page-title"/>
          <p:cNvGrpSpPr/>
          <p:nvPr/>
        </p:nvGrpSpPr>
        <p:grpSpPr>
          <a:xfrm>
            <a:off x="854583" y="283845"/>
            <a:ext cx="1316736" cy="469392"/>
            <a:chOff x="854583" y="283845"/>
            <a:chExt cx="1316736" cy="469392"/>
          </a:xfrm>
        </p:grpSpPr>
        <p:sp>
          <p:nvSpPr>
            <p:cNvPr id="6" name="TextBox 6"/>
            <p:cNvSpPr txBox="1"/>
            <p:nvPr/>
          </p:nvSpPr>
          <p:spPr>
            <a:xfrm>
              <a:off x="854583" y="283845"/>
              <a:ext cx="131673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0F1115"/>
                  </a:solidFill>
                  <a:latin typeface="+mn-lt"/>
                  <a:ea typeface="+mn-ea"/>
                  <a:cs typeface="+mn-cs"/>
                </a:rPr>
                <a:t>流程节点</a:t>
              </a:r>
            </a:p>
          </p:txBody>
        </p:sp>
      </p:grpSp>
      <p:grpSp>
        <p:nvGrpSpPr>
          <p:cNvPr id="13" name="chart-card"/>
          <p:cNvGrpSpPr/>
          <p:nvPr/>
        </p:nvGrpSpPr>
        <p:grpSpPr>
          <a:xfrm>
            <a:off x="533400" y="1066800"/>
            <a:ext cx="11125200" cy="4914900"/>
            <a:chOff x="533400" y="1066800"/>
            <a:chExt cx="11125200" cy="4914900"/>
          </a:xfrm>
        </p:grpSpPr>
        <p:sp>
          <p:nvSpPr>
            <p:cNvPr id="8" name="Rectangle 8"/>
            <p:cNvSpPr/>
            <p:nvPr/>
          </p:nvSpPr>
          <p:spPr>
            <a:xfrm>
              <a:off x="533400" y="1066800"/>
              <a:ext cx="11125200" cy="4914900"/>
            </a:xfrm>
            <a:prstGeom prst="roundRect">
              <a:avLst>
                <a:gd name="adj" fmla="val 4651"/>
              </a:avLst>
            </a:prstGeom>
            <a:solidFill>
              <a:schemeClr val="lt2">
                <a:alpha val="93000"/>
              </a:schemeClr>
            </a:solidFill>
            <a:ln w="9525">
              <a:solidFill>
                <a:srgbClr val="0F1115">
                  <a:alpha val="12000"/>
                </a:srgbClr>
              </a:solidFill>
            </a:ln>
            <a:effectLst>
              <a:outerShdw blurRad="152400" dist="57150" dir="5400000" algn="ctr" rotWithShape="0">
                <a:srgbClr val="000000">
                  <a:alpha val="7500"/>
                </a:srgbClr>
              </a:outerShdw>
            </a:effectLst>
          </p:spPr>
        </p:sp>
        <p:sp>
          <p:nvSpPr>
            <p:cNvPr id="9" name="TextBox 9"/>
            <p:cNvSpPr txBox="1"/>
            <p:nvPr/>
          </p:nvSpPr>
          <p:spPr>
            <a:xfrm>
              <a:off x="829056" y="1367790"/>
              <a:ext cx="7452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0F1115"/>
                  </a:solidFill>
                  <a:latin typeface="+mn-lt"/>
                  <a:ea typeface="+mn-ea"/>
                  <a:cs typeface="+mn-cs"/>
                </a:rPr>
                <a:t>合成值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0701528" y="143256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单位：份</a:t>
              </a:r>
            </a:p>
          </p:txBody>
        </p:sp>
        <p:graphicFrame>
          <p:nvGraphicFramePr>
            <p:cNvPr id="11" name="archive-series"/>
            <p:cNvGraphicFramePr>
              <a:graphicFrameLocks noGrp="1"/>
            </p:cNvGraphicFramePr>
            <p:nvPr/>
          </p:nvGraphicFramePr>
          <p:xfrm>
            <a:off x="1619250" y="1809750"/>
            <a:ext cx="9525000" cy="3771900"/>
          </p:xfrm>
          <a:graphic>
            <a:graphicData uri="http://schemas.openxmlformats.org/drawingml/2006/chart">
              <ns3:chart ns2:id="rId4"/>
            </a:graphicData>
          </a:graphic>
        </p:graphicFrame>
        <p:sp>
          <p:nvSpPr>
            <p:cNvPr id="12" name="TextBox 12"/>
            <p:cNvSpPr txBox="1"/>
            <p:nvPr/>
          </p:nvSpPr>
          <p:spPr>
            <a:xfrm>
              <a:off x="1898904" y="5623560"/>
              <a:ext cx="29199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注：启动资料缺失，不等于零，不插补。</a:t>
              </a:r>
            </a:p>
          </p:txBody>
        </p:sp>
      </p:grpSp>
      <p:grpSp>
        <p:nvGrpSpPr>
          <p:cNvPr id="17" name="page-footer"/>
          <p:cNvGrpSpPr/>
          <p:nvPr/>
        </p:nvGrpSpPr>
        <p:grpSpPr>
          <a:xfrm>
            <a:off x="221742" y="6521768"/>
            <a:ext cx="11672316" cy="264033"/>
            <a:chOff x="221742" y="6521768"/>
            <a:chExt cx="11672316" cy="264033"/>
          </a:xfrm>
        </p:grpSpPr>
        <p:sp>
          <p:nvSpPr>
            <p:cNvPr id="14" name="TextBox 14"/>
            <p:cNvSpPr txBox="1"/>
            <p:nvPr/>
          </p:nvSpPr>
          <p:spPr>
            <a:xfrm>
              <a:off x="228600" y="6496050"/>
              <a:ext cx="8572500" cy="2476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Autofit/>
            </a:bodyPr>
            <a:lstStyle/>
            <a:p>
              <a:pPr algn="l">
                <a:lnSpc>
                  <a:spcPts val="189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sz="1350" dirty="0">
                  <a:solidFill>
                    <a:srgbClr val="808080"/>
                  </a:solidFill>
                  <a:latin typeface="+mn-lt"/>
                  <a:ea typeface="+mn-ea"/>
                  <a:cs typeface="+mn-cs"/>
                </a:rPr>
                <a:t>产品中心-医学部｜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666875" y="6496050"/>
              <a:ext cx="6667500" cy="2476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Autofit/>
            </a:bodyPr>
            <a:lstStyle/>
            <a:p>
              <a:pPr algn="l">
                <a:lnSpc>
                  <a:spcPts val="189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sz="1350" dirty="0">
                  <a:solidFill>
                    <a:srgbClr val="808080"/>
                  </a:solidFill>
                  <a:latin typeface="+mn-lt"/>
                  <a:ea typeface="+mn-ea"/>
                  <a:cs typeface="+mn-cs"/>
                </a:rPr>
                <a:t>2026年9月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1471434" y="6521768"/>
              <a:ext cx="42262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rgbClr val="808080"/>
                  </a:solidFill>
                  <a:latin typeface="+mn-lt"/>
                  <a:ea typeface="+mn-ea"/>
                  <a:cs typeface="+mn-cs"/>
                </a:rPr>
                <a:t>5 / 7</a:t>
              </a:r>
            </a:p>
          </p:txBody>
        </p:sp>
      </p:grpSp>
      <p:grpSp>
        <p:nvGrpSpPr>
          <p:cNvPr id="21" name="05_native_chart-yellow-group"/>
          <p:cNvGrpSpPr/>
          <p:nvPr/>
        </p:nvGrpSpPr>
        <p:grpSpPr>
          <a:xfrm>
            <a:off x="47625" y="400050"/>
            <a:ext cx="381000" cy="342900"/>
            <a:chOff x="47625" y="400050"/>
            <a:chExt cx="381000" cy="342900"/>
          </a:xfrm>
        </p:grpSpPr>
        <p:sp>
          <p:nvSpPr>
            <p:cNvPr id="18" name="05_native_chart-yellow-face"/>
            <p:cNvSpPr/>
            <p:nvPr/>
          </p:nvSpPr>
          <p:spPr>
            <a:xfrm>
              <a:off x="47625" y="400050"/>
              <a:ext cx="381000" cy="342900"/>
            </a:xfrm>
            <a:custGeom>
              <a:avLst/>
              <a:gdLst/>
              <a:ahLst/>
              <a:cxnLst/>
              <a:rect l="l" t="t" r="r" b="b"/>
              <a:pathLst>
                <a:path w="381000" h="342900">
                  <a:moveTo>
                    <a:pt x="171450" y="0"/>
                  </a:moveTo>
                  <a:lnTo>
                    <a:pt x="381000" y="0"/>
                  </a:lnTo>
                  <a:lnTo>
                    <a:pt x="219075" y="342900"/>
                  </a:lnTo>
                  <a:lnTo>
                    <a:pt x="0" y="342900"/>
                  </a:lnTo>
                  <a:close/>
                </a:path>
              </a:pathLst>
            </a:custGeom>
            <a:gradFill>
              <a:gsLst>
                <a:gs pos="0">
                  <a:srgbClr val="FFF6C4">
                    <a:alpha val="92000"/>
                  </a:srgbClr>
                </a:gs>
                <a:gs pos="50000">
                  <a:schemeClr val="accent2">
                    <a:alpha val="86000"/>
                  </a:schemeClr>
                </a:gs>
                <a:gs pos="100000">
                  <a:srgbClr val="DCAE18">
                    <a:alpha val="94000"/>
                  </a:srgbClr>
                </a:gs>
              </a:gsLst>
              <a:lin ang="2700000" scaled="1"/>
            </a:gradFill>
            <a:ln>
              <a:noFill/>
            </a:ln>
            <a:effectLst>
              <a:outerShdw blurRad="38100" dist="21299" dir="3806096" algn="tl" rotWithShape="0">
                <a:srgbClr val="67553D">
                  <a:alpha val="9000"/>
                </a:srgbClr>
              </a:outerShdw>
            </a:effectLst>
          </p:spPr>
        </p:sp>
        <p:sp>
          <p:nvSpPr>
            <p:cNvPr id="19" name="05_native_chart-yellow-depth"/>
            <p:cNvSpPr/>
            <p:nvPr/>
          </p:nvSpPr>
          <p:spPr>
            <a:xfrm>
              <a:off x="247650" y="400050"/>
              <a:ext cx="180975" cy="342900"/>
            </a:xfrm>
            <a:custGeom>
              <a:avLst/>
              <a:gdLst/>
              <a:ahLst/>
              <a:cxnLst/>
              <a:rect l="l" t="t" r="r" b="b"/>
              <a:pathLst>
                <a:path w="180975" h="342900">
                  <a:moveTo>
                    <a:pt x="180975" y="0"/>
                  </a:moveTo>
                  <a:lnTo>
                    <a:pt x="19050" y="342900"/>
                  </a:lnTo>
                  <a:lnTo>
                    <a:pt x="0" y="323850"/>
                  </a:lnTo>
                  <a:lnTo>
                    <a:pt x="161925" y="19050"/>
                  </a:lnTo>
                  <a:close/>
                </a:path>
              </a:pathLst>
            </a:custGeom>
            <a:solidFill>
              <a:srgbClr val="A56D10">
                <a:alpha val="20000"/>
              </a:srgbClr>
            </a:solidFill>
            <a:ln>
              <a:noFill/>
            </a:ln>
          </p:spPr>
        </p:sp>
        <p:sp>
          <p:nvSpPr>
            <p:cNvPr id="20" name="05_native_chart-yellow-glint"/>
            <p:cNvSpPr/>
            <p:nvPr/>
          </p:nvSpPr>
          <p:spPr>
            <a:xfrm>
              <a:off x="228600" y="409575"/>
              <a:ext cx="171450" cy="57150"/>
            </a:xfrm>
            <a:custGeom>
              <a:avLst/>
              <a:gdLst/>
              <a:ahLst/>
              <a:cxnLst/>
              <a:rect l="l" t="t" r="r" b="b"/>
              <a:pathLst>
                <a:path w="171450" h="57150">
                  <a:moveTo>
                    <a:pt x="0" y="0"/>
                  </a:moveTo>
                  <a:lnTo>
                    <a:pt x="171450" y="0"/>
                  </a:lnTo>
                  <a:lnTo>
                    <a:pt x="142875" y="57150"/>
                  </a:lnTo>
                </a:path>
              </a:pathLst>
            </a:custGeom>
            <a:noFill/>
            <a:ln w="9525">
              <a:solidFill>
                <a:srgbClr val="FFFFFF">
                  <a:alpha val="78000"/>
                </a:srgbClr>
              </a:solidFill>
            </a:ln>
          </p:spPr>
        </p:sp>
      </p:grpSp>
      <p:grpSp>
        <p:nvGrpSpPr>
          <p:cNvPr id="25" name="05_native_chart-orange-group"/>
          <p:cNvGrpSpPr/>
          <p:nvPr/>
        </p:nvGrpSpPr>
        <p:grpSpPr>
          <a:xfrm>
            <a:off x="228600" y="85725"/>
            <a:ext cx="666750" cy="590550"/>
            <a:chOff x="228600" y="85725"/>
            <a:chExt cx="666750" cy="590550"/>
          </a:xfrm>
        </p:grpSpPr>
        <p:sp>
          <p:nvSpPr>
            <p:cNvPr id="22" name="05_native_chart-orange-face"/>
            <p:cNvSpPr/>
            <p:nvPr/>
          </p:nvSpPr>
          <p:spPr>
            <a:xfrm>
              <a:off x="228600" y="85725"/>
              <a:ext cx="666750" cy="590550"/>
            </a:xfrm>
            <a:custGeom>
              <a:avLst/>
              <a:gdLst/>
              <a:ahLst/>
              <a:cxnLst/>
              <a:rect l="l" t="t" r="r" b="b"/>
              <a:pathLst>
                <a:path w="666750" h="590550">
                  <a:moveTo>
                    <a:pt x="295275" y="0"/>
                  </a:moveTo>
                  <a:lnTo>
                    <a:pt x="666750" y="0"/>
                  </a:lnTo>
                  <a:lnTo>
                    <a:pt x="381000" y="590550"/>
                  </a:lnTo>
                  <a:lnTo>
                    <a:pt x="0" y="590550"/>
                  </a:lnTo>
                  <a:close/>
                </a:path>
              </a:pathLst>
            </a:custGeom>
            <a:gradFill>
              <a:gsLst>
                <a:gs pos="0">
                  <a:srgbClr val="FFE199">
                    <a:alpha val="92000"/>
                  </a:srgbClr>
                </a:gs>
                <a:gs pos="50000">
                  <a:schemeClr val="accent1">
                    <a:alpha val="86000"/>
                  </a:schemeClr>
                </a:gs>
                <a:gs pos="100000">
                  <a:srgbClr val="D98219">
                    <a:alpha val="94000"/>
                  </a:srgbClr>
                </a:gs>
              </a:gsLst>
              <a:lin ang="2700000" scaled="1"/>
            </a:gradFill>
            <a:ln>
              <a:noFill/>
            </a:ln>
            <a:effectLst>
              <a:outerShdw blurRad="38100" dist="21299" dir="3806096" algn="tl" rotWithShape="0">
                <a:srgbClr val="67553D">
                  <a:alpha val="9000"/>
                </a:srgbClr>
              </a:outerShdw>
            </a:effectLst>
          </p:spPr>
        </p:sp>
        <p:sp>
          <p:nvSpPr>
            <p:cNvPr id="23" name="05_native_chart-orange-depth"/>
            <p:cNvSpPr/>
            <p:nvPr/>
          </p:nvSpPr>
          <p:spPr>
            <a:xfrm>
              <a:off x="590550" y="85725"/>
              <a:ext cx="304800" cy="590550"/>
            </a:xfrm>
            <a:custGeom>
              <a:avLst/>
              <a:gdLst/>
              <a:ahLst/>
              <a:cxnLst/>
              <a:rect l="l" t="t" r="r" b="b"/>
              <a:pathLst>
                <a:path w="304800" h="590550">
                  <a:moveTo>
                    <a:pt x="304800" y="0"/>
                  </a:moveTo>
                  <a:lnTo>
                    <a:pt x="19050" y="590550"/>
                  </a:lnTo>
                  <a:lnTo>
                    <a:pt x="0" y="571500"/>
                  </a:lnTo>
                  <a:lnTo>
                    <a:pt x="285750" y="19050"/>
                  </a:lnTo>
                  <a:close/>
                </a:path>
              </a:pathLst>
            </a:custGeom>
            <a:solidFill>
              <a:srgbClr val="A56D10">
                <a:alpha val="20000"/>
              </a:srgbClr>
            </a:solidFill>
            <a:ln>
              <a:noFill/>
            </a:ln>
          </p:spPr>
        </p:sp>
        <p:sp>
          <p:nvSpPr>
            <p:cNvPr id="24" name="05_native_chart-orange-glint"/>
            <p:cNvSpPr/>
            <p:nvPr/>
          </p:nvSpPr>
          <p:spPr>
            <a:xfrm>
              <a:off x="533400" y="95250"/>
              <a:ext cx="333375" cy="57150"/>
            </a:xfrm>
            <a:custGeom>
              <a:avLst/>
              <a:gdLst/>
              <a:ahLst/>
              <a:cxnLst/>
              <a:rect l="l" t="t" r="r" b="b"/>
              <a:pathLst>
                <a:path w="333375" h="57150">
                  <a:moveTo>
                    <a:pt x="0" y="0"/>
                  </a:moveTo>
                  <a:lnTo>
                    <a:pt x="333375" y="0"/>
                  </a:lnTo>
                  <a:lnTo>
                    <a:pt x="304800" y="57150"/>
                  </a:lnTo>
                </a:path>
              </a:pathLst>
            </a:custGeom>
            <a:noFill/>
            <a:ln w="9525">
              <a:solidFill>
                <a:srgbClr val="FFFFFF">
                  <a:alpha val="78000"/>
                </a:srgbClr>
              </a:solidFill>
            </a:ln>
          </p:spPr>
        </p:sp>
      </p:grpSp>
    </p:spTree>
  </p:cSld>
  <p:clrMapOvr>
    <a:masterClrMapping/>
  </p:clrMapOvr>
  <p:transition ns4:dur="400">
    <p:fade/>
  </p:transition>
</p:sld>
</file>

<file path=ppt/slides/slide6.xml><?xml version="1.0" encoding="utf-8"?>
<p:sld xmlns:a="http://schemas.openxmlformats.org/drawingml/2006/main" xmlns:ns2="http://schemas.openxmlformats.org/officeDocument/2006/relationships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-body"/>
          <p:cNvPicPr>
            <a:picLocks noChangeAspect="1"/>
          </p:cNvPicPr>
          <p:nvPr/>
        </p:nvPicPr>
        <p:blipFill>
          <a:blip ns2:embed="rId2"/>
          <a:srcRect l="12530" t="0" r="12529" b="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Line 3"/>
          <p:cNvSpPr/>
          <p:nvPr/>
        </p:nvSpPr>
        <p:spPr>
          <a:xfrm>
            <a:off x="514350" y="762000"/>
            <a:ext cx="11458575" cy="9525"/>
          </a:xfrm>
          <a:custGeom>
            <a:avLst/>
            <a:gdLst/>
            <a:ahLst/>
            <a:cxnLst/>
            <a:rect l="l" t="t" r="r" b="b"/>
            <a:pathLst>
              <a:path w="11458575" h="9525">
                <a:moveTo>
                  <a:pt x="0" y="0"/>
                </a:moveTo>
                <a:lnTo>
                  <a:pt x="11458575" y="0"/>
                </a:lnTo>
              </a:path>
            </a:pathLst>
          </a:custGeom>
          <a:noFill/>
          <a:ln w="14288">
            <a:solidFill>
              <a:schemeClr val="accent1"/>
            </a:solidFill>
          </a:ln>
        </p:spPr>
      </p:sp>
      <p:pic>
        <p:nvPicPr>
          <p:cNvPr id="4" name="logo-body"/>
          <p:cNvPicPr>
            <a:picLocks noChangeAspect="1"/>
          </p:cNvPicPr>
          <p:nvPr/>
        </p:nvPicPr>
        <p:blipFill>
          <a:blip ns2:embed="rId3"/>
          <a:stretch>
            <a:fillRect/>
          </a:stretch>
        </p:blipFill>
        <p:spPr>
          <a:xfrm>
            <a:off x="9820275" y="428625"/>
            <a:ext cx="1504950" cy="314325"/>
          </a:xfrm>
          <a:prstGeom prst="rect">
            <a:avLst/>
          </a:prstGeom>
        </p:spPr>
      </p:pic>
      <p:sp>
        <p:nvSpPr>
          <p:cNvPr id="5" name="footer-scrim"/>
          <p:cNvSpPr/>
          <p:nvPr/>
        </p:nvSpPr>
        <p:spPr>
          <a:xfrm>
            <a:off x="0" y="6438900"/>
            <a:ext cx="12192000" cy="419100"/>
          </a:xfrm>
          <a:prstGeom prst="rect">
            <a:avLst/>
          </a:prstGeom>
          <a:solidFill>
            <a:schemeClr val="lt2">
              <a:alpha val="82000"/>
            </a:schemeClr>
          </a:solidFill>
          <a:ln>
            <a:noFill/>
          </a:ln>
        </p:spPr>
      </p:sp>
      <p:grpSp>
        <p:nvGrpSpPr>
          <p:cNvPr id="7" name="page-title"/>
          <p:cNvGrpSpPr/>
          <p:nvPr/>
        </p:nvGrpSpPr>
        <p:grpSpPr>
          <a:xfrm>
            <a:off x="854583" y="283845"/>
            <a:ext cx="1316736" cy="469392"/>
            <a:chOff x="854583" y="283845"/>
            <a:chExt cx="1316736" cy="469392"/>
          </a:xfrm>
        </p:grpSpPr>
        <p:sp>
          <p:nvSpPr>
            <p:cNvPr id="6" name="TextBox 6"/>
            <p:cNvSpPr txBox="1"/>
            <p:nvPr/>
          </p:nvSpPr>
          <p:spPr>
            <a:xfrm>
              <a:off x="854583" y="283845"/>
              <a:ext cx="131673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0F1115"/>
                  </a:solidFill>
                  <a:latin typeface="+mn-lt"/>
                  <a:ea typeface="+mn-ea"/>
                  <a:cs typeface="+mn-cs"/>
                </a:rPr>
                <a:t>季度计划</a:t>
              </a:r>
            </a:p>
          </p:txBody>
        </p:sp>
      </p:grpSp>
      <p:grpSp>
        <p:nvGrpSpPr>
          <p:cNvPr id="11" name="page-footer"/>
          <p:cNvGrpSpPr/>
          <p:nvPr/>
        </p:nvGrpSpPr>
        <p:grpSpPr>
          <a:xfrm>
            <a:off x="221742" y="6521768"/>
            <a:ext cx="11672316" cy="264033"/>
            <a:chOff x="221742" y="6521768"/>
            <a:chExt cx="11672316" cy="264033"/>
          </a:xfrm>
        </p:grpSpPr>
        <p:sp>
          <p:nvSpPr>
            <p:cNvPr id="8" name="TextBox 8"/>
            <p:cNvSpPr txBox="1"/>
            <p:nvPr/>
          </p:nvSpPr>
          <p:spPr>
            <a:xfrm>
              <a:off x="228600" y="6496050"/>
              <a:ext cx="8572500" cy="2476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Autofit/>
            </a:bodyPr>
            <a:lstStyle/>
            <a:p>
              <a:pPr algn="l">
                <a:lnSpc>
                  <a:spcPts val="189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sz="1350" dirty="0">
                  <a:solidFill>
                    <a:srgbClr val="808080"/>
                  </a:solidFill>
                  <a:latin typeface="+mn-lt"/>
                  <a:ea typeface="+mn-ea"/>
                  <a:cs typeface="+mn-cs"/>
                </a:rPr>
                <a:t>产品中心-医学部｜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666875" y="6496050"/>
              <a:ext cx="6667500" cy="2476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Autofit/>
            </a:bodyPr>
            <a:lstStyle/>
            <a:p>
              <a:pPr algn="l">
                <a:lnSpc>
                  <a:spcPts val="189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sz="1350" dirty="0">
                  <a:solidFill>
                    <a:srgbClr val="808080"/>
                  </a:solidFill>
                  <a:latin typeface="+mn-lt"/>
                  <a:ea typeface="+mn-ea"/>
                  <a:cs typeface="+mn-cs"/>
                </a:rPr>
                <a:t>2026年9月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471434" y="6521768"/>
              <a:ext cx="42262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rgbClr val="808080"/>
                  </a:solidFill>
                  <a:latin typeface="+mn-lt"/>
                  <a:ea typeface="+mn-ea"/>
                  <a:cs typeface="+mn-cs"/>
                </a:rPr>
                <a:t>6 / 7</a:t>
              </a:r>
            </a:p>
          </p:txBody>
        </p:sp>
      </p:grpSp>
      <p:sp>
        <p:nvSpPr>
          <p:cNvPr id="12" name="Rectangle 12"/>
          <p:cNvSpPr/>
          <p:nvPr/>
        </p:nvSpPr>
        <p:spPr>
          <a:xfrm>
            <a:off x="533400" y="1066800"/>
            <a:ext cx="11125200" cy="4914900"/>
          </a:xfrm>
          <a:prstGeom prst="roundRect">
            <a:avLst>
              <a:gd name="adj" fmla="val 4651"/>
            </a:avLst>
          </a:prstGeom>
          <a:solidFill>
            <a:schemeClr val="lt2">
              <a:alpha val="86000"/>
            </a:schemeClr>
          </a:solidFill>
          <a:ln w="9525">
            <a:solidFill>
              <a:srgbClr val="B5B4B1">
                <a:alpha val="32000"/>
              </a:srgbClr>
            </a:solidFill>
          </a:ln>
        </p:spPr>
      </p:sp>
      <p:sp>
        <p:nvSpPr>
          <p:cNvPr id="13" name="TextBox 13"/>
          <p:cNvSpPr txBox="1"/>
          <p:nvPr/>
        </p:nvSpPr>
        <p:spPr>
          <a:xfrm>
            <a:off x="3267075" y="1394460"/>
            <a:ext cx="60960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2026Q1</a:t>
            </a:r>
          </a:p>
        </p:txBody>
      </p:sp>
      <p:sp>
        <p:nvSpPr>
          <p:cNvPr id="14" name="Line 14"/>
          <p:cNvSpPr/>
          <p:nvPr/>
        </p:nvSpPr>
        <p:spPr>
          <a:xfrm>
            <a:off x="3238500" y="1714500"/>
            <a:ext cx="9525" cy="3790950"/>
          </a:xfrm>
          <a:custGeom>
            <a:avLst/>
            <a:gdLst/>
            <a:ahLst/>
            <a:cxnLst/>
            <a:rect l="l" t="t" r="r" b="b"/>
            <a:pathLst>
              <a:path w="9525" h="3790950">
                <a:moveTo>
                  <a:pt x="0" y="0"/>
                </a:moveTo>
                <a:lnTo>
                  <a:pt x="0" y="3790950"/>
                </a:lnTo>
              </a:path>
            </a:pathLst>
          </a:custGeom>
          <a:noFill/>
          <a:ln w="9525">
            <a:solidFill>
              <a:schemeClr val="accent6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3933825" y="1394460"/>
            <a:ext cx="60960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2026Q2</a:t>
            </a:r>
          </a:p>
        </p:txBody>
      </p:sp>
      <p:sp>
        <p:nvSpPr>
          <p:cNvPr id="16" name="Line 16"/>
          <p:cNvSpPr/>
          <p:nvPr/>
        </p:nvSpPr>
        <p:spPr>
          <a:xfrm>
            <a:off x="3905250" y="1714500"/>
            <a:ext cx="9525" cy="3790950"/>
          </a:xfrm>
          <a:custGeom>
            <a:avLst/>
            <a:gdLst/>
            <a:ahLst/>
            <a:cxnLst/>
            <a:rect l="l" t="t" r="r" b="b"/>
            <a:pathLst>
              <a:path w="9525" h="3790950">
                <a:moveTo>
                  <a:pt x="0" y="0"/>
                </a:moveTo>
                <a:lnTo>
                  <a:pt x="0" y="3790950"/>
                </a:lnTo>
              </a:path>
            </a:pathLst>
          </a:custGeom>
          <a:noFill/>
          <a:ln w="9525">
            <a:solidFill>
              <a:schemeClr val="accent6"/>
            </a:solidFill>
          </a:ln>
        </p:spPr>
      </p:sp>
      <p:sp>
        <p:nvSpPr>
          <p:cNvPr id="17" name="TextBox 17"/>
          <p:cNvSpPr txBox="1"/>
          <p:nvPr/>
        </p:nvSpPr>
        <p:spPr>
          <a:xfrm>
            <a:off x="4600575" y="1394460"/>
            <a:ext cx="60960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2026Q3</a:t>
            </a:r>
          </a:p>
        </p:txBody>
      </p:sp>
      <p:sp>
        <p:nvSpPr>
          <p:cNvPr id="18" name="Line 18"/>
          <p:cNvSpPr/>
          <p:nvPr/>
        </p:nvSpPr>
        <p:spPr>
          <a:xfrm>
            <a:off x="4572000" y="1714500"/>
            <a:ext cx="9525" cy="3790950"/>
          </a:xfrm>
          <a:custGeom>
            <a:avLst/>
            <a:gdLst/>
            <a:ahLst/>
            <a:cxnLst/>
            <a:rect l="l" t="t" r="r" b="b"/>
            <a:pathLst>
              <a:path w="9525" h="3790950">
                <a:moveTo>
                  <a:pt x="0" y="0"/>
                </a:moveTo>
                <a:lnTo>
                  <a:pt x="0" y="3790950"/>
                </a:lnTo>
              </a:path>
            </a:pathLst>
          </a:custGeom>
          <a:noFill/>
          <a:ln w="9525">
            <a:solidFill>
              <a:schemeClr val="accent6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5267325" y="1394460"/>
            <a:ext cx="60960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2026Q4</a:t>
            </a:r>
          </a:p>
        </p:txBody>
      </p:sp>
      <p:sp>
        <p:nvSpPr>
          <p:cNvPr id="20" name="Line 20"/>
          <p:cNvSpPr/>
          <p:nvPr/>
        </p:nvSpPr>
        <p:spPr>
          <a:xfrm>
            <a:off x="5238750" y="1714500"/>
            <a:ext cx="9525" cy="3790950"/>
          </a:xfrm>
          <a:custGeom>
            <a:avLst/>
            <a:gdLst/>
            <a:ahLst/>
            <a:cxnLst/>
            <a:rect l="l" t="t" r="r" b="b"/>
            <a:pathLst>
              <a:path w="9525" h="3790950">
                <a:moveTo>
                  <a:pt x="0" y="0"/>
                </a:moveTo>
                <a:lnTo>
                  <a:pt x="0" y="3790950"/>
                </a:lnTo>
              </a:path>
            </a:pathLst>
          </a:custGeom>
          <a:noFill/>
          <a:ln w="9525">
            <a:solidFill>
              <a:schemeClr val="accent6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5934075" y="1394460"/>
            <a:ext cx="60960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2027Q1</a:t>
            </a:r>
          </a:p>
        </p:txBody>
      </p:sp>
      <p:sp>
        <p:nvSpPr>
          <p:cNvPr id="22" name="Line 22"/>
          <p:cNvSpPr/>
          <p:nvPr/>
        </p:nvSpPr>
        <p:spPr>
          <a:xfrm>
            <a:off x="5905500" y="1714500"/>
            <a:ext cx="9525" cy="3790950"/>
          </a:xfrm>
          <a:custGeom>
            <a:avLst/>
            <a:gdLst/>
            <a:ahLst/>
            <a:cxnLst/>
            <a:rect l="l" t="t" r="r" b="b"/>
            <a:pathLst>
              <a:path w="9525" h="3790950">
                <a:moveTo>
                  <a:pt x="0" y="0"/>
                </a:moveTo>
                <a:lnTo>
                  <a:pt x="0" y="3790950"/>
                </a:lnTo>
              </a:path>
            </a:pathLst>
          </a:custGeom>
          <a:noFill/>
          <a:ln w="9525">
            <a:solidFill>
              <a:schemeClr val="accent6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6600825" y="1394460"/>
            <a:ext cx="60960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2027Q2</a:t>
            </a:r>
          </a:p>
        </p:txBody>
      </p:sp>
      <p:sp>
        <p:nvSpPr>
          <p:cNvPr id="24" name="Line 24"/>
          <p:cNvSpPr/>
          <p:nvPr/>
        </p:nvSpPr>
        <p:spPr>
          <a:xfrm>
            <a:off x="6572250" y="1714500"/>
            <a:ext cx="9525" cy="3790950"/>
          </a:xfrm>
          <a:custGeom>
            <a:avLst/>
            <a:gdLst/>
            <a:ahLst/>
            <a:cxnLst/>
            <a:rect l="l" t="t" r="r" b="b"/>
            <a:pathLst>
              <a:path w="9525" h="3790950">
                <a:moveTo>
                  <a:pt x="0" y="0"/>
                </a:moveTo>
                <a:lnTo>
                  <a:pt x="0" y="3790950"/>
                </a:lnTo>
              </a:path>
            </a:pathLst>
          </a:custGeom>
          <a:noFill/>
          <a:ln w="9525">
            <a:solidFill>
              <a:schemeClr val="accent6"/>
            </a:solidFill>
          </a:ln>
        </p:spPr>
      </p:sp>
      <p:sp>
        <p:nvSpPr>
          <p:cNvPr id="25" name="TextBox 25"/>
          <p:cNvSpPr txBox="1"/>
          <p:nvPr/>
        </p:nvSpPr>
        <p:spPr>
          <a:xfrm>
            <a:off x="7267575" y="1394460"/>
            <a:ext cx="60960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2027Q3</a:t>
            </a:r>
          </a:p>
        </p:txBody>
      </p:sp>
      <p:sp>
        <p:nvSpPr>
          <p:cNvPr id="26" name="Line 26"/>
          <p:cNvSpPr/>
          <p:nvPr/>
        </p:nvSpPr>
        <p:spPr>
          <a:xfrm>
            <a:off x="7239000" y="1714500"/>
            <a:ext cx="9525" cy="3790950"/>
          </a:xfrm>
          <a:custGeom>
            <a:avLst/>
            <a:gdLst/>
            <a:ahLst/>
            <a:cxnLst/>
            <a:rect l="l" t="t" r="r" b="b"/>
            <a:pathLst>
              <a:path w="9525" h="3790950">
                <a:moveTo>
                  <a:pt x="0" y="0"/>
                </a:moveTo>
                <a:lnTo>
                  <a:pt x="0" y="3790950"/>
                </a:lnTo>
              </a:path>
            </a:pathLst>
          </a:custGeom>
          <a:noFill/>
          <a:ln w="9525">
            <a:solidFill>
              <a:schemeClr val="accent6"/>
            </a:solidFill>
          </a:ln>
        </p:spPr>
      </p:sp>
      <p:sp>
        <p:nvSpPr>
          <p:cNvPr id="27" name="TextBox 27"/>
          <p:cNvSpPr txBox="1"/>
          <p:nvPr/>
        </p:nvSpPr>
        <p:spPr>
          <a:xfrm>
            <a:off x="7934325" y="1394460"/>
            <a:ext cx="60960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2027Q4</a:t>
            </a:r>
          </a:p>
        </p:txBody>
      </p:sp>
      <p:sp>
        <p:nvSpPr>
          <p:cNvPr id="28" name="Line 28"/>
          <p:cNvSpPr/>
          <p:nvPr/>
        </p:nvSpPr>
        <p:spPr>
          <a:xfrm>
            <a:off x="7905750" y="1714500"/>
            <a:ext cx="9525" cy="3790950"/>
          </a:xfrm>
          <a:custGeom>
            <a:avLst/>
            <a:gdLst/>
            <a:ahLst/>
            <a:cxnLst/>
            <a:rect l="l" t="t" r="r" b="b"/>
            <a:pathLst>
              <a:path w="9525" h="3790950">
                <a:moveTo>
                  <a:pt x="0" y="0"/>
                </a:moveTo>
                <a:lnTo>
                  <a:pt x="0" y="3790950"/>
                </a:lnTo>
              </a:path>
            </a:pathLst>
          </a:custGeom>
          <a:noFill/>
          <a:ln w="9525">
            <a:solidFill>
              <a:schemeClr val="accent6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8601075" y="1394460"/>
            <a:ext cx="60960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2028Q1</a:t>
            </a:r>
          </a:p>
        </p:txBody>
      </p:sp>
      <p:sp>
        <p:nvSpPr>
          <p:cNvPr id="30" name="Line 30"/>
          <p:cNvSpPr/>
          <p:nvPr/>
        </p:nvSpPr>
        <p:spPr>
          <a:xfrm>
            <a:off x="8572500" y="1714500"/>
            <a:ext cx="9525" cy="3790950"/>
          </a:xfrm>
          <a:custGeom>
            <a:avLst/>
            <a:gdLst/>
            <a:ahLst/>
            <a:cxnLst/>
            <a:rect l="l" t="t" r="r" b="b"/>
            <a:pathLst>
              <a:path w="9525" h="3790950">
                <a:moveTo>
                  <a:pt x="0" y="0"/>
                </a:moveTo>
                <a:lnTo>
                  <a:pt x="0" y="3790950"/>
                </a:lnTo>
              </a:path>
            </a:pathLst>
          </a:custGeom>
          <a:noFill/>
          <a:ln w="9525">
            <a:solidFill>
              <a:schemeClr val="accent6"/>
            </a:solidFill>
          </a:ln>
        </p:spPr>
      </p:sp>
      <p:sp>
        <p:nvSpPr>
          <p:cNvPr id="31" name="TextBox 31"/>
          <p:cNvSpPr txBox="1"/>
          <p:nvPr/>
        </p:nvSpPr>
        <p:spPr>
          <a:xfrm>
            <a:off x="9267825" y="1394460"/>
            <a:ext cx="60960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2028Q2</a:t>
            </a:r>
          </a:p>
        </p:txBody>
      </p:sp>
      <p:sp>
        <p:nvSpPr>
          <p:cNvPr id="32" name="Line 32"/>
          <p:cNvSpPr/>
          <p:nvPr/>
        </p:nvSpPr>
        <p:spPr>
          <a:xfrm>
            <a:off x="9239250" y="1714500"/>
            <a:ext cx="9525" cy="3790950"/>
          </a:xfrm>
          <a:custGeom>
            <a:avLst/>
            <a:gdLst/>
            <a:ahLst/>
            <a:cxnLst/>
            <a:rect l="l" t="t" r="r" b="b"/>
            <a:pathLst>
              <a:path w="9525" h="3790950">
                <a:moveTo>
                  <a:pt x="0" y="0"/>
                </a:moveTo>
                <a:lnTo>
                  <a:pt x="0" y="3790950"/>
                </a:lnTo>
              </a:path>
            </a:pathLst>
          </a:custGeom>
          <a:noFill/>
          <a:ln w="9525">
            <a:solidFill>
              <a:schemeClr val="accent6"/>
            </a:solidFill>
          </a:ln>
        </p:spPr>
      </p:sp>
      <p:sp>
        <p:nvSpPr>
          <p:cNvPr id="33" name="TextBox 33"/>
          <p:cNvSpPr txBox="1"/>
          <p:nvPr/>
        </p:nvSpPr>
        <p:spPr>
          <a:xfrm>
            <a:off x="9934575" y="1394460"/>
            <a:ext cx="60960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2028Q3</a:t>
            </a:r>
          </a:p>
        </p:txBody>
      </p:sp>
      <p:sp>
        <p:nvSpPr>
          <p:cNvPr id="34" name="Line 34"/>
          <p:cNvSpPr/>
          <p:nvPr/>
        </p:nvSpPr>
        <p:spPr>
          <a:xfrm>
            <a:off x="9906000" y="1714500"/>
            <a:ext cx="9525" cy="3790950"/>
          </a:xfrm>
          <a:custGeom>
            <a:avLst/>
            <a:gdLst/>
            <a:ahLst/>
            <a:cxnLst/>
            <a:rect l="l" t="t" r="r" b="b"/>
            <a:pathLst>
              <a:path w="9525" h="3790950">
                <a:moveTo>
                  <a:pt x="0" y="0"/>
                </a:moveTo>
                <a:lnTo>
                  <a:pt x="0" y="3790950"/>
                </a:lnTo>
              </a:path>
            </a:pathLst>
          </a:custGeom>
          <a:noFill/>
          <a:ln w="9525">
            <a:solidFill>
              <a:schemeClr val="accent6"/>
            </a:solidFill>
          </a:ln>
        </p:spPr>
      </p:sp>
      <p:sp>
        <p:nvSpPr>
          <p:cNvPr id="35" name="TextBox 35"/>
          <p:cNvSpPr txBox="1"/>
          <p:nvPr/>
        </p:nvSpPr>
        <p:spPr>
          <a:xfrm>
            <a:off x="10601325" y="1394460"/>
            <a:ext cx="60960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2028Q4</a:t>
            </a:r>
          </a:p>
        </p:txBody>
      </p:sp>
      <p:sp>
        <p:nvSpPr>
          <p:cNvPr id="36" name="Line 36"/>
          <p:cNvSpPr/>
          <p:nvPr/>
        </p:nvSpPr>
        <p:spPr>
          <a:xfrm>
            <a:off x="10572750" y="1714500"/>
            <a:ext cx="9525" cy="3790950"/>
          </a:xfrm>
          <a:custGeom>
            <a:avLst/>
            <a:gdLst/>
            <a:ahLst/>
            <a:cxnLst/>
            <a:rect l="l" t="t" r="r" b="b"/>
            <a:pathLst>
              <a:path w="9525" h="3790950">
                <a:moveTo>
                  <a:pt x="0" y="0"/>
                </a:moveTo>
                <a:lnTo>
                  <a:pt x="0" y="3790950"/>
                </a:lnTo>
              </a:path>
            </a:pathLst>
          </a:custGeom>
          <a:noFill/>
          <a:ln w="9525">
            <a:solidFill>
              <a:schemeClr val="accent6"/>
            </a:solidFill>
          </a:ln>
        </p:spPr>
      </p:sp>
      <p:sp>
        <p:nvSpPr>
          <p:cNvPr id="37" name="TextBox 37"/>
          <p:cNvSpPr txBox="1"/>
          <p:nvPr/>
        </p:nvSpPr>
        <p:spPr>
          <a:xfrm>
            <a:off x="754380" y="2000250"/>
            <a:ext cx="183261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方案定稿与伦理递交</a:t>
            </a:r>
          </a:p>
        </p:txBody>
      </p:sp>
      <p:sp>
        <p:nvSpPr>
          <p:cNvPr id="38" name="task-0"/>
          <p:cNvSpPr/>
          <p:nvPr/>
        </p:nvSpPr>
        <p:spPr>
          <a:xfrm>
            <a:off x="3238500" y="1952625"/>
            <a:ext cx="666750" cy="304800"/>
          </a:xfrm>
          <a:prstGeom prst="roundRect">
            <a:avLst>
              <a:gd name="adj" fmla="val 25000"/>
            </a:avLst>
          </a:prstGeom>
          <a:solidFill>
            <a:schemeClr val="accent1">
              <a:alpha val="55000"/>
            </a:schemeClr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754380" y="2571750"/>
            <a:ext cx="142875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中心筛选与启动</a:t>
            </a:r>
          </a:p>
        </p:txBody>
      </p:sp>
      <p:sp>
        <p:nvSpPr>
          <p:cNvPr id="40" name="task-1"/>
          <p:cNvSpPr/>
          <p:nvPr/>
        </p:nvSpPr>
        <p:spPr>
          <a:xfrm>
            <a:off x="3905250" y="2524125"/>
            <a:ext cx="666750" cy="304800"/>
          </a:xfrm>
          <a:prstGeom prst="roundRect">
            <a:avLst>
              <a:gd name="adj" fmla="val 25000"/>
            </a:avLst>
          </a:prstGeom>
          <a:solidFill>
            <a:schemeClr val="accent1">
              <a:alpha val="55000"/>
            </a:schemeClr>
          </a:solidFill>
          <a:ln>
            <a:noFill/>
          </a:ln>
        </p:spPr>
      </p:sp>
      <p:sp>
        <p:nvSpPr>
          <p:cNvPr id="41" name="TextBox 41"/>
          <p:cNvSpPr txBox="1"/>
          <p:nvPr/>
        </p:nvSpPr>
        <p:spPr>
          <a:xfrm>
            <a:off x="754380" y="3143250"/>
            <a:ext cx="102489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受试者入组</a:t>
            </a:r>
          </a:p>
        </p:txBody>
      </p:sp>
      <p:sp>
        <p:nvSpPr>
          <p:cNvPr id="42" name="task-2"/>
          <p:cNvSpPr/>
          <p:nvPr/>
        </p:nvSpPr>
        <p:spPr>
          <a:xfrm>
            <a:off x="4572000" y="3095625"/>
            <a:ext cx="1333500" cy="304800"/>
          </a:xfrm>
          <a:prstGeom prst="roundRect">
            <a:avLst>
              <a:gd name="adj" fmla="val 25000"/>
            </a:avLst>
          </a:prstGeom>
          <a:solidFill>
            <a:schemeClr val="accent1">
              <a:alpha val="55000"/>
            </a:schemeClr>
          </a:solidFill>
          <a:ln>
            <a:noFill/>
          </a:ln>
        </p:spPr>
      </p:sp>
      <p:sp>
        <p:nvSpPr>
          <p:cNvPr id="43" name="TextBox 43"/>
          <p:cNvSpPr txBox="1"/>
          <p:nvPr/>
        </p:nvSpPr>
        <p:spPr>
          <a:xfrm>
            <a:off x="754380" y="3714750"/>
            <a:ext cx="142875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随访与数据采集</a:t>
            </a:r>
          </a:p>
        </p:txBody>
      </p:sp>
      <p:sp>
        <p:nvSpPr>
          <p:cNvPr id="44" name="task-3"/>
          <p:cNvSpPr/>
          <p:nvPr/>
        </p:nvSpPr>
        <p:spPr>
          <a:xfrm>
            <a:off x="5238750" y="3667125"/>
            <a:ext cx="2667000" cy="304800"/>
          </a:xfrm>
          <a:prstGeom prst="roundRect">
            <a:avLst>
              <a:gd name="adj" fmla="val 25000"/>
            </a:avLst>
          </a:prstGeom>
          <a:solidFill>
            <a:schemeClr val="accent1">
              <a:alpha val="55000"/>
            </a:schemeClr>
          </a:solidFill>
          <a:ln>
            <a:noFill/>
          </a:ln>
        </p:spPr>
      </p:sp>
      <p:sp>
        <p:nvSpPr>
          <p:cNvPr id="45" name="TextBox 45"/>
          <p:cNvSpPr txBox="1"/>
          <p:nvPr/>
        </p:nvSpPr>
        <p:spPr>
          <a:xfrm>
            <a:off x="754380" y="4286250"/>
            <a:ext cx="142875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数据清理与锁库</a:t>
            </a:r>
          </a:p>
        </p:txBody>
      </p:sp>
      <p:sp>
        <p:nvSpPr>
          <p:cNvPr id="46" name="task-4"/>
          <p:cNvSpPr/>
          <p:nvPr/>
        </p:nvSpPr>
        <p:spPr>
          <a:xfrm>
            <a:off x="7905750" y="4238625"/>
            <a:ext cx="666750" cy="304800"/>
          </a:xfrm>
          <a:prstGeom prst="roundRect">
            <a:avLst>
              <a:gd name="adj" fmla="val 25000"/>
            </a:avLst>
          </a:prstGeom>
          <a:solidFill>
            <a:schemeClr val="accent1">
              <a:alpha val="55000"/>
            </a:schemeClr>
          </a:solidFill>
          <a:ln>
            <a:noFill/>
          </a:ln>
        </p:spPr>
      </p:sp>
      <p:sp>
        <p:nvSpPr>
          <p:cNvPr id="47" name="TextBox 47"/>
          <p:cNvSpPr txBox="1"/>
          <p:nvPr/>
        </p:nvSpPr>
        <p:spPr>
          <a:xfrm>
            <a:off x="754380" y="4857750"/>
            <a:ext cx="183261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统计分析与总结报告</a:t>
            </a:r>
          </a:p>
        </p:txBody>
      </p:sp>
      <p:sp>
        <p:nvSpPr>
          <p:cNvPr id="48" name="task-5"/>
          <p:cNvSpPr/>
          <p:nvPr/>
        </p:nvSpPr>
        <p:spPr>
          <a:xfrm>
            <a:off x="8572500" y="4810125"/>
            <a:ext cx="2667000" cy="304800"/>
          </a:xfrm>
          <a:prstGeom prst="roundRect">
            <a:avLst>
              <a:gd name="adj" fmla="val 25000"/>
            </a:avLst>
          </a:prstGeom>
          <a:solidFill>
            <a:schemeClr val="accent1">
              <a:alpha val="55000"/>
            </a:schemeClr>
          </a:solidFill>
          <a:ln>
            <a:noFill/>
          </a:ln>
        </p:spPr>
      </p:sp>
      <p:sp>
        <p:nvSpPr>
          <p:cNvPr id="49" name="TextBox 49"/>
          <p:cNvSpPr txBox="1"/>
          <p:nvPr/>
        </p:nvSpPr>
        <p:spPr>
          <a:xfrm>
            <a:off x="755904" y="5661660"/>
            <a:ext cx="259689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合成计划，仅用于排期与编辑演示。</a:t>
            </a:r>
          </a:p>
        </p:txBody>
      </p:sp>
      <p:grpSp>
        <p:nvGrpSpPr>
          <p:cNvPr id="53" name="06_gantt-yellow-group"/>
          <p:cNvGrpSpPr/>
          <p:nvPr/>
        </p:nvGrpSpPr>
        <p:grpSpPr>
          <a:xfrm>
            <a:off x="47625" y="400050"/>
            <a:ext cx="381000" cy="342900"/>
            <a:chOff x="47625" y="400050"/>
            <a:chExt cx="381000" cy="342900"/>
          </a:xfrm>
        </p:grpSpPr>
        <p:sp>
          <p:nvSpPr>
            <p:cNvPr id="50" name="06_gantt-yellow-face"/>
            <p:cNvSpPr/>
            <p:nvPr/>
          </p:nvSpPr>
          <p:spPr>
            <a:xfrm>
              <a:off x="47625" y="400050"/>
              <a:ext cx="381000" cy="342900"/>
            </a:xfrm>
            <a:custGeom>
              <a:avLst/>
              <a:gdLst/>
              <a:ahLst/>
              <a:cxnLst/>
              <a:rect l="l" t="t" r="r" b="b"/>
              <a:pathLst>
                <a:path w="381000" h="342900">
                  <a:moveTo>
                    <a:pt x="171450" y="0"/>
                  </a:moveTo>
                  <a:lnTo>
                    <a:pt x="381000" y="0"/>
                  </a:lnTo>
                  <a:lnTo>
                    <a:pt x="219075" y="342900"/>
                  </a:lnTo>
                  <a:lnTo>
                    <a:pt x="0" y="342900"/>
                  </a:lnTo>
                  <a:close/>
                </a:path>
              </a:pathLst>
            </a:custGeom>
            <a:gradFill>
              <a:gsLst>
                <a:gs pos="0">
                  <a:srgbClr val="FFF6C4">
                    <a:alpha val="92000"/>
                  </a:srgbClr>
                </a:gs>
                <a:gs pos="50000">
                  <a:schemeClr val="accent2">
                    <a:alpha val="86000"/>
                  </a:schemeClr>
                </a:gs>
                <a:gs pos="100000">
                  <a:srgbClr val="DCAE18">
                    <a:alpha val="94000"/>
                  </a:srgbClr>
                </a:gs>
              </a:gsLst>
              <a:lin ang="2700000" scaled="1"/>
            </a:gradFill>
            <a:ln>
              <a:noFill/>
            </a:ln>
            <a:effectLst>
              <a:outerShdw blurRad="38100" dist="21299" dir="3806096" algn="tl" rotWithShape="0">
                <a:srgbClr val="67553D">
                  <a:alpha val="9000"/>
                </a:srgbClr>
              </a:outerShdw>
            </a:effectLst>
          </p:spPr>
        </p:sp>
        <p:sp>
          <p:nvSpPr>
            <p:cNvPr id="51" name="06_gantt-yellow-depth"/>
            <p:cNvSpPr/>
            <p:nvPr/>
          </p:nvSpPr>
          <p:spPr>
            <a:xfrm>
              <a:off x="247650" y="400050"/>
              <a:ext cx="180975" cy="342900"/>
            </a:xfrm>
            <a:custGeom>
              <a:avLst/>
              <a:gdLst/>
              <a:ahLst/>
              <a:cxnLst/>
              <a:rect l="l" t="t" r="r" b="b"/>
              <a:pathLst>
                <a:path w="180975" h="342900">
                  <a:moveTo>
                    <a:pt x="180975" y="0"/>
                  </a:moveTo>
                  <a:lnTo>
                    <a:pt x="19050" y="342900"/>
                  </a:lnTo>
                  <a:lnTo>
                    <a:pt x="0" y="323850"/>
                  </a:lnTo>
                  <a:lnTo>
                    <a:pt x="161925" y="19050"/>
                  </a:lnTo>
                  <a:close/>
                </a:path>
              </a:pathLst>
            </a:custGeom>
            <a:solidFill>
              <a:srgbClr val="A56D10">
                <a:alpha val="20000"/>
              </a:srgbClr>
            </a:solidFill>
            <a:ln>
              <a:noFill/>
            </a:ln>
          </p:spPr>
        </p:sp>
        <p:sp>
          <p:nvSpPr>
            <p:cNvPr id="52" name="06_gantt-yellow-glint"/>
            <p:cNvSpPr/>
            <p:nvPr/>
          </p:nvSpPr>
          <p:spPr>
            <a:xfrm>
              <a:off x="228600" y="409575"/>
              <a:ext cx="171450" cy="57150"/>
            </a:xfrm>
            <a:custGeom>
              <a:avLst/>
              <a:gdLst/>
              <a:ahLst/>
              <a:cxnLst/>
              <a:rect l="l" t="t" r="r" b="b"/>
              <a:pathLst>
                <a:path w="171450" h="57150">
                  <a:moveTo>
                    <a:pt x="0" y="0"/>
                  </a:moveTo>
                  <a:lnTo>
                    <a:pt x="171450" y="0"/>
                  </a:lnTo>
                  <a:lnTo>
                    <a:pt x="142875" y="57150"/>
                  </a:lnTo>
                </a:path>
              </a:pathLst>
            </a:custGeom>
            <a:noFill/>
            <a:ln w="9525">
              <a:solidFill>
                <a:srgbClr val="FFFFFF">
                  <a:alpha val="78000"/>
                </a:srgbClr>
              </a:solidFill>
            </a:ln>
          </p:spPr>
        </p:sp>
      </p:grpSp>
      <p:grpSp>
        <p:nvGrpSpPr>
          <p:cNvPr id="57" name="06_gantt-orange-group"/>
          <p:cNvGrpSpPr/>
          <p:nvPr/>
        </p:nvGrpSpPr>
        <p:grpSpPr>
          <a:xfrm>
            <a:off x="228600" y="85725"/>
            <a:ext cx="666750" cy="590550"/>
            <a:chOff x="228600" y="85725"/>
            <a:chExt cx="666750" cy="590550"/>
          </a:xfrm>
        </p:grpSpPr>
        <p:sp>
          <p:nvSpPr>
            <p:cNvPr id="54" name="06_gantt-orange-face"/>
            <p:cNvSpPr/>
            <p:nvPr/>
          </p:nvSpPr>
          <p:spPr>
            <a:xfrm>
              <a:off x="228600" y="85725"/>
              <a:ext cx="666750" cy="590550"/>
            </a:xfrm>
            <a:custGeom>
              <a:avLst/>
              <a:gdLst/>
              <a:ahLst/>
              <a:cxnLst/>
              <a:rect l="l" t="t" r="r" b="b"/>
              <a:pathLst>
                <a:path w="666750" h="590550">
                  <a:moveTo>
                    <a:pt x="295275" y="0"/>
                  </a:moveTo>
                  <a:lnTo>
                    <a:pt x="666750" y="0"/>
                  </a:lnTo>
                  <a:lnTo>
                    <a:pt x="381000" y="590550"/>
                  </a:lnTo>
                  <a:lnTo>
                    <a:pt x="0" y="590550"/>
                  </a:lnTo>
                  <a:close/>
                </a:path>
              </a:pathLst>
            </a:custGeom>
            <a:gradFill>
              <a:gsLst>
                <a:gs pos="0">
                  <a:srgbClr val="FFE199">
                    <a:alpha val="92000"/>
                  </a:srgbClr>
                </a:gs>
                <a:gs pos="50000">
                  <a:schemeClr val="accent1">
                    <a:alpha val="86000"/>
                  </a:schemeClr>
                </a:gs>
                <a:gs pos="100000">
                  <a:srgbClr val="D98219">
                    <a:alpha val="94000"/>
                  </a:srgbClr>
                </a:gs>
              </a:gsLst>
              <a:lin ang="2700000" scaled="1"/>
            </a:gradFill>
            <a:ln>
              <a:noFill/>
            </a:ln>
            <a:effectLst>
              <a:outerShdw blurRad="38100" dist="21299" dir="3806096" algn="tl" rotWithShape="0">
                <a:srgbClr val="67553D">
                  <a:alpha val="9000"/>
                </a:srgbClr>
              </a:outerShdw>
            </a:effectLst>
          </p:spPr>
        </p:sp>
        <p:sp>
          <p:nvSpPr>
            <p:cNvPr id="55" name="06_gantt-orange-depth"/>
            <p:cNvSpPr/>
            <p:nvPr/>
          </p:nvSpPr>
          <p:spPr>
            <a:xfrm>
              <a:off x="590550" y="85725"/>
              <a:ext cx="304800" cy="590550"/>
            </a:xfrm>
            <a:custGeom>
              <a:avLst/>
              <a:gdLst/>
              <a:ahLst/>
              <a:cxnLst/>
              <a:rect l="l" t="t" r="r" b="b"/>
              <a:pathLst>
                <a:path w="304800" h="590550">
                  <a:moveTo>
                    <a:pt x="304800" y="0"/>
                  </a:moveTo>
                  <a:lnTo>
                    <a:pt x="19050" y="590550"/>
                  </a:lnTo>
                  <a:lnTo>
                    <a:pt x="0" y="571500"/>
                  </a:lnTo>
                  <a:lnTo>
                    <a:pt x="285750" y="19050"/>
                  </a:lnTo>
                  <a:close/>
                </a:path>
              </a:pathLst>
            </a:custGeom>
            <a:solidFill>
              <a:srgbClr val="A56D10">
                <a:alpha val="20000"/>
              </a:srgbClr>
            </a:solidFill>
            <a:ln>
              <a:noFill/>
            </a:ln>
          </p:spPr>
        </p:sp>
        <p:sp>
          <p:nvSpPr>
            <p:cNvPr id="56" name="06_gantt-orange-glint"/>
            <p:cNvSpPr/>
            <p:nvPr/>
          </p:nvSpPr>
          <p:spPr>
            <a:xfrm>
              <a:off x="533400" y="95250"/>
              <a:ext cx="333375" cy="57150"/>
            </a:xfrm>
            <a:custGeom>
              <a:avLst/>
              <a:gdLst/>
              <a:ahLst/>
              <a:cxnLst/>
              <a:rect l="l" t="t" r="r" b="b"/>
              <a:pathLst>
                <a:path w="333375" h="57150">
                  <a:moveTo>
                    <a:pt x="0" y="0"/>
                  </a:moveTo>
                  <a:lnTo>
                    <a:pt x="333375" y="0"/>
                  </a:lnTo>
                  <a:lnTo>
                    <a:pt x="304800" y="57150"/>
                  </a:lnTo>
                </a:path>
              </a:pathLst>
            </a:custGeom>
            <a:noFill/>
            <a:ln w="9525">
              <a:solidFill>
                <a:srgbClr val="FFFFFF">
                  <a:alpha val="78000"/>
                </a:srgbClr>
              </a:solidFill>
            </a:ln>
          </p:spPr>
        </p:sp>
      </p:grpSp>
    </p:spTree>
  </p:cSld>
  <p:clrMapOvr>
    <a:masterClrMapping/>
  </p:clrMapOvr>
  <p:transition ns3:dur="400">
    <p:fade/>
  </p:transition>
</p:sld>
</file>

<file path=ppt/slides/slide7.xml><?xml version="1.0" encoding="utf-8"?>
<p:sld xmlns:a="http://schemas.openxmlformats.org/drawingml/2006/main" xmlns:ns2="http://schemas.openxmlformats.org/officeDocument/2006/relationships" xmlns:ns3="http://schemas.microsoft.com/office/powerpoint/2010/main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ero-image"/>
          <p:cNvPicPr>
            <a:picLocks noChangeAspect="1"/>
          </p:cNvPicPr>
          <p:nvPr/>
        </p:nvPicPr>
        <p:blipFill>
          <a:blip ns2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pic>
        <p:nvPicPr>
          <p:cNvPr id="3" name="logo"/>
          <p:cNvPicPr>
            <a:picLocks noChangeAspect="1"/>
          </p:cNvPicPr>
          <p:nvPr/>
        </p:nvPicPr>
        <p:blipFill>
          <a:blip ns2:embed="rId3"/>
          <a:stretch>
            <a:fillRect/>
          </a:stretch>
        </p:blipFill>
        <p:spPr>
          <a:xfrm>
            <a:off x="533400" y="419100"/>
            <a:ext cx="2286000" cy="476250"/>
          </a:xfrm>
          <a:prstGeom prst="rect">
            <a:avLst/>
          </a:prstGeom>
        </p:spPr>
      </p:pic>
      <p:grpSp>
        <p:nvGrpSpPr>
          <p:cNvPr id="5" name="hero-text-0"/>
          <p:cNvGrpSpPr/>
          <p:nvPr/>
        </p:nvGrpSpPr>
        <p:grpSpPr>
          <a:xfrm>
            <a:off x="857250" y="1802130"/>
            <a:ext cx="2138172" cy="1504950"/>
            <a:chOff x="857250" y="1802130"/>
            <a:chExt cx="2138172" cy="1504950"/>
          </a:xfrm>
        </p:grpSpPr>
        <p:sp>
          <p:nvSpPr>
            <p:cNvPr id="4" name="TextBox 4"/>
            <p:cNvSpPr txBox="1"/>
            <p:nvPr/>
          </p:nvSpPr>
          <p:spPr>
            <a:xfrm>
              <a:off x="876300" y="1752600"/>
              <a:ext cx="10439400" cy="13144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Autofit/>
            </a:bodyPr>
            <a:lstStyle/>
            <a:p>
              <a:pPr algn="l">
                <a:lnSpc>
                  <a:spcPts val="97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sz="7800" b="1" dirty="0">
                  <a:solidFill>
                    <a:srgbClr val="0F1115"/>
                  </a:solidFill>
                  <a:latin typeface="+mn-lt"/>
                  <a:ea typeface="+mn-ea"/>
                  <a:cs typeface="+mn-cs"/>
                </a:rPr>
                <a:t>谢谢</a:t>
              </a:r>
            </a:p>
          </p:txBody>
        </p:sp>
      </p:grpSp>
      <p:grpSp>
        <p:nvGrpSpPr>
          <p:cNvPr id="7" name="hero-text-1"/>
          <p:cNvGrpSpPr/>
          <p:nvPr/>
        </p:nvGrpSpPr>
        <p:grpSpPr>
          <a:xfrm>
            <a:off x="865632" y="3194685"/>
            <a:ext cx="1717548" cy="410718"/>
            <a:chOff x="865632" y="3194685"/>
            <a:chExt cx="1717548" cy="410718"/>
          </a:xfrm>
        </p:grpSpPr>
        <p:sp>
          <p:nvSpPr>
            <p:cNvPr id="6" name="TextBox 6"/>
            <p:cNvSpPr txBox="1"/>
            <p:nvPr/>
          </p:nvSpPr>
          <p:spPr>
            <a:xfrm>
              <a:off x="876300" y="3181350"/>
              <a:ext cx="10439400" cy="400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Autofit/>
            </a:bodyPr>
            <a:lstStyle/>
            <a:p>
              <a:pPr algn="l">
                <a:lnSpc>
                  <a:spcPts val="262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感谢参与交流</a:t>
              </a:r>
            </a:p>
          </p:txBody>
        </p:sp>
      </p:grpSp>
      <p:grpSp>
        <p:nvGrpSpPr>
          <p:cNvPr id="9" name="hero-text-2"/>
          <p:cNvGrpSpPr/>
          <p:nvPr/>
        </p:nvGrpSpPr>
        <p:grpSpPr>
          <a:xfrm>
            <a:off x="868680" y="3762375"/>
            <a:ext cx="2700909" cy="293370"/>
            <a:chOff x="868680" y="3762375"/>
            <a:chExt cx="2700909" cy="293370"/>
          </a:xfrm>
        </p:grpSpPr>
        <p:sp>
          <p:nvSpPr>
            <p:cNvPr id="8" name="TextBox 8"/>
            <p:cNvSpPr txBox="1"/>
            <p:nvPr/>
          </p:nvSpPr>
          <p:spPr>
            <a:xfrm>
              <a:off x="876300" y="3752850"/>
              <a:ext cx="10439400" cy="2667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Autofit/>
            </a:bodyPr>
            <a:lstStyle/>
            <a:p>
              <a:pPr algn="l">
                <a:lnSpc>
                  <a:spcPts val="187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产品中心-医学部｜2026年9月</a:t>
              </a:r>
            </a:p>
          </p:txBody>
        </p:sp>
      </p:grpSp>
    </p:spTree>
  </p:cSld>
  <p:clrMapOvr>
    <a:masterClrMapping/>
  </p:clrMapOvr>
  <p:transition ns3:dur="400">
    <p:fade/>
  </p:transition>
</p:sld>
</file>

<file path=ppt/theme/theme1.xml><?xml version="1.0" encoding="utf-8"?>
<a:theme xmlns:a="http://schemas.openxmlformats.org/drawingml/2006/main" name="matched-pptx">
  <a:themeElements>
    <a:clrScheme name="matched-pptx">
      <a:dk1>
        <a:srgbClr val="404040"/>
      </a:dk1>
      <a:lt1>
        <a:srgbClr val="FBFCFD"/>
      </a:lt1>
      <a:dk2>
        <a:srgbClr val="1F497D"/>
      </a:dk2>
      <a:lt2>
        <a:srgbClr val="FFFFFF"/>
      </a:lt2>
      <a:accent1>
        <a:srgbClr val="FF9900"/>
      </a:accent1>
      <a:accent2>
        <a:srgbClr val="FFCC00"/>
      </a:accent2>
      <a:accent3>
        <a:srgbClr val="F5A000"/>
      </a:accent3>
      <a:accent4>
        <a:srgbClr val="FF9900"/>
      </a:accent4>
      <a:accent5>
        <a:srgbClr val="64676B"/>
      </a:accent5>
      <a:accent6>
        <a:srgbClr val="E8E8E8"/>
      </a:accent6>
      <a:hlink>
        <a:srgbClr val="FFCC00"/>
      </a:hlink>
      <a:folHlink>
        <a:srgbClr val="F5A000"/>
      </a:folHlink>
    </a:clrScheme>
    <a:fontScheme name="matched-pptx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atched-pptx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matched-pptx">
  <a:themeElements>
    <a:clrScheme name="matched-pptx">
      <a:dk1>
        <a:srgbClr val="404040"/>
      </a:dk1>
      <a:lt1>
        <a:srgbClr val="FBFCFD"/>
      </a:lt1>
      <a:dk2>
        <a:srgbClr val="1F497D"/>
      </a:dk2>
      <a:lt2>
        <a:srgbClr val="FFFFFF"/>
      </a:lt2>
      <a:accent1>
        <a:srgbClr val="FF9900"/>
      </a:accent1>
      <a:accent2>
        <a:srgbClr val="FFCC00"/>
      </a:accent2>
      <a:accent3>
        <a:srgbClr val="F5A000"/>
      </a:accent3>
      <a:accent4>
        <a:srgbClr val="FF9900"/>
      </a:accent4>
      <a:accent5>
        <a:srgbClr val="64676B"/>
      </a:accent5>
      <a:accent6>
        <a:srgbClr val="E8E8E8"/>
      </a:accent6>
      <a:hlink>
        <a:srgbClr val="FFCC00"/>
      </a:hlink>
      <a:folHlink>
        <a:srgbClr val="F5A000"/>
      </a:folHlink>
    </a:clrScheme>
    <a:fontScheme name="matched-pptx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atched-pptx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2026-09-29T13:39:14Z</dcterms:created>
  <dcterms:modified xsi:type="dcterms:W3CDTF">2026-09-29T13:39:14Z</dcterms:modified>
  <cp:category/>
  <cp:contentStatus/>
</cp:coreProperties>
</file>