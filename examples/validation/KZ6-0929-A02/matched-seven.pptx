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5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
</Relationships>
</file>

<file path=ppt/charts/_rels/chart5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501.xlsx"/>
</Relationships>
</file>

<file path=ppt/charts/chart5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合成值</c:v>
                </c:pt>
              </c:strCache>
            </c:strRef>
          </c:tx>
          <c:spPr>
            <a:solidFill>
              <a:schemeClr val="accent1">
                <a:alpha val="14000"/>
              </a:schemeClr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准备</c:v>
                </c:pt>
                <c:pt idx="1">
                  <c:v>启动</c:v>
                </c:pt>
                <c:pt idx="2">
                  <c:v>执行</c:v>
                </c:pt>
                <c:pt idx="3">
                  <c:v>核查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</c:ser>
        <c:axId val="2068027336"/>
        <c:axId val="2113994440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合成值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marker>
            <c:symbol val="circle"/>
            <c:size val="8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准备</c:v>
                </c:pt>
                <c:pt idx="1">
                  <c:v>启动</c:v>
                </c:pt>
                <c:pt idx="2">
                  <c:v>执行</c:v>
                </c:pt>
                <c:pt idx="3">
                  <c:v>核查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</c:ser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0F1115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64676B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8"/>
          <c:min val="0"/>
        </c:scaling>
        <c:delete val="0"/>
        <c:axPos val="l"/>
        <c:majorGridlines>
          <c:spPr>
            <a:ln w="6350" cap="flat" cmpd="sng" algn="ctr">
              <a:solidFill>
                <a:srgbClr val="0F1115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0F1115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64676B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200">
          <a:solidFill>
            <a:srgbClr val="64676B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本页为合成版式与流程示例，不对应真实研究或临床结论。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本页为合成版式与流程示例，不对应真实研究或临床结论。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本页为合成版式与流程示例，不对应真实研究或临床结论。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三张卡片使用一致的15pt正文，长度差异通过自然换行承载。本页仅为合成版式示例。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折线与浅面积是同一组数值的两种编码；启动节点缺失，不能按零或相邻值推算。所有值仅为合成演示，单位份。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所有季度起止与HTML半开区间一致，条形为可编辑原生形状。此页为合成计划。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本页为合成版式与流程示例，不对应真实研究或临床结论。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atched-pptx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tched-pptx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a4f7119df6ff402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66c6ad9ed48562f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80560cab7c93741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19777696202c35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19777696202c35.png"/>
  <Relationship Id="rId3" Type="http://schemas.openxmlformats.org/officeDocument/2006/relationships/image" Target="../media/image_8d16d3ae8353dd31.svg"/>
  <Relationship Id="rId4" Type="http://schemas.openxmlformats.org/officeDocument/2006/relationships/chart" Target="../charts/chart501.xml"/>
  <Relationship Id="rId5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19777696202c35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3680aee0826cf66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239" y="381000"/>
            <a:ext cx="12185522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533400" y="419100"/>
            <a:ext cx="2286000" cy="476250"/>
          </a:xfrm>
          <a:prstGeom prst="rect">
            <a:avLst/>
          </a:prstGeom>
        </p:spPr>
      </p:pic>
      <p:grpSp>
        <p:nvGrpSpPr>
          <p:cNvPr id="5" name="hero-text-0"/>
          <p:cNvGrpSpPr/>
          <p:nvPr/>
        </p:nvGrpSpPr>
        <p:grpSpPr>
          <a:xfrm>
            <a:off x="857250" y="1588770"/>
            <a:ext cx="3238500" cy="1485900"/>
            <a:chOff x="857250" y="1588770"/>
            <a:chExt cx="3238500" cy="1485900"/>
          </a:xfrm>
        </p:grpSpPr>
        <p:sp>
          <p:nvSpPr>
            <p:cNvPr id="4" name="TextBox 4"/>
            <p:cNvSpPr txBox="1"/>
            <p:nvPr/>
          </p:nvSpPr>
          <p:spPr>
            <a:xfrm>
              <a:off x="876300" y="1562100"/>
              <a:ext cx="104394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5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4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合成研究流程</a:t>
              </a:r>
              <a:br/>
              <a:r>
                <a:rPr lang="zh-CN" sz="4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汇报示例</a:t>
              </a:r>
            </a:p>
          </p:txBody>
        </p:sp>
      </p:grpSp>
      <p:grpSp>
        <p:nvGrpSpPr>
          <p:cNvPr id="7" name="hero-text-1"/>
          <p:cNvGrpSpPr/>
          <p:nvPr/>
        </p:nvGrpSpPr>
        <p:grpSpPr>
          <a:xfrm>
            <a:off x="865632" y="3080385"/>
            <a:ext cx="2848356" cy="410718"/>
            <a:chOff x="865632" y="3080385"/>
            <a:chExt cx="284835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876300" y="3067050"/>
              <a:ext cx="104394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2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结构、数据与季度安排</a:t>
              </a:r>
            </a:p>
          </p:txBody>
        </p:sp>
      </p:grpSp>
      <p:grpSp>
        <p:nvGrpSpPr>
          <p:cNvPr id="9" name="hero-text-2"/>
          <p:cNvGrpSpPr/>
          <p:nvPr/>
        </p:nvGrpSpPr>
        <p:grpSpPr>
          <a:xfrm>
            <a:off x="868680" y="3648075"/>
            <a:ext cx="2700909" cy="293370"/>
            <a:chOff x="868680" y="3648075"/>
            <a:chExt cx="2700909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876300" y="3638550"/>
              <a:ext cx="10439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产品中心-医学部｜2026年9月</a:t>
              </a:r>
            </a:p>
          </p:txBody>
        </p:sp>
      </p:grpSp>
    </p:spTree>
  </p:cSld>
  <p:clrMapOvr>
    <a:masterClrMapping/>
  </p:clrMapOvr>
  <p:transition ns3:dur="400">
    <p:fade/>
  </p:transition>
</p:sld>
</file>

<file path=ppt/slides/slide2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239" y="857250"/>
            <a:ext cx="12185522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9753600" y="431852"/>
            <a:ext cx="1905000" cy="393595"/>
          </a:xfrm>
          <a:prstGeom prst="rect">
            <a:avLst/>
          </a:prstGeom>
        </p:spPr>
      </p:pic>
      <p:sp>
        <p:nvSpPr>
          <p:cNvPr id="4" name="card-0"/>
          <p:cNvSpPr/>
          <p:nvPr/>
        </p:nvSpPr>
        <p:spPr>
          <a:xfrm>
            <a:off x="647700" y="1524000"/>
            <a:ext cx="3479800" cy="1295400"/>
          </a:xfrm>
          <a:prstGeom prst="roundRect">
            <a:avLst>
              <a:gd name="adj" fmla="val 17647"/>
            </a:avLst>
          </a:prstGeom>
          <a:solidFill>
            <a:schemeClr val="lt2">
              <a:alpha val="86000"/>
            </a:schemeClr>
          </a:solidFill>
          <a:ln w="9525">
            <a:solidFill>
              <a:srgbClr val="B5B4B1">
                <a:alpha val="32000"/>
              </a:srgbClr>
            </a:solidFill>
          </a:ln>
          <a:effectLst>
            <a:outerShdw blurRad="152400" dist="57150" dir="5400000" algn="ctr" rotWithShape="0">
              <a:srgbClr val="0F1115">
                <a:alpha val="7500"/>
              </a:srgbClr>
            </a:outerShdw>
          </a:effectLst>
        </p:spPr>
      </p:sp>
      <p:sp>
        <p:nvSpPr>
          <p:cNvPr id="5" name="Freeform 5"/>
          <p:cNvSpPr/>
          <p:nvPr/>
        </p:nvSpPr>
        <p:spPr>
          <a:xfrm>
            <a:off x="876300" y="1543050"/>
            <a:ext cx="869950" cy="9525"/>
          </a:xfrm>
          <a:custGeom>
            <a:avLst/>
            <a:gdLst/>
            <a:ahLst/>
            <a:cxnLst/>
            <a:rect l="l" t="t" r="r" b="b"/>
            <a:pathLst>
              <a:path w="869950" h="9525">
                <a:moveTo>
                  <a:pt x="0" y="0"/>
                </a:moveTo>
                <a:lnTo>
                  <a:pt x="86995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FFFFFF">
                <a:alpha val="90000"/>
              </a:srgbClr>
            </a:solidFill>
          </a:ln>
        </p:spPr>
      </p:sp>
      <p:sp>
        <p:nvSpPr>
          <p:cNvPr id="6" name="card-1"/>
          <p:cNvSpPr/>
          <p:nvPr/>
        </p:nvSpPr>
        <p:spPr>
          <a:xfrm>
            <a:off x="4356100" y="1524000"/>
            <a:ext cx="3479800" cy="1295400"/>
          </a:xfrm>
          <a:prstGeom prst="roundRect">
            <a:avLst>
              <a:gd name="adj" fmla="val 17647"/>
            </a:avLst>
          </a:prstGeom>
          <a:solidFill>
            <a:schemeClr val="lt2">
              <a:alpha val="86000"/>
            </a:schemeClr>
          </a:solidFill>
          <a:ln w="9525">
            <a:solidFill>
              <a:srgbClr val="B5B4B1">
                <a:alpha val="32000"/>
              </a:srgbClr>
            </a:solidFill>
          </a:ln>
          <a:effectLst>
            <a:outerShdw blurRad="152400" dist="57150" dir="5400000" algn="ctr" rotWithShape="0">
              <a:srgbClr val="0F1115">
                <a:alpha val="7500"/>
              </a:srgbClr>
            </a:outerShdw>
          </a:effectLst>
        </p:spPr>
      </p:sp>
      <p:sp>
        <p:nvSpPr>
          <p:cNvPr id="7" name="Freeform 7"/>
          <p:cNvSpPr/>
          <p:nvPr/>
        </p:nvSpPr>
        <p:spPr>
          <a:xfrm>
            <a:off x="4584700" y="1543050"/>
            <a:ext cx="869950" cy="9525"/>
          </a:xfrm>
          <a:custGeom>
            <a:avLst/>
            <a:gdLst/>
            <a:ahLst/>
            <a:cxnLst/>
            <a:rect l="l" t="t" r="r" b="b"/>
            <a:pathLst>
              <a:path w="869950" h="9525">
                <a:moveTo>
                  <a:pt x="0" y="0"/>
                </a:moveTo>
                <a:lnTo>
                  <a:pt x="86995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FFFFFF">
                <a:alpha val="90000"/>
              </a:srgbClr>
            </a:solidFill>
          </a:ln>
        </p:spPr>
      </p:sp>
      <p:sp>
        <p:nvSpPr>
          <p:cNvPr id="8" name="card-2"/>
          <p:cNvSpPr/>
          <p:nvPr/>
        </p:nvSpPr>
        <p:spPr>
          <a:xfrm>
            <a:off x="8064500" y="1524000"/>
            <a:ext cx="3479800" cy="1295400"/>
          </a:xfrm>
          <a:prstGeom prst="roundRect">
            <a:avLst>
              <a:gd name="adj" fmla="val 17647"/>
            </a:avLst>
          </a:prstGeom>
          <a:solidFill>
            <a:schemeClr val="lt2">
              <a:alpha val="86000"/>
            </a:schemeClr>
          </a:solidFill>
          <a:ln w="9525">
            <a:solidFill>
              <a:srgbClr val="B5B4B1">
                <a:alpha val="32000"/>
              </a:srgbClr>
            </a:solidFill>
          </a:ln>
          <a:effectLst>
            <a:outerShdw blurRad="152400" dist="57150" dir="5400000" algn="ctr" rotWithShape="0">
              <a:srgbClr val="0F1115">
                <a:alpha val="7500"/>
              </a:srgbClr>
            </a:outerShdw>
          </a:effectLst>
        </p:spPr>
      </p:sp>
      <p:sp>
        <p:nvSpPr>
          <p:cNvPr id="9" name="Freeform 9"/>
          <p:cNvSpPr/>
          <p:nvPr/>
        </p:nvSpPr>
        <p:spPr>
          <a:xfrm>
            <a:off x="8293100" y="1543050"/>
            <a:ext cx="869950" cy="9525"/>
          </a:xfrm>
          <a:custGeom>
            <a:avLst/>
            <a:gdLst/>
            <a:ahLst/>
            <a:cxnLst/>
            <a:rect l="l" t="t" r="r" b="b"/>
            <a:pathLst>
              <a:path w="869950" h="9525">
                <a:moveTo>
                  <a:pt x="0" y="0"/>
                </a:moveTo>
                <a:lnTo>
                  <a:pt x="86995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FFFFFF">
                <a:alpha val="90000"/>
              </a:srgbClr>
            </a:solidFill>
          </a:ln>
        </p:spPr>
      </p:sp>
      <p:grpSp>
        <p:nvGrpSpPr>
          <p:cNvPr id="11" name="hero-text-0"/>
          <p:cNvGrpSpPr/>
          <p:nvPr/>
        </p:nvGrpSpPr>
        <p:grpSpPr>
          <a:xfrm>
            <a:off x="629412" y="289560"/>
            <a:ext cx="1975104" cy="704088"/>
            <a:chOff x="629412" y="289560"/>
            <a:chExt cx="1975104" cy="704088"/>
          </a:xfrm>
        </p:grpSpPr>
        <p:sp>
          <p:nvSpPr>
            <p:cNvPr id="10" name="TextBox 10"/>
            <p:cNvSpPr txBox="1"/>
            <p:nvPr/>
          </p:nvSpPr>
          <p:spPr>
            <a:xfrm>
              <a:off x="647700" y="266700"/>
              <a:ext cx="8191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4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6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汇报章节</a:t>
              </a:r>
            </a:p>
          </p:txBody>
        </p:sp>
      </p:grpSp>
      <p:grpSp>
        <p:nvGrpSpPr>
          <p:cNvPr id="13" name="hero-text-1"/>
          <p:cNvGrpSpPr/>
          <p:nvPr/>
        </p:nvGrpSpPr>
        <p:grpSpPr>
          <a:xfrm>
            <a:off x="861060" y="1657350"/>
            <a:ext cx="496938" cy="586740"/>
            <a:chOff x="861060" y="1657350"/>
            <a:chExt cx="496938" cy="586740"/>
          </a:xfrm>
        </p:grpSpPr>
        <p:sp>
          <p:nvSpPr>
            <p:cNvPr id="12" name="TextBox 12"/>
            <p:cNvSpPr txBox="1"/>
            <p:nvPr/>
          </p:nvSpPr>
          <p:spPr>
            <a:xfrm>
              <a:off x="876300" y="1638300"/>
              <a:ext cx="571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5" name="hero-text-2"/>
          <p:cNvGrpSpPr/>
          <p:nvPr/>
        </p:nvGrpSpPr>
        <p:grpSpPr>
          <a:xfrm>
            <a:off x="1511808" y="1710690"/>
            <a:ext cx="1316736" cy="469392"/>
            <a:chOff x="1511808" y="1710690"/>
            <a:chExt cx="1316736" cy="469392"/>
          </a:xfrm>
        </p:grpSpPr>
        <p:sp>
          <p:nvSpPr>
            <p:cNvPr id="14" name="TextBox 14"/>
            <p:cNvSpPr txBox="1"/>
            <p:nvPr/>
          </p:nvSpPr>
          <p:spPr>
            <a:xfrm>
              <a:off x="1524000" y="1695450"/>
              <a:ext cx="237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入排信息</a:t>
              </a:r>
            </a:p>
          </p:txBody>
        </p:sp>
      </p:grpSp>
      <p:grpSp>
        <p:nvGrpSpPr>
          <p:cNvPr id="17" name="hero-text-3"/>
          <p:cNvGrpSpPr/>
          <p:nvPr/>
        </p:nvGrpSpPr>
        <p:grpSpPr>
          <a:xfrm>
            <a:off x="868680" y="2314575"/>
            <a:ext cx="1428750" cy="293370"/>
            <a:chOff x="868680" y="2314575"/>
            <a:chExt cx="1428750" cy="293370"/>
          </a:xfrm>
        </p:grpSpPr>
        <p:sp>
          <p:nvSpPr>
            <p:cNvPr id="16" name="TextBox 16"/>
            <p:cNvSpPr txBox="1"/>
            <p:nvPr/>
          </p:nvSpPr>
          <p:spPr>
            <a:xfrm>
              <a:off x="876300" y="2305050"/>
              <a:ext cx="30226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条目与使用边界</a:t>
              </a:r>
            </a:p>
          </p:txBody>
        </p:sp>
      </p:grpSp>
      <p:grpSp>
        <p:nvGrpSpPr>
          <p:cNvPr id="19" name="hero-text-4"/>
          <p:cNvGrpSpPr/>
          <p:nvPr/>
        </p:nvGrpSpPr>
        <p:grpSpPr>
          <a:xfrm>
            <a:off x="4569460" y="1657350"/>
            <a:ext cx="496938" cy="586740"/>
            <a:chOff x="4569460" y="1657350"/>
            <a:chExt cx="496938" cy="586740"/>
          </a:xfrm>
        </p:grpSpPr>
        <p:sp>
          <p:nvSpPr>
            <p:cNvPr id="18" name="TextBox 18"/>
            <p:cNvSpPr txBox="1"/>
            <p:nvPr/>
          </p:nvSpPr>
          <p:spPr>
            <a:xfrm>
              <a:off x="4584700" y="1638300"/>
              <a:ext cx="571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1" name="hero-text-5"/>
          <p:cNvGrpSpPr/>
          <p:nvPr/>
        </p:nvGrpSpPr>
        <p:grpSpPr>
          <a:xfrm>
            <a:off x="5220208" y="1710690"/>
            <a:ext cx="1316736" cy="469392"/>
            <a:chOff x="5220208" y="1710690"/>
            <a:chExt cx="1316736" cy="469392"/>
          </a:xfrm>
        </p:grpSpPr>
        <p:sp>
          <p:nvSpPr>
            <p:cNvPr id="20" name="TextBox 20"/>
            <p:cNvSpPr txBox="1"/>
            <p:nvPr/>
          </p:nvSpPr>
          <p:spPr>
            <a:xfrm>
              <a:off x="5232400" y="1695450"/>
              <a:ext cx="237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流程节点</a:t>
              </a:r>
            </a:p>
          </p:txBody>
        </p:sp>
      </p:grpSp>
      <p:grpSp>
        <p:nvGrpSpPr>
          <p:cNvPr id="23" name="hero-text-6"/>
          <p:cNvGrpSpPr/>
          <p:nvPr/>
        </p:nvGrpSpPr>
        <p:grpSpPr>
          <a:xfrm>
            <a:off x="4577080" y="2314575"/>
            <a:ext cx="1226820" cy="293370"/>
            <a:chOff x="4577080" y="2314575"/>
            <a:chExt cx="1226820" cy="293370"/>
          </a:xfrm>
        </p:grpSpPr>
        <p:sp>
          <p:nvSpPr>
            <p:cNvPr id="22" name="TextBox 22"/>
            <p:cNvSpPr txBox="1"/>
            <p:nvPr/>
          </p:nvSpPr>
          <p:spPr>
            <a:xfrm>
              <a:off x="4584700" y="2305050"/>
              <a:ext cx="30226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保留缺失观察</a:t>
              </a:r>
            </a:p>
          </p:txBody>
        </p:sp>
      </p:grpSp>
      <p:grpSp>
        <p:nvGrpSpPr>
          <p:cNvPr id="25" name="hero-text-7"/>
          <p:cNvGrpSpPr/>
          <p:nvPr/>
        </p:nvGrpSpPr>
        <p:grpSpPr>
          <a:xfrm>
            <a:off x="8277860" y="1657350"/>
            <a:ext cx="496938" cy="586740"/>
            <a:chOff x="8277860" y="1657350"/>
            <a:chExt cx="496938" cy="586740"/>
          </a:xfrm>
        </p:grpSpPr>
        <p:sp>
          <p:nvSpPr>
            <p:cNvPr id="24" name="TextBox 24"/>
            <p:cNvSpPr txBox="1"/>
            <p:nvPr/>
          </p:nvSpPr>
          <p:spPr>
            <a:xfrm>
              <a:off x="8293100" y="1638300"/>
              <a:ext cx="571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7" name="hero-text-8"/>
          <p:cNvGrpSpPr/>
          <p:nvPr/>
        </p:nvGrpSpPr>
        <p:grpSpPr>
          <a:xfrm>
            <a:off x="8928608" y="1710690"/>
            <a:ext cx="1316736" cy="469392"/>
            <a:chOff x="8928608" y="1710690"/>
            <a:chExt cx="1316736" cy="469392"/>
          </a:xfrm>
        </p:grpSpPr>
        <p:sp>
          <p:nvSpPr>
            <p:cNvPr id="26" name="TextBox 26"/>
            <p:cNvSpPr txBox="1"/>
            <p:nvPr/>
          </p:nvSpPr>
          <p:spPr>
            <a:xfrm>
              <a:off x="8940800" y="1695450"/>
              <a:ext cx="237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季度计划</a:t>
              </a:r>
            </a:p>
          </p:txBody>
        </p:sp>
      </p:grpSp>
      <p:grpSp>
        <p:nvGrpSpPr>
          <p:cNvPr id="29" name="hero-text-9"/>
          <p:cNvGrpSpPr/>
          <p:nvPr/>
        </p:nvGrpSpPr>
        <p:grpSpPr>
          <a:xfrm>
            <a:off x="8285480" y="2314575"/>
            <a:ext cx="1428750" cy="293370"/>
            <a:chOff x="8285480" y="2314575"/>
            <a:chExt cx="1428750" cy="293370"/>
          </a:xfrm>
        </p:grpSpPr>
        <p:sp>
          <p:nvSpPr>
            <p:cNvPr id="28" name="TextBox 28"/>
            <p:cNvSpPr txBox="1"/>
            <p:nvPr/>
          </p:nvSpPr>
          <p:spPr>
            <a:xfrm>
              <a:off x="8293100" y="2305050"/>
              <a:ext cx="30226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任务与起止时间</a:t>
              </a:r>
            </a:p>
          </p:txBody>
        </p:sp>
      </p:grpSp>
    </p:spTree>
  </p:cSld>
  <p:clrMapOvr>
    <a:masterClrMapping/>
  </p:clrMapOvr>
  <p:transition ns3:dur="400">
    <p:fade/>
  </p:transition>
</p:sld>
</file>

<file path=ppt/slides/slide3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239" y="1143000"/>
            <a:ext cx="12185522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9753600" y="431852"/>
            <a:ext cx="1905000" cy="393595"/>
          </a:xfrm>
          <a:prstGeom prst="rect">
            <a:avLst/>
          </a:prstGeom>
        </p:spPr>
      </p:pic>
      <p:grpSp>
        <p:nvGrpSpPr>
          <p:cNvPr id="5" name="hero-text-0"/>
          <p:cNvGrpSpPr/>
          <p:nvPr/>
        </p:nvGrpSpPr>
        <p:grpSpPr>
          <a:xfrm>
            <a:off x="857250" y="1082040"/>
            <a:ext cx="1344183" cy="1619250"/>
            <a:chOff x="857250" y="1082040"/>
            <a:chExt cx="1344183" cy="1619250"/>
          </a:xfrm>
        </p:grpSpPr>
        <p:sp>
          <p:nvSpPr>
            <p:cNvPr id="4" name="TextBox 4"/>
            <p:cNvSpPr txBox="1"/>
            <p:nvPr/>
          </p:nvSpPr>
          <p:spPr>
            <a:xfrm>
              <a:off x="876300" y="1028700"/>
              <a:ext cx="38100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0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8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7" name="hero-text-1"/>
          <p:cNvGrpSpPr/>
          <p:nvPr/>
        </p:nvGrpSpPr>
        <p:grpSpPr>
          <a:xfrm>
            <a:off x="857250" y="2619375"/>
            <a:ext cx="2461260" cy="876300"/>
            <a:chOff x="857250" y="2619375"/>
            <a:chExt cx="2461260" cy="876300"/>
          </a:xfrm>
        </p:grpSpPr>
        <p:sp>
          <p:nvSpPr>
            <p:cNvPr id="6" name="TextBox 6"/>
            <p:cNvSpPr txBox="1"/>
            <p:nvPr/>
          </p:nvSpPr>
          <p:spPr>
            <a:xfrm>
              <a:off x="876300" y="2590800"/>
              <a:ext cx="1043940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5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45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研究流程</a:t>
              </a:r>
            </a:p>
          </p:txBody>
        </p:sp>
      </p:grpSp>
    </p:spTree>
  </p:cSld>
  <p:clrMapOvr>
    <a:masterClrMapping/>
  </p:clrMapOvr>
  <p:transition ns3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1-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grpSp>
        <p:nvGrpSpPr>
          <p:cNvPr id="4" name="p01-page-title"/>
          <p:cNvGrpSpPr/>
          <p:nvPr/>
        </p:nvGrpSpPr>
        <p:grpSpPr>
          <a:xfrm>
            <a:off x="854583" y="293370"/>
            <a:ext cx="2609088" cy="469392"/>
            <a:chOff x="854583" y="293370"/>
            <a:chExt cx="2609088" cy="469392"/>
          </a:xfrm>
        </p:grpSpPr>
        <p:sp>
          <p:nvSpPr>
            <p:cNvPr id="3" name="TextBox 3"/>
            <p:cNvSpPr txBox="1"/>
            <p:nvPr/>
          </p:nvSpPr>
          <p:spPr>
            <a:xfrm>
              <a:off x="854583" y="2933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383C"/>
                  </a:solidFill>
                  <a:latin typeface="+mn-lt"/>
                  <a:ea typeface="+mn-ea"/>
                  <a:cs typeface="+mn-cs"/>
                </a:rPr>
                <a:t>入排信息版式示例</a:t>
              </a:r>
            </a:p>
          </p:txBody>
        </p:sp>
      </p:grpSp>
      <p:pic>
        <p:nvPicPr>
          <p:cNvPr id="5" name="p01-official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sp>
        <p:nvSpPr>
          <p:cNvPr id="6" name="facet-yellow"/>
          <p:cNvSpPr/>
          <p:nvPr/>
        </p:nvSpPr>
        <p:spPr>
          <a:xfrm>
            <a:off x="47625" y="400050"/>
            <a:ext cx="381000" cy="342900"/>
          </a:xfrm>
          <a:custGeom>
            <a:avLst/>
            <a:gdLst/>
            <a:ahLst/>
            <a:cxnLst/>
            <a:rect l="l" t="t" r="r" b="b"/>
            <a:pathLst>
              <a:path w="381000" h="342900">
                <a:moveTo>
                  <a:pt x="171450" y="0"/>
                </a:moveTo>
                <a:lnTo>
                  <a:pt x="381000" y="0"/>
                </a:lnTo>
                <a:lnTo>
                  <a:pt x="219075" y="342900"/>
                </a:lnTo>
                <a:lnTo>
                  <a:pt x="0" y="3429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facet-orange"/>
          <p:cNvSpPr/>
          <p:nvPr/>
        </p:nvSpPr>
        <p:spPr>
          <a:xfrm>
            <a:off x="228600" y="85725"/>
            <a:ext cx="666750" cy="590550"/>
          </a:xfrm>
          <a:custGeom>
            <a:avLst/>
            <a:gdLst/>
            <a:ahLst/>
            <a:cxnLst/>
            <a:rect l="l" t="t" r="r" b="b"/>
            <a:pathLst>
              <a:path w="666750" h="590550">
                <a:moveTo>
                  <a:pt x="295275" y="0"/>
                </a:moveTo>
                <a:lnTo>
                  <a:pt x="666750" y="0"/>
                </a:lnTo>
                <a:lnTo>
                  <a:pt x="381000" y="590550"/>
                </a:lnTo>
                <a:lnTo>
                  <a:pt x="0" y="5905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grpSp>
        <p:nvGrpSpPr>
          <p:cNvPr id="13" name="p01-card-include"/>
          <p:cNvGrpSpPr/>
          <p:nvPr/>
        </p:nvGrpSpPr>
        <p:grpSpPr>
          <a:xfrm>
            <a:off x="533400" y="1257300"/>
            <a:ext cx="3505200" cy="4000500"/>
            <a:chOff x="533400" y="1257300"/>
            <a:chExt cx="3505200" cy="4000500"/>
          </a:xfrm>
        </p:grpSpPr>
        <p:sp>
          <p:nvSpPr>
            <p:cNvPr id="9" name="p01-card-include-frame"/>
            <p:cNvSpPr/>
            <p:nvPr/>
          </p:nvSpPr>
          <p:spPr>
            <a:xfrm>
              <a:off x="533400" y="1257300"/>
              <a:ext cx="3505200" cy="4000500"/>
            </a:xfrm>
            <a:prstGeom prst="roundRect">
              <a:avLst>
                <a:gd name="adj" fmla="val 6522"/>
              </a:avLst>
            </a:prstGeom>
            <a:solidFill>
              <a:schemeClr val="lt2">
                <a:alpha val="78000"/>
              </a:schemeClr>
            </a:solidFill>
            <a:ln w="11430">
              <a:solidFill>
                <a:srgbClr val="D9E0E4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0" name="Line 10"/>
            <p:cNvSpPr/>
            <p:nvPr/>
          </p:nvSpPr>
          <p:spPr>
            <a:xfrm>
              <a:off x="762000" y="1266825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9050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856" y="1558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4383C"/>
                  </a:solidFill>
                  <a:latin typeface="+mn-lt"/>
                  <a:ea typeface="+mn-ea"/>
                  <a:cs typeface="+mn-cs"/>
                </a:rPr>
                <a:t>纳入示例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4380" y="2066925"/>
              <a:ext cx="2841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合成条目 A，仅用于版式测试。</a:t>
              </a:r>
            </a:p>
          </p:txBody>
        </p:sp>
      </p:grpSp>
      <p:grpSp>
        <p:nvGrpSpPr>
          <p:cNvPr id="18" name="p01-card-exclude"/>
          <p:cNvGrpSpPr/>
          <p:nvPr/>
        </p:nvGrpSpPr>
        <p:grpSpPr>
          <a:xfrm>
            <a:off x="4343400" y="1257300"/>
            <a:ext cx="3505200" cy="4000500"/>
            <a:chOff x="4343400" y="1257300"/>
            <a:chExt cx="3505200" cy="4000500"/>
          </a:xfrm>
        </p:grpSpPr>
        <p:sp>
          <p:nvSpPr>
            <p:cNvPr id="14" name="p01-card-exclude-frame"/>
            <p:cNvSpPr/>
            <p:nvPr/>
          </p:nvSpPr>
          <p:spPr>
            <a:xfrm>
              <a:off x="4343400" y="1257300"/>
              <a:ext cx="3505200" cy="4000500"/>
            </a:xfrm>
            <a:prstGeom prst="roundRect">
              <a:avLst>
                <a:gd name="adj" fmla="val 6522"/>
              </a:avLst>
            </a:prstGeom>
            <a:solidFill>
              <a:schemeClr val="lt2">
                <a:alpha val="78000"/>
              </a:schemeClr>
            </a:solidFill>
            <a:ln w="11430">
              <a:solidFill>
                <a:srgbClr val="D9E0E4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5" name="Line 15"/>
            <p:cNvSpPr/>
            <p:nvPr/>
          </p:nvSpPr>
          <p:spPr>
            <a:xfrm>
              <a:off x="4572000" y="1266825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9050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62856" y="1558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4383C"/>
                  </a:solidFill>
                  <a:latin typeface="+mn-lt"/>
                  <a:ea typeface="+mn-ea"/>
                  <a:cs typeface="+mn-cs"/>
                </a:rPr>
                <a:t>排除示例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4380" y="206692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合成条目 B，用于检验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标准字号下的多行阅读。</a:t>
              </a:r>
            </a:p>
          </p:txBody>
        </p:sp>
      </p:grpSp>
      <p:grpSp>
        <p:nvGrpSpPr>
          <p:cNvPr id="23" name="p01-card-boundary"/>
          <p:cNvGrpSpPr/>
          <p:nvPr/>
        </p:nvGrpSpPr>
        <p:grpSpPr>
          <a:xfrm>
            <a:off x="8153400" y="1257300"/>
            <a:ext cx="3505200" cy="4000500"/>
            <a:chOff x="8153400" y="1257300"/>
            <a:chExt cx="3505200" cy="4000500"/>
          </a:xfrm>
        </p:grpSpPr>
        <p:sp>
          <p:nvSpPr>
            <p:cNvPr id="19" name="p01-card-boundary-frame"/>
            <p:cNvSpPr/>
            <p:nvPr/>
          </p:nvSpPr>
          <p:spPr>
            <a:xfrm>
              <a:off x="8153400" y="1257300"/>
              <a:ext cx="3505200" cy="4000500"/>
            </a:xfrm>
            <a:prstGeom prst="roundRect">
              <a:avLst>
                <a:gd name="adj" fmla="val 6522"/>
              </a:avLst>
            </a:prstGeom>
            <a:solidFill>
              <a:schemeClr val="lt2">
                <a:alpha val="78000"/>
              </a:schemeClr>
            </a:solidFill>
            <a:ln w="11430">
              <a:solidFill>
                <a:srgbClr val="D9E0E4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0" name="Line 20"/>
            <p:cNvSpPr/>
            <p:nvPr/>
          </p:nvSpPr>
          <p:spPr>
            <a:xfrm>
              <a:off x="8382000" y="1266825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9050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72856" y="1558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4383C"/>
                  </a:solidFill>
                  <a:latin typeface="+mn-lt"/>
                  <a:ea typeface="+mn-ea"/>
                  <a:cs typeface="+mn-cs"/>
                </a:rPr>
                <a:t>演示边界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4380" y="2066925"/>
              <a:ext cx="2682240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本页不列真实疾病、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患者特征或实验室阈值；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示例不构成方案标准，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也不代表真实试验或临床结论。</a:t>
              </a:r>
            </a:p>
          </p:txBody>
        </p:sp>
      </p:grpSp>
      <p:grpSp>
        <p:nvGrpSpPr>
          <p:cNvPr id="26" name="p01-footer"/>
          <p:cNvGrpSpPr/>
          <p:nvPr/>
        </p:nvGrpSpPr>
        <p:grpSpPr>
          <a:xfrm>
            <a:off x="221742" y="6521768"/>
            <a:ext cx="11672316" cy="264033"/>
            <a:chOff x="221742" y="6521768"/>
            <a:chExt cx="11672316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221742" y="6521768"/>
              <a:ext cx="2397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产品中心-医学部｜2026年9月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26718" y="6521768"/>
              <a:ext cx="367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od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facet-yellow"/>
          <p:cNvSpPr/>
          <p:nvPr/>
        </p:nvSpPr>
        <p:spPr>
          <a:xfrm>
            <a:off x="47625" y="400050"/>
            <a:ext cx="381000" cy="342900"/>
          </a:xfrm>
          <a:custGeom>
            <a:avLst/>
            <a:gdLst/>
            <a:ahLst/>
            <a:cxnLst/>
            <a:rect l="l" t="t" r="r" b="b"/>
            <a:pathLst>
              <a:path w="381000" h="342900">
                <a:moveTo>
                  <a:pt x="171450" y="0"/>
                </a:moveTo>
                <a:lnTo>
                  <a:pt x="381000" y="0"/>
                </a:lnTo>
                <a:lnTo>
                  <a:pt x="219075" y="342900"/>
                </a:lnTo>
                <a:lnTo>
                  <a:pt x="0" y="3429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facet-orange"/>
          <p:cNvSpPr/>
          <p:nvPr/>
        </p:nvSpPr>
        <p:spPr>
          <a:xfrm>
            <a:off x="228600" y="85725"/>
            <a:ext cx="666750" cy="590550"/>
          </a:xfrm>
          <a:custGeom>
            <a:avLst/>
            <a:gdLst/>
            <a:ahLst/>
            <a:cxnLst/>
            <a:rect l="l" t="t" r="r" b="b"/>
            <a:pathLst>
              <a:path w="666750" h="590550">
                <a:moveTo>
                  <a:pt x="295275" y="0"/>
                </a:moveTo>
                <a:lnTo>
                  <a:pt x="666750" y="0"/>
                </a:lnTo>
                <a:lnTo>
                  <a:pt x="381000" y="590550"/>
                </a:lnTo>
                <a:lnTo>
                  <a:pt x="0" y="5905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pic>
        <p:nvPicPr>
          <p:cNvPr id="6" name="logo-bod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sp>
        <p:nvSpPr>
          <p:cNvPr id="7" name="footer-scrim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chemeClr val="lt2">
              <a:alpha val="82000"/>
            </a:schemeClr>
          </a:solidFill>
          <a:ln>
            <a:noFill/>
          </a:ln>
        </p:spPr>
      </p:sp>
      <p:grpSp>
        <p:nvGrpSpPr>
          <p:cNvPr id="9" name="page-title"/>
          <p:cNvGrpSpPr/>
          <p:nvPr/>
        </p:nvGrpSpPr>
        <p:grpSpPr>
          <a:xfrm>
            <a:off x="854583" y="283845"/>
            <a:ext cx="2609088" cy="469392"/>
            <a:chOff x="854583" y="283845"/>
            <a:chExt cx="2609088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854583" y="28384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流程节点合成示例</a:t>
              </a:r>
            </a:p>
          </p:txBody>
        </p:sp>
      </p:grpSp>
      <p:grpSp>
        <p:nvGrpSpPr>
          <p:cNvPr id="15" name="chart-card"/>
          <p:cNvGrpSpPr/>
          <p:nvPr/>
        </p:nvGrpSpPr>
        <p:grpSpPr>
          <a:xfrm>
            <a:off x="533400" y="1066800"/>
            <a:ext cx="11125200" cy="4914900"/>
            <a:chOff x="533400" y="1066800"/>
            <a:chExt cx="11125200" cy="4914900"/>
          </a:xfrm>
        </p:grpSpPr>
        <p:sp>
          <p:nvSpPr>
            <p:cNvPr id="10" name="Rectangle 10"/>
            <p:cNvSpPr/>
            <p:nvPr/>
          </p:nvSpPr>
          <p:spPr>
            <a:xfrm>
              <a:off x="533400" y="1066800"/>
              <a:ext cx="11125200" cy="4914900"/>
            </a:xfrm>
            <a:prstGeom prst="roundRect">
              <a:avLst>
                <a:gd name="adj" fmla="val 4651"/>
              </a:avLst>
            </a:prstGeom>
            <a:solidFill>
              <a:schemeClr val="lt2">
                <a:alpha val="93000"/>
              </a:schemeClr>
            </a:solidFill>
            <a:ln w="9525">
              <a:solidFill>
                <a:srgbClr val="0F1115">
                  <a:alpha val="12000"/>
                </a:srgbClr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829056" y="13677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合成值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01528" y="14325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单位：份</a:t>
              </a:r>
            </a:p>
          </p:txBody>
        </p:sp>
        <p:graphicFrame>
          <p:nvGraphicFramePr>
            <p:cNvPr id="13" name="archive-series"/>
            <p:cNvGraphicFramePr>
              <a:graphicFrameLocks noGrp="1"/>
            </p:cNvGraphicFramePr>
            <p:nvPr/>
          </p:nvGraphicFramePr>
          <p:xfrm>
            <a:off x="1619250" y="1809750"/>
            <a:ext cx="9525000" cy="3771900"/>
          </p:xfrm>
          <a:graphic>
            <a:graphicData uri="http://schemas.openxmlformats.org/drawingml/2006/chart">
              <c:chart xmlns:c="http://schemas.openxmlformats.org/drawingml/2006/chart" r:id="rId4"/>
            </a:graphicData>
          </a:graphic>
        </p:graphicFrame>
        <p:sp>
          <p:nvSpPr>
            <p:cNvPr id="14" name="TextBox 14"/>
            <p:cNvSpPr txBox="1"/>
            <p:nvPr/>
          </p:nvSpPr>
          <p:spPr>
            <a:xfrm>
              <a:off x="1898904" y="56235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注：启动资料缺失，不等于零，不插补。</a:t>
              </a:r>
            </a:p>
          </p:txBody>
        </p:sp>
      </p:grpSp>
      <p:grpSp>
        <p:nvGrpSpPr>
          <p:cNvPr id="19" name="page-footer"/>
          <p:cNvGrpSpPr/>
          <p:nvPr/>
        </p:nvGrpSpPr>
        <p:grpSpPr>
          <a:xfrm>
            <a:off x="221742" y="6521768"/>
            <a:ext cx="11672316" cy="264033"/>
            <a:chOff x="221742" y="6521768"/>
            <a:chExt cx="11672316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221742" y="65217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0017" y="6521768"/>
              <a:ext cx="876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2026年9月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71434" y="652176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5 / 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od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facet-yellow"/>
          <p:cNvSpPr/>
          <p:nvPr/>
        </p:nvSpPr>
        <p:spPr>
          <a:xfrm>
            <a:off x="47625" y="400050"/>
            <a:ext cx="381000" cy="342900"/>
          </a:xfrm>
          <a:custGeom>
            <a:avLst/>
            <a:gdLst/>
            <a:ahLst/>
            <a:cxnLst/>
            <a:rect l="l" t="t" r="r" b="b"/>
            <a:pathLst>
              <a:path w="381000" h="342900">
                <a:moveTo>
                  <a:pt x="171450" y="0"/>
                </a:moveTo>
                <a:lnTo>
                  <a:pt x="381000" y="0"/>
                </a:lnTo>
                <a:lnTo>
                  <a:pt x="219075" y="342900"/>
                </a:lnTo>
                <a:lnTo>
                  <a:pt x="0" y="3429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facet-orange"/>
          <p:cNvSpPr/>
          <p:nvPr/>
        </p:nvSpPr>
        <p:spPr>
          <a:xfrm>
            <a:off x="228600" y="85725"/>
            <a:ext cx="666750" cy="590550"/>
          </a:xfrm>
          <a:custGeom>
            <a:avLst/>
            <a:gdLst/>
            <a:ahLst/>
            <a:cxnLst/>
            <a:rect l="l" t="t" r="r" b="b"/>
            <a:pathLst>
              <a:path w="666750" h="590550">
                <a:moveTo>
                  <a:pt x="295275" y="0"/>
                </a:moveTo>
                <a:lnTo>
                  <a:pt x="666750" y="0"/>
                </a:lnTo>
                <a:lnTo>
                  <a:pt x="381000" y="590550"/>
                </a:lnTo>
                <a:lnTo>
                  <a:pt x="0" y="5905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pic>
        <p:nvPicPr>
          <p:cNvPr id="6" name="logo-bod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sp>
        <p:nvSpPr>
          <p:cNvPr id="7" name="footer-scrim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chemeClr val="lt2">
              <a:alpha val="82000"/>
            </a:schemeClr>
          </a:solidFill>
          <a:ln>
            <a:noFill/>
          </a:ln>
        </p:spPr>
      </p:sp>
      <p:grpSp>
        <p:nvGrpSpPr>
          <p:cNvPr id="9" name="page-title"/>
          <p:cNvGrpSpPr/>
          <p:nvPr/>
        </p:nvGrpSpPr>
        <p:grpSpPr>
          <a:xfrm>
            <a:off x="854583" y="283845"/>
            <a:ext cx="1316736" cy="469392"/>
            <a:chOff x="854583" y="283845"/>
            <a:chExt cx="1316736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854583" y="2838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季度计划</a:t>
              </a:r>
            </a:p>
          </p:txBody>
        </p:sp>
      </p:grpSp>
      <p:grpSp>
        <p:nvGrpSpPr>
          <p:cNvPr id="13" name="page-footer"/>
          <p:cNvGrpSpPr/>
          <p:nvPr/>
        </p:nvGrpSpPr>
        <p:grpSpPr>
          <a:xfrm>
            <a:off x="221742" y="6521768"/>
            <a:ext cx="11672316" cy="264033"/>
            <a:chOff x="221742" y="6521768"/>
            <a:chExt cx="11672316" cy="264033"/>
          </a:xfrm>
        </p:grpSpPr>
        <p:sp>
          <p:nvSpPr>
            <p:cNvPr id="10" name="TextBox 10"/>
            <p:cNvSpPr txBox="1"/>
            <p:nvPr/>
          </p:nvSpPr>
          <p:spPr>
            <a:xfrm>
              <a:off x="221742" y="65217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0017" y="6521768"/>
              <a:ext cx="876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2026年9月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71434" y="652176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6 / 7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533400" y="1066800"/>
            <a:ext cx="11125200" cy="4914900"/>
          </a:xfrm>
          <a:prstGeom prst="roundRect">
            <a:avLst>
              <a:gd name="adj" fmla="val 4651"/>
            </a:avLst>
          </a:prstGeom>
          <a:solidFill>
            <a:schemeClr val="lt2">
              <a:alpha val="86000"/>
            </a:schemeClr>
          </a:solidFill>
          <a:ln w="9525">
            <a:solidFill>
              <a:srgbClr val="B5B4B1">
                <a:alpha val="32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2670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2026Q1</a:t>
            </a:r>
          </a:p>
        </p:txBody>
      </p:sp>
      <p:sp>
        <p:nvSpPr>
          <p:cNvPr id="16" name="Line 16"/>
          <p:cNvSpPr/>
          <p:nvPr/>
        </p:nvSpPr>
        <p:spPr>
          <a:xfrm>
            <a:off x="32385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9338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2026Q2</a:t>
            </a:r>
          </a:p>
        </p:txBody>
      </p:sp>
      <p:sp>
        <p:nvSpPr>
          <p:cNvPr id="18" name="Line 18"/>
          <p:cNvSpPr/>
          <p:nvPr/>
        </p:nvSpPr>
        <p:spPr>
          <a:xfrm>
            <a:off x="39052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6005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2026Q3</a:t>
            </a:r>
          </a:p>
        </p:txBody>
      </p:sp>
      <p:sp>
        <p:nvSpPr>
          <p:cNvPr id="20" name="Line 20"/>
          <p:cNvSpPr/>
          <p:nvPr/>
        </p:nvSpPr>
        <p:spPr>
          <a:xfrm>
            <a:off x="45720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2673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2026Q4</a:t>
            </a:r>
          </a:p>
        </p:txBody>
      </p:sp>
      <p:sp>
        <p:nvSpPr>
          <p:cNvPr id="22" name="Line 22"/>
          <p:cNvSpPr/>
          <p:nvPr/>
        </p:nvSpPr>
        <p:spPr>
          <a:xfrm>
            <a:off x="52387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9340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2027Q1</a:t>
            </a:r>
          </a:p>
        </p:txBody>
      </p:sp>
      <p:sp>
        <p:nvSpPr>
          <p:cNvPr id="24" name="Line 24"/>
          <p:cNvSpPr/>
          <p:nvPr/>
        </p:nvSpPr>
        <p:spPr>
          <a:xfrm>
            <a:off x="59055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6008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2027Q2</a:t>
            </a:r>
          </a:p>
        </p:txBody>
      </p:sp>
      <p:sp>
        <p:nvSpPr>
          <p:cNvPr id="26" name="Line 26"/>
          <p:cNvSpPr/>
          <p:nvPr/>
        </p:nvSpPr>
        <p:spPr>
          <a:xfrm>
            <a:off x="65722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2675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2027Q3</a:t>
            </a:r>
          </a:p>
        </p:txBody>
      </p:sp>
      <p:sp>
        <p:nvSpPr>
          <p:cNvPr id="28" name="Line 28"/>
          <p:cNvSpPr/>
          <p:nvPr/>
        </p:nvSpPr>
        <p:spPr>
          <a:xfrm>
            <a:off x="72390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9343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2027Q4</a:t>
            </a:r>
          </a:p>
        </p:txBody>
      </p:sp>
      <p:sp>
        <p:nvSpPr>
          <p:cNvPr id="30" name="Line 30"/>
          <p:cNvSpPr/>
          <p:nvPr/>
        </p:nvSpPr>
        <p:spPr>
          <a:xfrm>
            <a:off x="79057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6010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2028Q1</a:t>
            </a:r>
          </a:p>
        </p:txBody>
      </p:sp>
      <p:sp>
        <p:nvSpPr>
          <p:cNvPr id="32" name="Line 32"/>
          <p:cNvSpPr/>
          <p:nvPr/>
        </p:nvSpPr>
        <p:spPr>
          <a:xfrm>
            <a:off x="85725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2678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2028Q2</a:t>
            </a:r>
          </a:p>
        </p:txBody>
      </p:sp>
      <p:sp>
        <p:nvSpPr>
          <p:cNvPr id="34" name="Line 34"/>
          <p:cNvSpPr/>
          <p:nvPr/>
        </p:nvSpPr>
        <p:spPr>
          <a:xfrm>
            <a:off x="92392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9345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2028Q3</a:t>
            </a:r>
          </a:p>
        </p:txBody>
      </p:sp>
      <p:sp>
        <p:nvSpPr>
          <p:cNvPr id="36" name="Line 36"/>
          <p:cNvSpPr/>
          <p:nvPr/>
        </p:nvSpPr>
        <p:spPr>
          <a:xfrm>
            <a:off x="99060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6013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2028Q4</a:t>
            </a:r>
          </a:p>
        </p:txBody>
      </p:sp>
      <p:sp>
        <p:nvSpPr>
          <p:cNvPr id="38" name="Line 38"/>
          <p:cNvSpPr/>
          <p:nvPr/>
        </p:nvSpPr>
        <p:spPr>
          <a:xfrm>
            <a:off x="105727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54380" y="20002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方案定稿与伦理递交</a:t>
            </a:r>
          </a:p>
        </p:txBody>
      </p:sp>
      <p:sp>
        <p:nvSpPr>
          <p:cNvPr id="40" name="task-0"/>
          <p:cNvSpPr/>
          <p:nvPr/>
        </p:nvSpPr>
        <p:spPr>
          <a:xfrm>
            <a:off x="3238500" y="1952625"/>
            <a:ext cx="66675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54380" y="25717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中心筛选与启动</a:t>
            </a:r>
          </a:p>
        </p:txBody>
      </p:sp>
      <p:sp>
        <p:nvSpPr>
          <p:cNvPr id="42" name="task-1"/>
          <p:cNvSpPr/>
          <p:nvPr/>
        </p:nvSpPr>
        <p:spPr>
          <a:xfrm>
            <a:off x="3905250" y="2524125"/>
            <a:ext cx="66675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54380" y="3143250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受试者入组</a:t>
            </a:r>
          </a:p>
        </p:txBody>
      </p:sp>
      <p:sp>
        <p:nvSpPr>
          <p:cNvPr id="44" name="task-2"/>
          <p:cNvSpPr/>
          <p:nvPr/>
        </p:nvSpPr>
        <p:spPr>
          <a:xfrm>
            <a:off x="4572000" y="3095625"/>
            <a:ext cx="133350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54380" y="37147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随访与数据采集</a:t>
            </a:r>
          </a:p>
        </p:txBody>
      </p:sp>
      <p:sp>
        <p:nvSpPr>
          <p:cNvPr id="46" name="task-3"/>
          <p:cNvSpPr/>
          <p:nvPr/>
        </p:nvSpPr>
        <p:spPr>
          <a:xfrm>
            <a:off x="5238750" y="3667125"/>
            <a:ext cx="266700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54380" y="42862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数据清理与锁库</a:t>
            </a:r>
          </a:p>
        </p:txBody>
      </p:sp>
      <p:sp>
        <p:nvSpPr>
          <p:cNvPr id="48" name="task-4"/>
          <p:cNvSpPr/>
          <p:nvPr/>
        </p:nvSpPr>
        <p:spPr>
          <a:xfrm>
            <a:off x="7905750" y="4238625"/>
            <a:ext cx="66675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54380" y="48577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统计分析与总结报告</a:t>
            </a:r>
          </a:p>
        </p:txBody>
      </p:sp>
      <p:sp>
        <p:nvSpPr>
          <p:cNvPr id="50" name="task-5"/>
          <p:cNvSpPr/>
          <p:nvPr/>
        </p:nvSpPr>
        <p:spPr>
          <a:xfrm>
            <a:off x="8572500" y="4810125"/>
            <a:ext cx="266700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755904" y="56616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合成计划，仅用于排期与编辑演示。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533400" y="419100"/>
            <a:ext cx="2286000" cy="476250"/>
          </a:xfrm>
          <a:prstGeom prst="rect">
            <a:avLst/>
          </a:prstGeom>
        </p:spPr>
      </p:pic>
      <p:grpSp>
        <p:nvGrpSpPr>
          <p:cNvPr id="5" name="hero-text-0"/>
          <p:cNvGrpSpPr/>
          <p:nvPr/>
        </p:nvGrpSpPr>
        <p:grpSpPr>
          <a:xfrm>
            <a:off x="857250" y="1802130"/>
            <a:ext cx="2138172" cy="1504950"/>
            <a:chOff x="857250" y="1802130"/>
            <a:chExt cx="2138172" cy="1504950"/>
          </a:xfrm>
        </p:grpSpPr>
        <p:sp>
          <p:nvSpPr>
            <p:cNvPr id="4" name="TextBox 4"/>
            <p:cNvSpPr txBox="1"/>
            <p:nvPr/>
          </p:nvSpPr>
          <p:spPr>
            <a:xfrm>
              <a:off x="876300" y="1752600"/>
              <a:ext cx="10439400" cy="131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9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7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谢谢</a:t>
              </a:r>
            </a:p>
          </p:txBody>
        </p:sp>
      </p:grpSp>
      <p:grpSp>
        <p:nvGrpSpPr>
          <p:cNvPr id="7" name="hero-text-1"/>
          <p:cNvGrpSpPr/>
          <p:nvPr/>
        </p:nvGrpSpPr>
        <p:grpSpPr>
          <a:xfrm>
            <a:off x="865632" y="3194685"/>
            <a:ext cx="1717548" cy="410718"/>
            <a:chOff x="865632" y="3194685"/>
            <a:chExt cx="171754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876300" y="3181350"/>
              <a:ext cx="104394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2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感谢参与交流</a:t>
              </a:r>
            </a:p>
          </p:txBody>
        </p:sp>
      </p:grpSp>
      <p:grpSp>
        <p:nvGrpSpPr>
          <p:cNvPr id="9" name="hero-text-2"/>
          <p:cNvGrpSpPr/>
          <p:nvPr/>
        </p:nvGrpSpPr>
        <p:grpSpPr>
          <a:xfrm>
            <a:off x="868680" y="3762375"/>
            <a:ext cx="2700909" cy="293370"/>
            <a:chOff x="868680" y="3762375"/>
            <a:chExt cx="2700909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876300" y="3752850"/>
              <a:ext cx="10439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产品中心-医学部｜2026年9月</a:t>
              </a:r>
            </a:p>
          </p:txBody>
        </p:sp>
      </p:grpSp>
    </p:spTree>
  </p:cSld>
  <p:clrMapOvr>
    <a:masterClrMapping/>
  </p:clrMapOvr>
  <p:transition ns3:dur="400">
    <p:fade/>
  </p:transition>
</p:sld>
</file>

<file path=ppt/theme/theme1.xml><?xml version="1.0" encoding="utf-8"?>
<a:theme xmlns:a="http://schemas.openxmlformats.org/drawingml/2006/main" name="matched-pptx">
  <a:themeElements>
    <a:clrScheme name="matched-pptx">
      <a:dk1>
        <a:srgbClr val="404040"/>
      </a:dk1>
      <a:lt1>
        <a:srgbClr val="FBFCFD"/>
      </a:lt1>
      <a:dk2>
        <a:srgbClr val="1F497D"/>
      </a:dk2>
      <a:lt2>
        <a:srgbClr val="FFFFFF"/>
      </a:lt2>
      <a:accent1>
        <a:srgbClr val="FF9900"/>
      </a:accent1>
      <a:accent2>
        <a:srgbClr val="FFCC00"/>
      </a:accent2>
      <a:accent3>
        <a:srgbClr val="F5A000"/>
      </a:accent3>
      <a:accent4>
        <a:srgbClr val="FF9900"/>
      </a:accent4>
      <a:accent5>
        <a:srgbClr val="64676B"/>
      </a:accent5>
      <a:accent6>
        <a:srgbClr val="E8E8E8"/>
      </a:accent6>
      <a:hlink>
        <a:srgbClr val="FFCC00"/>
      </a:hlink>
      <a:folHlink>
        <a:srgbClr val="F5A000"/>
      </a:folHlink>
    </a:clrScheme>
    <a:fontScheme name="matched-pptx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ched-ppt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atched-pptx">
  <a:themeElements>
    <a:clrScheme name="matched-pptx">
      <a:dk1>
        <a:srgbClr val="404040"/>
      </a:dk1>
      <a:lt1>
        <a:srgbClr val="FBFCFD"/>
      </a:lt1>
      <a:dk2>
        <a:srgbClr val="1F497D"/>
      </a:dk2>
      <a:lt2>
        <a:srgbClr val="FFFFFF"/>
      </a:lt2>
      <a:accent1>
        <a:srgbClr val="FF9900"/>
      </a:accent1>
      <a:accent2>
        <a:srgbClr val="FFCC00"/>
      </a:accent2>
      <a:accent3>
        <a:srgbClr val="F5A000"/>
      </a:accent3>
      <a:accent4>
        <a:srgbClr val="FF9900"/>
      </a:accent4>
      <a:accent5>
        <a:srgbClr val="64676B"/>
      </a:accent5>
      <a:accent6>
        <a:srgbClr val="E8E8E8"/>
      </a:accent6>
      <a:hlink>
        <a:srgbClr val="FFCC00"/>
      </a:hlink>
      <a:folHlink>
        <a:srgbClr val="F5A000"/>
      </a:folHlink>
    </a:clrScheme>
    <a:fontScheme name="matched-pptx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ched-ppt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2026-09-29T11:14:45Z</dcterms:created>
  <dcterms:modified xsi:type="dcterms:W3CDTF">2026-09-29T11:14:45Z</dcterms:modified>
  <cp:category/>
  <cp:contentStatus/>
</cp:coreProperties>
</file>